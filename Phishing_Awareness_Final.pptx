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683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SLIDE
Open with energy. Ask the room: "Who received a suspicious email this week?"
• Phishing causes 90% of all data breaches globally
• This session is interactive — activities and a quiz included
• Estimated duration: 45–60 minutes
Ice-breaker: "Even cybersecurity experts get phished. Today we close that gap."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LEARNING OBJECTIVES
Walk through each objective. These are the five skills students will leave with.
• Phishing spans email, SMS, phone calls, and social media — not just email
• Recognizing attacks is a learnable, practicable skill
• This knowledge protects both personal and professional life
• Tell students: "By the end you'll be the cybersecurity expert in your group."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WHAT IS PHISHING?
"Phishing" coined mid-1990s — hackers "fished" for AOL passwords.
Key points:
• Modern phishing is often indistinguishable from legitimate communications
• 3.4B phishing emails/day — more than all legitimate emails combined
• 90% of breaches start with phishing (Verizon DBIR 2023)
• Average breach costs $4.9M (IBM 2023)
Ask: "Has anyone here been phished, or know someone who was?"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WHY PHISHING IS DANGEROUS
• Identity theft: 15M Americans affected annually; recovery averages 6 months–6 years
• Financial: FTC reported $8.8B lost to fraud in 2022 — phishing is the top method
• Ransomware: A new business attacked every 11 seconds — most via phishing
• Students: University accounts access research data, financial aid, student records
• Career: LinkedIn profiles cloned to impersonate job seekers in real interviews
Real example: In 2020, Twitter's breach started with one phishing call to an employee — Obama, Biden, Musk accounts used in a Bitcoin scam netting $121,000 in hours.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HOW A PHISHING ATTACK WORKS
Step-by-step:
01 — RECON: Attackers spend hours researching targets. LinkedIn, Facebook, and university sites are goldmines.
02 — CRAFT: Sender address spoofed (paypa1.com), branding cloned pixel-perfectly.
03 — SEND: Email contains urgency ("Account suspended in 24 hours!") + malicious link or attachment.
04 — FAKE SITE: Victim arrives at a perfect replica — every button and field looks identical to the real site.
05 — HARVEST: Credentials stolen; keyloggers or ransomware may be installed silently in the background.
Key insight: The entire campaign can be automated — one attacker targeting 100,000 people simultaneously.
Average time for a victim to fall: 60 seconds after opening the email.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TYPES OF PHISHING
1. EMAIL: "Your Netflix subscription has expired — update payment now"
2. SMISHING: "Your package is delayed. Click to reschedule: [malicious link]" — people act faster on texts
3. VISHING: "This is Microsoft Support — we detected a virus on your computer"
4. SPEAR PHISHING: Attacker researches your professor, emails you as them: "Here are the exam answers"
5. WHALING (Business Email Compromise): Fake CEO emails CFO: "Wire $500K — confidential acquisition." Costs $26B/year.
6. PHARMING: DNS cache poisoning — no link clicking required; browser redirects silently
Ask: "Which do you think would be hardest to spot?" — Spear phishing and whaling are usually the answer.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RECOGNIZING PHISHING EMAILS
This is the most immediately actionable slide. Spend extra time here.
01 SENDER: Enable "show full sender email" in your email client — many only show display names.
02 URGENCY: Fear bypasses rational thought deliberately. "Account suspended in 2 hours" triggers panic.
03 GREETING: Automated campaigns can't personalize to millions. Your bank knows your name.
04 LINKS: ALWAYS hover on desktop. On mobile, press and hold to preview the real URL.
05 ATTACHMENTS: Most ransomware arrives as email attachments — even Word files can run macros.
06 GRAMMAR: AI is improving phishing text, but multiple errors remain a strong red flag.
07 INFO REQUESTS: Universal rule — no bank, government, or tech company asks for passwords via email.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INTERACTIVE ACTIVITY: SPOT THE RED FLAGS
ACTIVITY (5–7 minutes):
1. Show slide, give students 90 seconds to silently identify all flags
2. Ask volunteers to call out what they found
3. Reveal the 5 flags:
   — "micros0ft-verify.net" — zero instead of 'o', plus wrong domain entirely
   — ALL CAPS URGENT subject — manufactures panic deliberately
   — "Dear Customer" — automated, not personalized
   — bit.ly link — hides real destination URL completely
   — Asks for password AND credit card number — an impossible legitimate request
Kahoot alternative: Pre-enter as a live poll for real-time phone voting.
Wrap up: "In a real attack you have seconds to decide. Practice slowing down and checking."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REAL PHISHING EMAIL EXAMPLE
Reconstructed from widely reported Amazon phishing campaigns (2023).
• Amazon is the #1 most impersonated brand globally
• These emails exploit "order anxiety" — panic when something might be wrong with a package
• amaz0n-support.co uses: zero instead of 'o', "support" added, .co instead of .com
• The .ru TLD in the link is an immediate giveaway for a US-based service
The Golden Rule:
"Never click a link in an email to resolve an account issue. Open a new tab and navigate directly."
Amazon will never ask you to re-enter payment information via email — they already have it stored.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RECOGNIZING FAKE WEBSITES
Bust the HTTPS myth — this is one of the most dangerous misconceptions.
Domain-reading technique:
• Read RIGHT to LEFT: paypal.com.phisher.ru — the real domain is phisher.ru
• Homograph attacks use Cyrillic characters identical to Latin letters
• Subdomains: paypal.com.verify-account.net — "paypal.com" is a subdomain here, NOT the real domain
Free tools to recommend:
• urlscan.io — scan any URL before visiting
• virustotal.com — check links and files for malware
• Google Safe Browsing Transparency Report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REAL vs FAKE WEBSITE COMPARISON
Walk through each row carefully.
1. URL: The most critical check. Train students to read the FULL URL, not just glance.
2. Protocol: Repeat the HTTPS myth bust — padlock ≠ trustworthy site.
3. SSL Owner: Click padlock → View Certificate → "Issued To" — PayPal's will say "PayPal, Inc."
4. Design: Trained eye spots inconsistencies — wrong shade of blue, compressed logo, odd spacing.
5. Contact Info: Fake sites either have no contact page or copy generic placeholder text.
6. Info Requested: The definitive tell — no legitimate service needs your SSN on a login page.
7. Errors: AI is improving phishing grammar, but inconsistencies still appear in older or rushed fakes.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SOCIAL ENGINEERING EXPLAINED
Open with: "The weakest link in cybersecurity is always human, not technology."
Deep dive on each lever:
1. FEAR: Triggers fight-or-flight, bypasses rational thinking. "The IRS is suing you — call now."
2. URGENCY: Prevents pause-and-verify behavior. Artificial deadlines create costly mistakes.
3. AUTHORITY: We're conditioned to comply with authority — boss, government, IT department.
4. TRUST: Leverages existing relationships. "Your friend tagged you in a photo" (from a hijacked account).
5. CURIOSITY: Irresistible. "Leaked salary spreadsheet for [Your Company]" gets clicked almost universally.
6. SCARCITY: Exploits FOMO. "Limited time offer" or "Only you have access to this."
The STOP → THINK → VERIFY method:
• STOP: If you feel rushed, that urgency IS the red flag.
• THINK: Would a real organization contact me this way?
• VERIFY: Call on a number you KNOW is real — not one from the suspicious message.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COMMON MANIPULATION TECHNIQUES
PRETEXTING: The 2011 RSA Security breach started with a pretext email titled "2011 Recruitment Plan" — even security professionals were fooled.
BAITING: Researchers left 300 USB drives outside organizations — 98% were plugged in. Students are especially vulnerable to "free software."
QUID PRO QUO: Legitimate IT will NEVER call you unsolicited and ask for your password.
TAILGATING: Physical security matters too. Always challenge unknown individuals in restricted areas.
CEO FRAUD: A European company wired €47M after fake CEO emails. Verify ALL unusual wire transfer requests via direct phone call.
WATERING HOLE: Hard to detect — use browser security extensions and keep software updated.
Universal defense: "Slow down. Verify through a separate, trusted channel. When in doubt — don't."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REAL-WORLD CASE STUDIES
GOOGLE &amp; FACEBOOK: Lithuanian hacker Evaldas Rimasauskas sent fake invoices over 2 years. Both companies recovered most funds after legal battles.
TWITTER 2020: Attackers called employees claiming to be IT, obtained internal tool access, posted from Obama, Biden, Bezos, Musk accounts. $121,000 in Bitcoin stolen in hours.
UBER 2022: A teenager texted a contractor with repeated MFA push notifications until they approved (MFA fatigue). AWS, Google Cloud, and Slack all exposed. 57M user records affected.
MGM RESORTS 2023: Hackers spent 10 minutes on LinkedIn, called IT helpdesk impersonating an employee, had VPN access in minutes. Casino operations down for 10+ days. $100M impact.
Discussion: "What could each organization have done differently at the critical moment?"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BEST PRACTICES
1. MFA: Use an authenticator app (Google Authenticator, Authy) — SMS MFA can be bypassed via SIM swapping
2. PASSWORD MANAGER: Bitwarden (free, open-source), 1Password, Dashlane — never reuse passwords
3. PAUSE &amp; VERIFY: When in doubt, navigate directly to the official site in a new tab
4. SOFTWARE UPDATES: Enable auto-updates — 60% of breaches exploit vulnerabilities with available patches
5. EMAIL FILTERS: Report what slips through — this improves filtering for everyone
6. VPN: Use reputable paid VPNs (Mullvad, ProtonVPN) — free VPNs often sell your data
7. PRIVACY: Lock down social media — attackers use public posts to craft targeted spear phishing
8. MONITORING: haveibeenpwned.com — check if your email has appeared in any known breach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IF YOU BECOME A VICTIM
Open with: "There is no shame in being phished. It happens to everyone — including cybersecurity experts."
01 DISCONNECT: Pulling the network cable can stop keyloggers sending data live, and prevents ransomware spreading
02 CHANGE PASSWORDS: Use a clean device. Email first — it's the master key to password resets everywhere
03 MFA: Every account that supports it should have it enabled immediately
04 SCAN: Malwarebytes free version is excellent. In severe cases, consider a full factory reset
05 NOTIFY: Organizations have legal compliance obligations — IT departments must be told immediately
06 REPORT: Your report may prevent the next victim
Additional resources:
• identitytheft.gov — FTC step-by-step identity theft recovery plan
• annualcreditreport.com — place a free credit freeze to prevent new accounts in your name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INTERACTIVE QUIZ
Delivery options:
A — Show of hands: Read each question, students vote, then reveal the answer.
B — Kahoot.it / Mentimeter: Pre-enter for live phone voting — adds competition and energy.
C — Teams: Groups discuss, spokesperson answers. Award points.
Timing: 8–10 minutes for all five questions.
Per-question notes:
Q1: Show the paypa1 domain — the zero is subtle enough that most people miss it.
Q2: BEC/Whaling costs $26B annually — more than any other cybercrime category.
Q3: This myth causes more breaches than almost anything else. HTTPS ≠ trustworthy site.
Q4: A Stanford study found employees plug in unknown USB drives 98% of the time.
Q5: Speed matters — every second of connectivity gives attackers more time.
Close with: "You are now better prepared than 95% of internet users."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KEY TAKEAWAYS &amp; THANK YOU
Close with energy and empowerment.
The framework:
• PAUSE: Three seconds of hesitation is the single most powerful phishing defense
• VERIFY: Always through a channel YOU trust — not the one in the suspicious message
• PROTECT: Strong unique passwords + MFA is the non-negotiable foundation
• QUESTION: Healthy skepticism is a virtue online
• REPORT: Your report may protect the next potential victim
Three action items to give before they leave:
1. "Go to haveibeenpwned.com tonight — check if your email is in any known breach."
2. "Enable MFA on your most important account this week. Start with email."
3. "Share one thing you learned today with someone who needs to hear it."
Closing line: "You are now the cybersecurity expert in your community. Use that knowledge."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6.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1.png"/><Relationship Id="rId4" Type="http://schemas.openxmlformats.org/officeDocument/2006/relationships/image" Target="../media/image27.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21.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1.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1.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7.pn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40"/>
        </a:solidFill>
        <a:effectLst/>
      </p:bgPr>
    </p:bg>
    <p:spTree>
      <p:nvGrpSpPr>
        <p:cNvPr id="1" name=""/>
        <p:cNvGrpSpPr/>
        <p:nvPr/>
      </p:nvGrpSpPr>
      <p:grpSpPr>
        <a:xfrm>
          <a:off x="0" y="0"/>
          <a:ext cx="0" cy="0"/>
          <a:chOff x="0" y="0"/>
          <a:chExt cx="0" cy="0"/>
        </a:xfrm>
      </p:grpSpPr>
      <p:sp>
        <p:nvSpPr>
          <p:cNvPr id="2" name="Shape 0"/>
          <p:cNvSpPr/>
          <p:nvPr/>
        </p:nvSpPr>
        <p:spPr>
          <a:xfrm>
            <a:off x="5577840" y="0"/>
            <a:ext cx="3566160" cy="5143500"/>
          </a:xfrm>
          <a:prstGeom prst="rect">
            <a:avLst/>
          </a:prstGeom>
          <a:solidFill>
            <a:srgbClr val="FFFFFF"/>
          </a:solidFill>
          <a:ln w="12700">
            <a:solidFill>
              <a:srgbClr val="FFFFFF">
                <a:alpha val="0"/>
              </a:srgbClr>
            </a:solidFill>
            <a:prstDash val="solid"/>
          </a:ln>
        </p:spPr>
      </p:sp>
      <p:sp>
        <p:nvSpPr>
          <p:cNvPr id="3" name="Shape 1"/>
          <p:cNvSpPr/>
          <p:nvPr/>
        </p:nvSpPr>
        <p:spPr>
          <a:xfrm>
            <a:off x="5349240" y="0"/>
            <a:ext cx="228600" cy="5143500"/>
          </a:xfrm>
          <a:prstGeom prst="rect">
            <a:avLst/>
          </a:prstGeom>
          <a:solidFill>
            <a:srgbClr val="F5C518"/>
          </a:solidFill>
          <a:ln w="12700">
            <a:solidFill>
              <a:srgbClr val="F5C518">
                <a:alpha val="0"/>
              </a:srgbClr>
            </a:solidFill>
            <a:prstDash val="solid"/>
          </a:ln>
        </p:spPr>
      </p:sp>
      <p:pic>
        <p:nvPicPr>
          <p:cNvPr id="4" name="Image 0" descr="preencoded.png"/>
          <p:cNvPicPr>
            <a:picLocks noChangeAspect="1"/>
          </p:cNvPicPr>
          <p:nvPr/>
        </p:nvPicPr>
        <p:blipFill>
          <a:blip r:embed="rId3"/>
          <a:stretch>
            <a:fillRect/>
          </a:stretch>
        </p:blipFill>
        <p:spPr>
          <a:xfrm>
            <a:off x="6639339" y="932688"/>
            <a:ext cx="1664208" cy="2084832"/>
          </a:xfrm>
          <a:prstGeom prst="rect">
            <a:avLst/>
          </a:prstGeom>
        </p:spPr>
      </p:pic>
      <p:sp>
        <p:nvSpPr>
          <p:cNvPr id="5" name="Shape 2"/>
          <p:cNvSpPr/>
          <p:nvPr/>
        </p:nvSpPr>
        <p:spPr>
          <a:xfrm>
            <a:off x="5760720" y="3371850"/>
            <a:ext cx="3200400" cy="292608"/>
          </a:xfrm>
          <a:prstGeom prst="rect">
            <a:avLst/>
          </a:prstGeom>
          <a:solidFill>
            <a:srgbClr val="FEF3B0"/>
          </a:solidFill>
          <a:ln w="12700">
            <a:solidFill>
              <a:srgbClr val="F5C518"/>
            </a:solidFill>
            <a:prstDash val="solid"/>
          </a:ln>
        </p:spPr>
      </p:sp>
      <p:sp>
        <p:nvSpPr>
          <p:cNvPr id="6" name="Text 3"/>
          <p:cNvSpPr/>
          <p:nvPr/>
        </p:nvSpPr>
        <p:spPr>
          <a:xfrm>
            <a:off x="5760720" y="3371850"/>
            <a:ext cx="3200400" cy="292608"/>
          </a:xfrm>
          <a:prstGeom prst="rect">
            <a:avLst/>
          </a:prstGeom>
          <a:noFill/>
          <a:ln/>
        </p:spPr>
        <p:txBody>
          <a:bodyPr wrap="square" rtlCol="0" anchor="ctr"/>
          <a:lstStyle/>
          <a:p>
            <a:pPr marL="0" indent="0" algn="ctr">
              <a:buNone/>
            </a:pPr>
            <a:r>
              <a:rPr lang="en-US" sz="900" dirty="0">
                <a:solidFill>
                  <a:srgbClr val="1A2340"/>
                </a:solidFill>
                <a:latin typeface="Calibri" pitchFamily="34" charset="0"/>
                <a:ea typeface="Calibri" pitchFamily="34" charset="-122"/>
                <a:cs typeface="Calibri" pitchFamily="34" charset="-120"/>
              </a:rPr>
              <a:t>Cybersecurity Awareness Workshop</a:t>
            </a:r>
            <a:endParaRPr lang="en-US" sz="900" dirty="0"/>
          </a:p>
        </p:txBody>
      </p:sp>
      <p:sp>
        <p:nvSpPr>
          <p:cNvPr id="7" name="Text 4"/>
          <p:cNvSpPr/>
          <p:nvPr/>
        </p:nvSpPr>
        <p:spPr>
          <a:xfrm>
            <a:off x="502920" y="594360"/>
            <a:ext cx="4663440" cy="658368"/>
          </a:xfrm>
          <a:prstGeom prst="rect">
            <a:avLst/>
          </a:prstGeom>
          <a:noFill/>
          <a:ln/>
        </p:spPr>
        <p:txBody>
          <a:bodyPr wrap="square" lIns="0" tIns="0" rIns="0" bIns="0"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PHISHING</a:t>
            </a:r>
            <a:endParaRPr lang="en-US" sz="5200" dirty="0"/>
          </a:p>
        </p:txBody>
      </p:sp>
      <p:sp>
        <p:nvSpPr>
          <p:cNvPr id="8" name="Text 5"/>
          <p:cNvSpPr/>
          <p:nvPr/>
        </p:nvSpPr>
        <p:spPr>
          <a:xfrm>
            <a:off x="502920" y="1207008"/>
            <a:ext cx="4663440" cy="658368"/>
          </a:xfrm>
          <a:prstGeom prst="rect">
            <a:avLst/>
          </a:prstGeom>
          <a:noFill/>
          <a:ln/>
        </p:spPr>
        <p:txBody>
          <a:bodyPr wrap="square" lIns="0" tIns="0" rIns="0" bIns="0" rtlCol="0" anchor="ctr"/>
          <a:lstStyle/>
          <a:p>
            <a:pPr marL="0" indent="0">
              <a:buNone/>
            </a:pPr>
            <a:r>
              <a:rPr lang="en-US" sz="5200" b="1" dirty="0">
                <a:solidFill>
                  <a:srgbClr val="F5C518"/>
                </a:solidFill>
                <a:latin typeface="Georgia" pitchFamily="34" charset="0"/>
                <a:ea typeface="Georgia" pitchFamily="34" charset="-122"/>
                <a:cs typeface="Georgia" pitchFamily="34" charset="-120"/>
              </a:rPr>
              <a:t>ATTACKS</a:t>
            </a:r>
            <a:endParaRPr lang="en-US" sz="5200" dirty="0"/>
          </a:p>
        </p:txBody>
      </p:sp>
      <p:sp>
        <p:nvSpPr>
          <p:cNvPr id="9" name="Shape 6"/>
          <p:cNvSpPr/>
          <p:nvPr/>
        </p:nvSpPr>
        <p:spPr>
          <a:xfrm>
            <a:off x="502920" y="1938528"/>
            <a:ext cx="1371600" cy="36576"/>
          </a:xfrm>
          <a:prstGeom prst="rect">
            <a:avLst/>
          </a:prstGeom>
          <a:solidFill>
            <a:srgbClr val="F5C518"/>
          </a:solidFill>
          <a:ln w="12700">
            <a:solidFill>
              <a:srgbClr val="F5C518">
                <a:alpha val="0"/>
              </a:srgbClr>
            </a:solidFill>
            <a:prstDash val="solid"/>
          </a:ln>
        </p:spPr>
      </p:sp>
      <p:sp>
        <p:nvSpPr>
          <p:cNvPr id="10" name="Text 7"/>
          <p:cNvSpPr/>
          <p:nvPr/>
        </p:nvSpPr>
        <p:spPr>
          <a:xfrm>
            <a:off x="502920" y="2084832"/>
            <a:ext cx="4663440" cy="347472"/>
          </a:xfrm>
          <a:prstGeom prst="rect">
            <a:avLst/>
          </a:prstGeom>
          <a:noFill/>
          <a:ln/>
        </p:spPr>
        <p:txBody>
          <a:bodyPr wrap="square" lIns="0" tIns="0" rIns="0" bIns="0" rtlCol="0" anchor="ctr"/>
          <a:lstStyle/>
          <a:p>
            <a:pPr marL="0" indent="0">
              <a:buNone/>
            </a:pPr>
            <a:r>
              <a:rPr lang="en-US" sz="1600" dirty="0">
                <a:solidFill>
                  <a:srgbClr val="F7F8FC"/>
                </a:solidFill>
                <a:latin typeface="Calibri" pitchFamily="34" charset="0"/>
                <a:ea typeface="Calibri" pitchFamily="34" charset="-122"/>
                <a:cs typeface="Calibri" pitchFamily="34" charset="-120"/>
              </a:rPr>
              <a:t>Recognize, Avoid, and Stay Safe</a:t>
            </a:r>
            <a:endParaRPr lang="en-US" sz="1600" dirty="0"/>
          </a:p>
        </p:txBody>
      </p:sp>
      <p:sp>
        <p:nvSpPr>
          <p:cNvPr id="11" name="Text 8"/>
          <p:cNvSpPr/>
          <p:nvPr/>
        </p:nvSpPr>
        <p:spPr>
          <a:xfrm>
            <a:off x="502920" y="2487168"/>
            <a:ext cx="4663440" cy="256032"/>
          </a:xfrm>
          <a:prstGeom prst="rect">
            <a:avLst/>
          </a:prstGeom>
          <a:noFill/>
          <a:ln/>
        </p:spPr>
        <p:txBody>
          <a:bodyPr wrap="square" lIns="0" tIns="0" rIns="0" bIns="0" rtlCol="0" anchor="ctr"/>
          <a:lstStyle/>
          <a:p>
            <a:pPr marL="0" indent="0">
              <a:buNone/>
            </a:pPr>
            <a:r>
              <a:rPr lang="en-US" sz="1200" dirty="0">
                <a:solidFill>
                  <a:srgbClr val="AABBCC"/>
                </a:solidFill>
                <a:latin typeface="Calibri" pitchFamily="34" charset="0"/>
                <a:ea typeface="Calibri" pitchFamily="34" charset="-122"/>
                <a:cs typeface="Calibri" pitchFamily="34" charset="-120"/>
              </a:rPr>
              <a:t>For University Students &amp; Young Professionals</a:t>
            </a:r>
            <a:endParaRPr lang="en-US" sz="1200" dirty="0"/>
          </a:p>
        </p:txBody>
      </p:sp>
      <p:sp>
        <p:nvSpPr>
          <p:cNvPr id="12" name="Shape 9"/>
          <p:cNvSpPr/>
          <p:nvPr/>
        </p:nvSpPr>
        <p:spPr>
          <a:xfrm>
            <a:off x="0" y="4681728"/>
            <a:ext cx="5349240" cy="461772"/>
          </a:xfrm>
          <a:prstGeom prst="rect">
            <a:avLst/>
          </a:prstGeom>
          <a:solidFill>
            <a:srgbClr val="122035"/>
          </a:solidFill>
          <a:ln w="12700">
            <a:solidFill>
              <a:srgbClr val="122035">
                <a:alpha val="0"/>
              </a:srgbClr>
            </a:solidFill>
            <a:prstDash val="solid"/>
          </a:ln>
        </p:spPr>
      </p:sp>
      <p:sp>
        <p:nvSpPr>
          <p:cNvPr id="13" name="Text 10"/>
          <p:cNvSpPr/>
          <p:nvPr/>
        </p:nvSpPr>
        <p:spPr>
          <a:xfrm>
            <a:off x="502920" y="4736592"/>
            <a:ext cx="4572000" cy="320040"/>
          </a:xfrm>
          <a:prstGeom prst="rect">
            <a:avLst/>
          </a:prstGeom>
          <a:noFill/>
          <a:ln/>
        </p:spPr>
        <p:txBody>
          <a:bodyPr wrap="square" rtlCol="0" anchor="ctr"/>
          <a:lstStyle/>
          <a:p>
            <a:pPr marL="0" indent="0">
              <a:buNone/>
            </a:pPr>
            <a:r>
              <a:rPr lang="en-US" sz="900" dirty="0">
                <a:solidFill>
                  <a:srgbClr val="7799BB"/>
                </a:solidFill>
                <a:latin typeface="Calibri" pitchFamily="34" charset="0"/>
                <a:ea typeface="Calibri" pitchFamily="34" charset="-122"/>
                <a:cs typeface="Calibri" pitchFamily="34" charset="-120"/>
              </a:rPr>
              <a:t>Cybersecurity Awareness Program  ·  2026  -  </a:t>
            </a:r>
            <a:r>
              <a:rPr lang="en-US" sz="900" dirty="0" err="1">
                <a:solidFill>
                  <a:srgbClr val="7799BB"/>
                </a:solidFill>
                <a:latin typeface="Calibri" pitchFamily="34" charset="0"/>
                <a:ea typeface="Calibri" pitchFamily="34" charset="-122"/>
                <a:cs typeface="Calibri" pitchFamily="34" charset="-120"/>
              </a:rPr>
              <a:t>Nimrah</a:t>
            </a:r>
            <a:r>
              <a:rPr lang="en-US" sz="900" dirty="0">
                <a:solidFill>
                  <a:srgbClr val="7799BB"/>
                </a:solidFill>
                <a:latin typeface="Calibri" pitchFamily="34" charset="0"/>
                <a:ea typeface="Calibri" pitchFamily="34" charset="-122"/>
                <a:cs typeface="Calibri" pitchFamily="34" charset="-120"/>
              </a:rPr>
              <a:t> Shafiq  </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2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Learning Objectives</a:t>
            </a:r>
            <a:endParaRPr lang="en-US" sz="3000" dirty="0"/>
          </a:p>
        </p:txBody>
      </p:sp>
      <p:sp>
        <p:nvSpPr>
          <p:cNvPr id="5" name="Text 3"/>
          <p:cNvSpPr/>
          <p:nvPr/>
        </p:nvSpPr>
        <p:spPr>
          <a:xfrm>
            <a:off x="1005840" y="660912"/>
            <a:ext cx="6858000" cy="256032"/>
          </a:xfrm>
          <a:prstGeom prst="rect">
            <a:avLst/>
          </a:prstGeom>
          <a:noFill/>
          <a:ln/>
        </p:spPr>
        <p:txBody>
          <a:bodyPr wrap="square" rtlCol="0" anchor="ctr"/>
          <a:lstStyle/>
          <a:p>
            <a:pPr marL="0" indent="0">
              <a:buNone/>
            </a:pPr>
            <a:r>
              <a:rPr lang="en-US" sz="1200" i="1" dirty="0">
                <a:solidFill>
                  <a:srgbClr val="7A8394"/>
                </a:solidFill>
                <a:latin typeface="Calibri" pitchFamily="34" charset="0"/>
                <a:ea typeface="Calibri" pitchFamily="34" charset="-122"/>
                <a:cs typeface="Calibri" pitchFamily="34" charset="-120"/>
              </a:rPr>
              <a:t>By the end of this session, you will be able to:</a:t>
            </a:r>
            <a:endParaRPr lang="en-US" sz="1200" dirty="0"/>
          </a:p>
        </p:txBody>
      </p:sp>
      <p:sp>
        <p:nvSpPr>
          <p:cNvPr id="6" name="Shape 4"/>
          <p:cNvSpPr/>
          <p:nvPr/>
        </p:nvSpPr>
        <p:spPr>
          <a:xfrm>
            <a:off x="457200" y="623262"/>
            <a:ext cx="8229600" cy="16459"/>
          </a:xfrm>
          <a:prstGeom prst="rect">
            <a:avLst/>
          </a:prstGeom>
          <a:solidFill>
            <a:srgbClr val="D8DCE8"/>
          </a:solidFill>
          <a:ln w="12700">
            <a:solidFill>
              <a:srgbClr val="D8DCE8">
                <a:alpha val="0"/>
              </a:srgbClr>
            </a:solidFill>
            <a:prstDash val="solid"/>
          </a:ln>
        </p:spPr>
      </p:sp>
      <p:pic>
        <p:nvPicPr>
          <p:cNvPr id="7" name="Image 0" descr="preencoded.png"/>
          <p:cNvPicPr>
            <a:picLocks noChangeAspect="1"/>
          </p:cNvPicPr>
          <p:nvPr/>
        </p:nvPicPr>
        <p:blipFill>
          <a:blip r:embed="rId3"/>
          <a:stretch>
            <a:fillRect/>
          </a:stretch>
        </p:blipFill>
        <p:spPr>
          <a:xfrm>
            <a:off x="7475220" y="2858494"/>
            <a:ext cx="1371600" cy="1719072"/>
          </a:xfrm>
          <a:prstGeom prst="rect">
            <a:avLst/>
          </a:prstGeom>
        </p:spPr>
      </p:pic>
      <p:sp>
        <p:nvSpPr>
          <p:cNvPr id="8" name="Shape 5"/>
          <p:cNvSpPr/>
          <p:nvPr/>
        </p:nvSpPr>
        <p:spPr>
          <a:xfrm>
            <a:off x="457200" y="1117556"/>
            <a:ext cx="2633472" cy="1399032"/>
          </a:xfrm>
          <a:prstGeom prst="rect">
            <a:avLst/>
          </a:prstGeom>
          <a:solidFill>
            <a:srgbClr val="F7F8FC"/>
          </a:solidFill>
          <a:ln w="12700">
            <a:solidFill>
              <a:srgbClr val="D8DCE8"/>
            </a:solidFill>
            <a:prstDash val="solid"/>
          </a:ln>
        </p:spPr>
      </p:sp>
      <p:sp>
        <p:nvSpPr>
          <p:cNvPr id="9" name="Shape 6"/>
          <p:cNvSpPr/>
          <p:nvPr/>
        </p:nvSpPr>
        <p:spPr>
          <a:xfrm>
            <a:off x="457200" y="1584019"/>
            <a:ext cx="2633472" cy="45720"/>
          </a:xfrm>
          <a:prstGeom prst="rect">
            <a:avLst/>
          </a:prstGeom>
          <a:solidFill>
            <a:srgbClr val="E8523A"/>
          </a:solidFill>
          <a:ln w="12700">
            <a:solidFill>
              <a:srgbClr val="E8523A">
                <a:alpha val="0"/>
              </a:srgbClr>
            </a:solidFill>
            <a:prstDash val="solid"/>
          </a:ln>
        </p:spPr>
      </p:sp>
      <p:pic>
        <p:nvPicPr>
          <p:cNvPr id="10" name="Image 1" descr="preencoded.png"/>
          <p:cNvPicPr>
            <a:picLocks noChangeAspect="1"/>
          </p:cNvPicPr>
          <p:nvPr/>
        </p:nvPicPr>
        <p:blipFill>
          <a:blip r:embed="rId4"/>
          <a:stretch>
            <a:fillRect/>
          </a:stretch>
        </p:blipFill>
        <p:spPr>
          <a:xfrm>
            <a:off x="640080" y="1170432"/>
            <a:ext cx="402336" cy="402336"/>
          </a:xfrm>
          <a:prstGeom prst="rect">
            <a:avLst/>
          </a:prstGeom>
        </p:spPr>
      </p:pic>
      <p:sp>
        <p:nvSpPr>
          <p:cNvPr id="11" name="Text 7"/>
          <p:cNvSpPr/>
          <p:nvPr/>
        </p:nvSpPr>
        <p:spPr>
          <a:xfrm>
            <a:off x="1170432" y="1115568"/>
            <a:ext cx="1792224" cy="310896"/>
          </a:xfrm>
          <a:prstGeom prst="rect">
            <a:avLst/>
          </a:prstGeom>
          <a:noFill/>
          <a:ln/>
        </p:spPr>
        <p:txBody>
          <a:bodyPr wrap="square" lIns="0" tIns="0" rIns="0" bIns="0" rtlCol="0" anchor="ctr"/>
          <a:lstStyle/>
          <a:p>
            <a:pPr marL="0" indent="0">
              <a:buNone/>
            </a:pPr>
            <a:r>
              <a:rPr lang="en-US" sz="1500" b="1" dirty="0">
                <a:solidFill>
                  <a:srgbClr val="1A2340"/>
                </a:solidFill>
                <a:latin typeface="Georgia" pitchFamily="34" charset="0"/>
                <a:ea typeface="Georgia" pitchFamily="34" charset="-122"/>
                <a:cs typeface="Georgia" pitchFamily="34" charset="-120"/>
              </a:rPr>
              <a:t>Identify</a:t>
            </a:r>
            <a:endParaRPr lang="en-US" sz="1500" dirty="0"/>
          </a:p>
        </p:txBody>
      </p:sp>
      <p:sp>
        <p:nvSpPr>
          <p:cNvPr id="12" name="Text 8"/>
          <p:cNvSpPr/>
          <p:nvPr/>
        </p:nvSpPr>
        <p:spPr>
          <a:xfrm>
            <a:off x="621792" y="1627632"/>
            <a:ext cx="233172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What phishing is and how attackers operate</a:t>
            </a:r>
            <a:endParaRPr lang="en-US" sz="1050" dirty="0"/>
          </a:p>
        </p:txBody>
      </p:sp>
      <p:sp>
        <p:nvSpPr>
          <p:cNvPr id="13" name="Shape 9"/>
          <p:cNvSpPr/>
          <p:nvPr/>
        </p:nvSpPr>
        <p:spPr>
          <a:xfrm>
            <a:off x="3246120" y="1099824"/>
            <a:ext cx="2633472" cy="1416764"/>
          </a:xfrm>
          <a:prstGeom prst="rect">
            <a:avLst/>
          </a:prstGeom>
          <a:solidFill>
            <a:srgbClr val="F7F8FC"/>
          </a:solidFill>
          <a:ln w="12700">
            <a:solidFill>
              <a:srgbClr val="D8DCE8"/>
            </a:solidFill>
            <a:prstDash val="solid"/>
          </a:ln>
        </p:spPr>
      </p:sp>
      <p:sp>
        <p:nvSpPr>
          <p:cNvPr id="14" name="Shape 10"/>
          <p:cNvSpPr/>
          <p:nvPr/>
        </p:nvSpPr>
        <p:spPr>
          <a:xfrm>
            <a:off x="3255264" y="1584019"/>
            <a:ext cx="2633472" cy="45720"/>
          </a:xfrm>
          <a:prstGeom prst="rect">
            <a:avLst/>
          </a:prstGeom>
          <a:solidFill>
            <a:srgbClr val="4A72C4"/>
          </a:solidFill>
          <a:ln w="12700">
            <a:solidFill>
              <a:srgbClr val="4A72C4">
                <a:alpha val="0"/>
              </a:srgbClr>
            </a:solidFill>
            <a:prstDash val="solid"/>
          </a:ln>
        </p:spPr>
      </p:sp>
      <p:pic>
        <p:nvPicPr>
          <p:cNvPr id="15" name="Image 2" descr="preencoded.png"/>
          <p:cNvPicPr>
            <a:picLocks noChangeAspect="1"/>
          </p:cNvPicPr>
          <p:nvPr/>
        </p:nvPicPr>
        <p:blipFill>
          <a:blip r:embed="rId5"/>
          <a:stretch>
            <a:fillRect/>
          </a:stretch>
        </p:blipFill>
        <p:spPr>
          <a:xfrm>
            <a:off x="3429000" y="1170432"/>
            <a:ext cx="402336" cy="402336"/>
          </a:xfrm>
          <a:prstGeom prst="rect">
            <a:avLst/>
          </a:prstGeom>
        </p:spPr>
      </p:pic>
      <p:sp>
        <p:nvSpPr>
          <p:cNvPr id="16" name="Text 11"/>
          <p:cNvSpPr/>
          <p:nvPr/>
        </p:nvSpPr>
        <p:spPr>
          <a:xfrm>
            <a:off x="3959352" y="1115568"/>
            <a:ext cx="1792224" cy="310896"/>
          </a:xfrm>
          <a:prstGeom prst="rect">
            <a:avLst/>
          </a:prstGeom>
          <a:noFill/>
          <a:ln/>
        </p:spPr>
        <p:txBody>
          <a:bodyPr wrap="square" lIns="0" tIns="0" rIns="0" bIns="0" rtlCol="0" anchor="ctr"/>
          <a:lstStyle/>
          <a:p>
            <a:pPr marL="0" indent="0">
              <a:buNone/>
            </a:pPr>
            <a:r>
              <a:rPr lang="en-US" sz="1500" b="1" dirty="0">
                <a:solidFill>
                  <a:srgbClr val="1A2340"/>
                </a:solidFill>
                <a:latin typeface="Georgia" pitchFamily="34" charset="0"/>
                <a:ea typeface="Georgia" pitchFamily="34" charset="-122"/>
                <a:cs typeface="Georgia" pitchFamily="34" charset="-120"/>
              </a:rPr>
              <a:t>Recognize</a:t>
            </a:r>
            <a:endParaRPr lang="en-US" sz="1500" dirty="0"/>
          </a:p>
        </p:txBody>
      </p:sp>
      <p:sp>
        <p:nvSpPr>
          <p:cNvPr id="17" name="Text 12"/>
          <p:cNvSpPr/>
          <p:nvPr/>
        </p:nvSpPr>
        <p:spPr>
          <a:xfrm>
            <a:off x="3410712" y="1627632"/>
            <a:ext cx="233172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Red flags in emails, links, and fake websites</a:t>
            </a:r>
            <a:endParaRPr lang="en-US" sz="1050" dirty="0"/>
          </a:p>
        </p:txBody>
      </p:sp>
      <p:sp>
        <p:nvSpPr>
          <p:cNvPr id="18" name="Shape 13"/>
          <p:cNvSpPr/>
          <p:nvPr/>
        </p:nvSpPr>
        <p:spPr>
          <a:xfrm>
            <a:off x="6035040" y="1088692"/>
            <a:ext cx="2633472" cy="1427896"/>
          </a:xfrm>
          <a:prstGeom prst="rect">
            <a:avLst/>
          </a:prstGeom>
          <a:solidFill>
            <a:srgbClr val="F7F8FC"/>
          </a:solidFill>
          <a:ln w="12700">
            <a:solidFill>
              <a:srgbClr val="D8DCE8"/>
            </a:solidFill>
            <a:prstDash val="solid"/>
          </a:ln>
        </p:spPr>
      </p:sp>
      <p:sp>
        <p:nvSpPr>
          <p:cNvPr id="19" name="Shape 14"/>
          <p:cNvSpPr/>
          <p:nvPr/>
        </p:nvSpPr>
        <p:spPr>
          <a:xfrm>
            <a:off x="6023113" y="1624451"/>
            <a:ext cx="2633472" cy="45720"/>
          </a:xfrm>
          <a:prstGeom prst="rect">
            <a:avLst/>
          </a:prstGeom>
          <a:solidFill>
            <a:srgbClr val="E8523A"/>
          </a:solidFill>
          <a:ln w="12700">
            <a:solidFill>
              <a:srgbClr val="E8523A">
                <a:alpha val="0"/>
              </a:srgbClr>
            </a:solidFill>
            <a:prstDash val="solid"/>
          </a:ln>
        </p:spPr>
      </p:sp>
      <p:pic>
        <p:nvPicPr>
          <p:cNvPr id="20" name="Image 3" descr="preencoded.png"/>
          <p:cNvPicPr>
            <a:picLocks noChangeAspect="1"/>
          </p:cNvPicPr>
          <p:nvPr/>
        </p:nvPicPr>
        <p:blipFill>
          <a:blip r:embed="rId6"/>
          <a:stretch>
            <a:fillRect/>
          </a:stretch>
        </p:blipFill>
        <p:spPr>
          <a:xfrm>
            <a:off x="6217920" y="1170432"/>
            <a:ext cx="402336" cy="402336"/>
          </a:xfrm>
          <a:prstGeom prst="rect">
            <a:avLst/>
          </a:prstGeom>
        </p:spPr>
      </p:pic>
      <p:sp>
        <p:nvSpPr>
          <p:cNvPr id="21" name="Text 15"/>
          <p:cNvSpPr/>
          <p:nvPr/>
        </p:nvSpPr>
        <p:spPr>
          <a:xfrm>
            <a:off x="6748272" y="1115568"/>
            <a:ext cx="1792224" cy="310896"/>
          </a:xfrm>
          <a:prstGeom prst="rect">
            <a:avLst/>
          </a:prstGeom>
          <a:noFill/>
          <a:ln/>
        </p:spPr>
        <p:txBody>
          <a:bodyPr wrap="square" lIns="0" tIns="0" rIns="0" bIns="0" rtlCol="0" anchor="ctr"/>
          <a:lstStyle/>
          <a:p>
            <a:pPr marL="0" indent="0">
              <a:buNone/>
            </a:pPr>
            <a:r>
              <a:rPr lang="en-US" sz="1500" b="1" dirty="0">
                <a:solidFill>
                  <a:srgbClr val="1A2340"/>
                </a:solidFill>
                <a:latin typeface="Georgia" pitchFamily="34" charset="0"/>
                <a:ea typeface="Georgia" pitchFamily="34" charset="-122"/>
                <a:cs typeface="Georgia" pitchFamily="34" charset="-120"/>
              </a:rPr>
              <a:t>Understand</a:t>
            </a:r>
            <a:endParaRPr lang="en-US" sz="1500" dirty="0"/>
          </a:p>
        </p:txBody>
      </p:sp>
      <p:sp>
        <p:nvSpPr>
          <p:cNvPr id="22" name="Text 16"/>
          <p:cNvSpPr/>
          <p:nvPr/>
        </p:nvSpPr>
        <p:spPr>
          <a:xfrm>
            <a:off x="6199632" y="1627632"/>
            <a:ext cx="233172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Social engineering and manipulation psychology</a:t>
            </a:r>
            <a:endParaRPr lang="en-US" sz="1050" dirty="0"/>
          </a:p>
        </p:txBody>
      </p:sp>
      <p:sp>
        <p:nvSpPr>
          <p:cNvPr id="23" name="Shape 17"/>
          <p:cNvSpPr/>
          <p:nvPr/>
        </p:nvSpPr>
        <p:spPr>
          <a:xfrm>
            <a:off x="457200" y="2971800"/>
            <a:ext cx="3163824" cy="1325880"/>
          </a:xfrm>
          <a:prstGeom prst="rect">
            <a:avLst/>
          </a:prstGeom>
          <a:solidFill>
            <a:srgbClr val="F7F8FC"/>
          </a:solidFill>
          <a:ln w="12700">
            <a:solidFill>
              <a:srgbClr val="D8DCE8"/>
            </a:solidFill>
            <a:prstDash val="solid"/>
          </a:ln>
        </p:spPr>
      </p:sp>
      <p:sp>
        <p:nvSpPr>
          <p:cNvPr id="24" name="Shape 18"/>
          <p:cNvSpPr/>
          <p:nvPr/>
        </p:nvSpPr>
        <p:spPr>
          <a:xfrm>
            <a:off x="457200" y="2971800"/>
            <a:ext cx="3163824" cy="155448"/>
          </a:xfrm>
          <a:prstGeom prst="rect">
            <a:avLst/>
          </a:prstGeom>
          <a:solidFill>
            <a:srgbClr val="1A2340"/>
          </a:solidFill>
          <a:ln w="12700">
            <a:solidFill>
              <a:srgbClr val="1A2340">
                <a:alpha val="0"/>
              </a:srgbClr>
            </a:solidFill>
            <a:prstDash val="solid"/>
          </a:ln>
        </p:spPr>
      </p:sp>
      <p:pic>
        <p:nvPicPr>
          <p:cNvPr id="25" name="Image 4" descr="preencoded.png"/>
          <p:cNvPicPr>
            <a:picLocks noChangeAspect="1"/>
          </p:cNvPicPr>
          <p:nvPr/>
        </p:nvPicPr>
        <p:blipFill>
          <a:blip r:embed="rId7"/>
          <a:stretch>
            <a:fillRect/>
          </a:stretch>
        </p:blipFill>
        <p:spPr>
          <a:xfrm>
            <a:off x="640080" y="3200400"/>
            <a:ext cx="402336" cy="402336"/>
          </a:xfrm>
          <a:prstGeom prst="rect">
            <a:avLst/>
          </a:prstGeom>
        </p:spPr>
      </p:pic>
      <p:sp>
        <p:nvSpPr>
          <p:cNvPr id="26" name="Text 19"/>
          <p:cNvSpPr/>
          <p:nvPr/>
        </p:nvSpPr>
        <p:spPr>
          <a:xfrm>
            <a:off x="1188720" y="3127248"/>
            <a:ext cx="3017520" cy="310896"/>
          </a:xfrm>
          <a:prstGeom prst="rect">
            <a:avLst/>
          </a:prstGeom>
          <a:noFill/>
          <a:ln/>
        </p:spPr>
        <p:txBody>
          <a:bodyPr wrap="square" lIns="0" tIns="0" rIns="0" bIns="0" rtlCol="0" anchor="ctr"/>
          <a:lstStyle/>
          <a:p>
            <a:pPr marL="0" indent="0">
              <a:buNone/>
            </a:pPr>
            <a:r>
              <a:rPr lang="en-US" sz="1500" b="1" dirty="0">
                <a:solidFill>
                  <a:srgbClr val="1A2340"/>
                </a:solidFill>
                <a:latin typeface="Georgia" pitchFamily="34" charset="0"/>
                <a:ea typeface="Georgia" pitchFamily="34" charset="-122"/>
                <a:cs typeface="Georgia" pitchFamily="34" charset="-120"/>
              </a:rPr>
              <a:t>Protect</a:t>
            </a:r>
            <a:endParaRPr lang="en-US" sz="1500" dirty="0"/>
          </a:p>
        </p:txBody>
      </p:sp>
      <p:sp>
        <p:nvSpPr>
          <p:cNvPr id="27" name="Text 20"/>
          <p:cNvSpPr/>
          <p:nvPr/>
        </p:nvSpPr>
        <p:spPr>
          <a:xfrm>
            <a:off x="621792" y="3566160"/>
            <a:ext cx="365760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Yourself using proven cybersecurity best practices</a:t>
            </a:r>
            <a:endParaRPr lang="en-US" sz="1050" dirty="0"/>
          </a:p>
        </p:txBody>
      </p:sp>
      <p:sp>
        <p:nvSpPr>
          <p:cNvPr id="28" name="Shape 21"/>
          <p:cNvSpPr/>
          <p:nvPr/>
        </p:nvSpPr>
        <p:spPr>
          <a:xfrm>
            <a:off x="3867912" y="2955500"/>
            <a:ext cx="3200400" cy="1325880"/>
          </a:xfrm>
          <a:prstGeom prst="rect">
            <a:avLst/>
          </a:prstGeom>
          <a:solidFill>
            <a:srgbClr val="F7F8FC"/>
          </a:solidFill>
          <a:ln w="12700">
            <a:solidFill>
              <a:srgbClr val="D8DCE8"/>
            </a:solidFill>
            <a:prstDash val="solid"/>
          </a:ln>
        </p:spPr>
        <p:txBody>
          <a:bodyPr/>
          <a:lstStyle/>
          <a:p>
            <a:endParaRPr lang="en-PK" dirty="0"/>
          </a:p>
        </p:txBody>
      </p:sp>
      <p:sp>
        <p:nvSpPr>
          <p:cNvPr id="29" name="Shape 22"/>
          <p:cNvSpPr/>
          <p:nvPr/>
        </p:nvSpPr>
        <p:spPr>
          <a:xfrm>
            <a:off x="3868508" y="2952319"/>
            <a:ext cx="3200400" cy="139148"/>
          </a:xfrm>
          <a:prstGeom prst="rect">
            <a:avLst/>
          </a:prstGeom>
          <a:solidFill>
            <a:srgbClr val="F5C518"/>
          </a:solidFill>
          <a:ln w="12700">
            <a:solidFill>
              <a:srgbClr val="F5C518">
                <a:alpha val="0"/>
              </a:srgbClr>
            </a:solidFill>
            <a:prstDash val="solid"/>
          </a:ln>
        </p:spPr>
      </p:sp>
      <p:pic>
        <p:nvPicPr>
          <p:cNvPr id="30" name="Image 5" descr="preencoded.png"/>
          <p:cNvPicPr>
            <a:picLocks noChangeAspect="1"/>
          </p:cNvPicPr>
          <p:nvPr/>
        </p:nvPicPr>
        <p:blipFill>
          <a:blip r:embed="rId8"/>
          <a:stretch>
            <a:fillRect/>
          </a:stretch>
        </p:blipFill>
        <p:spPr>
          <a:xfrm>
            <a:off x="4846320" y="3200400"/>
            <a:ext cx="402336" cy="402336"/>
          </a:xfrm>
          <a:prstGeom prst="rect">
            <a:avLst/>
          </a:prstGeom>
        </p:spPr>
      </p:pic>
      <p:sp>
        <p:nvSpPr>
          <p:cNvPr id="31" name="Text 23"/>
          <p:cNvSpPr/>
          <p:nvPr/>
        </p:nvSpPr>
        <p:spPr>
          <a:xfrm>
            <a:off x="5394960" y="3127248"/>
            <a:ext cx="3017520" cy="310896"/>
          </a:xfrm>
          <a:prstGeom prst="rect">
            <a:avLst/>
          </a:prstGeom>
          <a:noFill/>
          <a:ln/>
        </p:spPr>
        <p:txBody>
          <a:bodyPr wrap="square" lIns="0" tIns="0" rIns="0" bIns="0" rtlCol="0" anchor="ctr"/>
          <a:lstStyle/>
          <a:p>
            <a:pPr marL="0" indent="0">
              <a:buNone/>
            </a:pPr>
            <a:r>
              <a:rPr lang="en-US" sz="1500" b="1" dirty="0">
                <a:solidFill>
                  <a:srgbClr val="1A2340"/>
                </a:solidFill>
                <a:latin typeface="Georgia" pitchFamily="34" charset="0"/>
                <a:ea typeface="Georgia" pitchFamily="34" charset="-122"/>
                <a:cs typeface="Georgia" pitchFamily="34" charset="-120"/>
              </a:rPr>
              <a:t>Respond</a:t>
            </a:r>
            <a:endParaRPr lang="en-US" sz="1500" dirty="0"/>
          </a:p>
        </p:txBody>
      </p:sp>
      <p:sp>
        <p:nvSpPr>
          <p:cNvPr id="32" name="Text 24"/>
          <p:cNvSpPr/>
          <p:nvPr/>
        </p:nvSpPr>
        <p:spPr>
          <a:xfrm>
            <a:off x="3831336" y="3536740"/>
            <a:ext cx="365760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Quickly and correctly if you become a victim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3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What Is Phishing?</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pic>
        <p:nvPicPr>
          <p:cNvPr id="6" name="Image 0" descr="preencoded.png"/>
          <p:cNvPicPr>
            <a:picLocks noChangeAspect="1"/>
          </p:cNvPicPr>
          <p:nvPr/>
        </p:nvPicPr>
        <p:blipFill>
          <a:blip r:embed="rId3"/>
          <a:stretch>
            <a:fillRect/>
          </a:stretch>
        </p:blipFill>
        <p:spPr>
          <a:xfrm>
            <a:off x="7508019" y="808409"/>
            <a:ext cx="1371600" cy="1719072"/>
          </a:xfrm>
          <a:prstGeom prst="rect">
            <a:avLst/>
          </a:prstGeom>
        </p:spPr>
      </p:pic>
      <p:sp>
        <p:nvSpPr>
          <p:cNvPr id="7" name="Shape 4"/>
          <p:cNvSpPr/>
          <p:nvPr/>
        </p:nvSpPr>
        <p:spPr>
          <a:xfrm>
            <a:off x="457200" y="896112"/>
            <a:ext cx="6766560" cy="1325880"/>
          </a:xfrm>
          <a:prstGeom prst="rect">
            <a:avLst/>
          </a:prstGeom>
          <a:solidFill>
            <a:srgbClr val="1A2340"/>
          </a:solidFill>
          <a:ln w="12700">
            <a:solidFill>
              <a:srgbClr val="1A2340">
                <a:alpha val="0"/>
              </a:srgbClr>
            </a:solidFill>
            <a:prstDash val="solid"/>
          </a:ln>
        </p:spPr>
      </p:sp>
      <p:pic>
        <p:nvPicPr>
          <p:cNvPr id="8" name="Image 1" descr="preencoded.png"/>
          <p:cNvPicPr>
            <a:picLocks noChangeAspect="1"/>
          </p:cNvPicPr>
          <p:nvPr/>
        </p:nvPicPr>
        <p:blipFill>
          <a:blip r:embed="rId4"/>
          <a:stretch>
            <a:fillRect/>
          </a:stretch>
        </p:blipFill>
        <p:spPr>
          <a:xfrm>
            <a:off x="658368" y="1078992"/>
            <a:ext cx="475488" cy="475488"/>
          </a:xfrm>
          <a:prstGeom prst="rect">
            <a:avLst/>
          </a:prstGeom>
        </p:spPr>
      </p:pic>
      <p:sp>
        <p:nvSpPr>
          <p:cNvPr id="9" name="Text 5"/>
          <p:cNvSpPr/>
          <p:nvPr/>
        </p:nvSpPr>
        <p:spPr>
          <a:xfrm>
            <a:off x="1298448" y="960120"/>
            <a:ext cx="5806440" cy="1170432"/>
          </a:xfrm>
          <a:prstGeom prst="rect">
            <a:avLst/>
          </a:prstGeom>
          <a:noFill/>
          <a:ln/>
        </p:spPr>
        <p:txBody>
          <a:bodyPr wrap="square" rtlCol="0" anchor="ctr"/>
          <a:lstStyle/>
          <a:p>
            <a:pPr marL="0" indent="0">
              <a:buNone/>
            </a:pPr>
            <a:r>
              <a:rPr lang="en-US" sz="1300" b="1" dirty="0">
                <a:solidFill>
                  <a:srgbClr val="F5C518"/>
                </a:solidFill>
                <a:latin typeface="Calibri" pitchFamily="34" charset="0"/>
                <a:ea typeface="Calibri" pitchFamily="34" charset="-122"/>
                <a:cs typeface="Calibri" pitchFamily="34" charset="-120"/>
              </a:rPr>
              <a:t>Phishing </a:t>
            </a:r>
            <a:r>
              <a:rPr lang="en-US" sz="1300" dirty="0">
                <a:solidFill>
                  <a:srgbClr val="FFFFFF"/>
                </a:solidFill>
                <a:latin typeface="Calibri" pitchFamily="34" charset="0"/>
                <a:ea typeface="Calibri" pitchFamily="34" charset="-122"/>
                <a:cs typeface="Calibri" pitchFamily="34" charset="-120"/>
              </a:rPr>
              <a:t>is a cyberattack where criminals impersonate trusted entities — banks, universities, tech companies — to trick you into surrendering sensitive information or installing malware.</a:t>
            </a:r>
            <a:endParaRPr lang="en-US" sz="1300" dirty="0"/>
          </a:p>
        </p:txBody>
      </p:sp>
      <p:sp>
        <p:nvSpPr>
          <p:cNvPr id="10" name="Text 6"/>
          <p:cNvSpPr/>
          <p:nvPr/>
        </p:nvSpPr>
        <p:spPr>
          <a:xfrm>
            <a:off x="457200" y="2359152"/>
            <a:ext cx="6766560" cy="310896"/>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  Named after fishing — attackers cast a wide net, hoping you take the bait.</a:t>
            </a:r>
            <a:endParaRPr lang="en-US" sz="1200" dirty="0"/>
          </a:p>
        </p:txBody>
      </p:sp>
      <p:sp>
        <p:nvSpPr>
          <p:cNvPr id="11" name="Shape 7"/>
          <p:cNvSpPr/>
          <p:nvPr/>
        </p:nvSpPr>
        <p:spPr>
          <a:xfrm>
            <a:off x="457200" y="2761488"/>
            <a:ext cx="2633472" cy="1874520"/>
          </a:xfrm>
          <a:prstGeom prst="rect">
            <a:avLst/>
          </a:prstGeom>
          <a:solidFill>
            <a:srgbClr val="F7F8FC"/>
          </a:solidFill>
          <a:ln w="12700">
            <a:solidFill>
              <a:srgbClr val="D8DCE8"/>
            </a:solidFill>
            <a:prstDash val="solid"/>
          </a:ln>
        </p:spPr>
      </p:sp>
      <p:sp>
        <p:nvSpPr>
          <p:cNvPr id="12" name="Shape 8"/>
          <p:cNvSpPr/>
          <p:nvPr/>
        </p:nvSpPr>
        <p:spPr>
          <a:xfrm>
            <a:off x="457200" y="2761488"/>
            <a:ext cx="2633472" cy="45720"/>
          </a:xfrm>
          <a:prstGeom prst="rect">
            <a:avLst/>
          </a:prstGeom>
          <a:solidFill>
            <a:srgbClr val="F5C518"/>
          </a:solidFill>
          <a:ln w="12700">
            <a:solidFill>
              <a:srgbClr val="F5C518">
                <a:alpha val="0"/>
              </a:srgbClr>
            </a:solidFill>
            <a:prstDash val="solid"/>
          </a:ln>
        </p:spPr>
      </p:sp>
      <p:sp>
        <p:nvSpPr>
          <p:cNvPr id="13" name="Text 9"/>
          <p:cNvSpPr/>
          <p:nvPr/>
        </p:nvSpPr>
        <p:spPr>
          <a:xfrm>
            <a:off x="457200" y="2971800"/>
            <a:ext cx="2633472" cy="658368"/>
          </a:xfrm>
          <a:prstGeom prst="rect">
            <a:avLst/>
          </a:prstGeom>
          <a:noFill/>
          <a:ln/>
        </p:spPr>
        <p:txBody>
          <a:bodyPr wrap="square" lIns="0" tIns="0" rIns="0" bIns="0" rtlCol="0" anchor="ctr"/>
          <a:lstStyle/>
          <a:p>
            <a:pPr marL="0" indent="0" algn="ctr">
              <a:buNone/>
            </a:pPr>
            <a:r>
              <a:rPr lang="en-US" sz="2400" b="1" dirty="0">
                <a:solidFill>
                  <a:srgbClr val="1A2340"/>
                </a:solidFill>
                <a:latin typeface="Georgia" pitchFamily="34" charset="0"/>
                <a:ea typeface="Georgia" pitchFamily="34" charset="-122"/>
                <a:cs typeface="Georgia" pitchFamily="34" charset="-120"/>
              </a:rPr>
              <a:t>3.4 Billion</a:t>
            </a:r>
            <a:endParaRPr lang="en-US" sz="2400" dirty="0"/>
          </a:p>
        </p:txBody>
      </p:sp>
      <p:sp>
        <p:nvSpPr>
          <p:cNvPr id="14" name="Text 10"/>
          <p:cNvSpPr/>
          <p:nvPr/>
        </p:nvSpPr>
        <p:spPr>
          <a:xfrm>
            <a:off x="594360" y="3675888"/>
            <a:ext cx="2359152" cy="731520"/>
          </a:xfrm>
          <a:prstGeom prst="rect">
            <a:avLst/>
          </a:prstGeom>
          <a:noFill/>
          <a:ln/>
        </p:spPr>
        <p:txBody>
          <a:bodyPr wrap="square"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phishing emails sent every single day</a:t>
            </a:r>
            <a:endParaRPr lang="en-US" sz="1100" dirty="0"/>
          </a:p>
        </p:txBody>
      </p:sp>
      <p:sp>
        <p:nvSpPr>
          <p:cNvPr id="15" name="Shape 11"/>
          <p:cNvSpPr/>
          <p:nvPr/>
        </p:nvSpPr>
        <p:spPr>
          <a:xfrm>
            <a:off x="3246120" y="2761488"/>
            <a:ext cx="2633472" cy="1874520"/>
          </a:xfrm>
          <a:prstGeom prst="rect">
            <a:avLst/>
          </a:prstGeom>
          <a:solidFill>
            <a:srgbClr val="F7F8FC"/>
          </a:solidFill>
          <a:ln w="12700">
            <a:solidFill>
              <a:srgbClr val="D8DCE8"/>
            </a:solidFill>
            <a:prstDash val="solid"/>
          </a:ln>
        </p:spPr>
      </p:sp>
      <p:sp>
        <p:nvSpPr>
          <p:cNvPr id="16" name="Shape 12"/>
          <p:cNvSpPr/>
          <p:nvPr/>
        </p:nvSpPr>
        <p:spPr>
          <a:xfrm>
            <a:off x="3246120" y="2761488"/>
            <a:ext cx="2633472" cy="45720"/>
          </a:xfrm>
          <a:prstGeom prst="rect">
            <a:avLst/>
          </a:prstGeom>
          <a:solidFill>
            <a:srgbClr val="F5C518"/>
          </a:solidFill>
          <a:ln w="12700">
            <a:solidFill>
              <a:srgbClr val="F5C518">
                <a:alpha val="0"/>
              </a:srgbClr>
            </a:solidFill>
            <a:prstDash val="solid"/>
          </a:ln>
        </p:spPr>
      </p:sp>
      <p:sp>
        <p:nvSpPr>
          <p:cNvPr id="17" name="Text 13"/>
          <p:cNvSpPr/>
          <p:nvPr/>
        </p:nvSpPr>
        <p:spPr>
          <a:xfrm>
            <a:off x="3246120" y="2971800"/>
            <a:ext cx="2633472" cy="658368"/>
          </a:xfrm>
          <a:prstGeom prst="rect">
            <a:avLst/>
          </a:prstGeom>
          <a:noFill/>
          <a:ln/>
        </p:spPr>
        <p:txBody>
          <a:bodyPr wrap="square" lIns="0" tIns="0" rIns="0" bIns="0" rtlCol="0" anchor="ctr"/>
          <a:lstStyle/>
          <a:p>
            <a:pPr marL="0" indent="0" algn="ctr">
              <a:buNone/>
            </a:pPr>
            <a:r>
              <a:rPr lang="en-US" sz="2400" b="1" dirty="0">
                <a:solidFill>
                  <a:srgbClr val="1A2340"/>
                </a:solidFill>
                <a:latin typeface="Georgia" pitchFamily="34" charset="0"/>
                <a:ea typeface="Georgia" pitchFamily="34" charset="-122"/>
                <a:cs typeface="Georgia" pitchFamily="34" charset="-120"/>
              </a:rPr>
              <a:t>90%</a:t>
            </a:r>
            <a:endParaRPr lang="en-US" sz="2400" dirty="0"/>
          </a:p>
        </p:txBody>
      </p:sp>
      <p:sp>
        <p:nvSpPr>
          <p:cNvPr id="18" name="Text 14"/>
          <p:cNvSpPr/>
          <p:nvPr/>
        </p:nvSpPr>
        <p:spPr>
          <a:xfrm>
            <a:off x="3383280" y="3675888"/>
            <a:ext cx="2359152" cy="731520"/>
          </a:xfrm>
          <a:prstGeom prst="rect">
            <a:avLst/>
          </a:prstGeom>
          <a:noFill/>
          <a:ln/>
        </p:spPr>
        <p:txBody>
          <a:bodyPr wrap="square"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of all data breaches start with phishing</a:t>
            </a:r>
            <a:endParaRPr lang="en-US" sz="1100" dirty="0"/>
          </a:p>
        </p:txBody>
      </p:sp>
      <p:sp>
        <p:nvSpPr>
          <p:cNvPr id="19" name="Shape 15"/>
          <p:cNvSpPr/>
          <p:nvPr/>
        </p:nvSpPr>
        <p:spPr>
          <a:xfrm>
            <a:off x="6035040" y="2761488"/>
            <a:ext cx="2633472" cy="1874520"/>
          </a:xfrm>
          <a:prstGeom prst="rect">
            <a:avLst/>
          </a:prstGeom>
          <a:solidFill>
            <a:srgbClr val="F7F8FC"/>
          </a:solidFill>
          <a:ln w="12700">
            <a:solidFill>
              <a:srgbClr val="D8DCE8"/>
            </a:solidFill>
            <a:prstDash val="solid"/>
          </a:ln>
        </p:spPr>
      </p:sp>
      <p:sp>
        <p:nvSpPr>
          <p:cNvPr id="20" name="Shape 16"/>
          <p:cNvSpPr/>
          <p:nvPr/>
        </p:nvSpPr>
        <p:spPr>
          <a:xfrm>
            <a:off x="6035040" y="2761488"/>
            <a:ext cx="2633472" cy="45720"/>
          </a:xfrm>
          <a:prstGeom prst="rect">
            <a:avLst/>
          </a:prstGeom>
          <a:solidFill>
            <a:srgbClr val="F5C518"/>
          </a:solidFill>
          <a:ln w="12700">
            <a:solidFill>
              <a:srgbClr val="F5C518">
                <a:alpha val="0"/>
              </a:srgbClr>
            </a:solidFill>
            <a:prstDash val="solid"/>
          </a:ln>
        </p:spPr>
      </p:sp>
      <p:sp>
        <p:nvSpPr>
          <p:cNvPr id="21" name="Text 17"/>
          <p:cNvSpPr/>
          <p:nvPr/>
        </p:nvSpPr>
        <p:spPr>
          <a:xfrm>
            <a:off x="6035040" y="2971800"/>
            <a:ext cx="2633472" cy="658368"/>
          </a:xfrm>
          <a:prstGeom prst="rect">
            <a:avLst/>
          </a:prstGeom>
          <a:noFill/>
          <a:ln/>
        </p:spPr>
        <p:txBody>
          <a:bodyPr wrap="square" lIns="0" tIns="0" rIns="0" bIns="0" rtlCol="0" anchor="ctr"/>
          <a:lstStyle/>
          <a:p>
            <a:pPr marL="0" indent="0" algn="ctr">
              <a:buNone/>
            </a:pPr>
            <a:r>
              <a:rPr lang="en-US" sz="2400" b="1" dirty="0">
                <a:solidFill>
                  <a:srgbClr val="1A2340"/>
                </a:solidFill>
                <a:latin typeface="Georgia" pitchFamily="34" charset="0"/>
                <a:ea typeface="Georgia" pitchFamily="34" charset="-122"/>
                <a:cs typeface="Georgia" pitchFamily="34" charset="-120"/>
              </a:rPr>
              <a:t>$4.9 Million</a:t>
            </a:r>
            <a:endParaRPr lang="en-US" sz="2400" dirty="0"/>
          </a:p>
        </p:txBody>
      </p:sp>
      <p:sp>
        <p:nvSpPr>
          <p:cNvPr id="22" name="Text 18"/>
          <p:cNvSpPr/>
          <p:nvPr/>
        </p:nvSpPr>
        <p:spPr>
          <a:xfrm>
            <a:off x="6172200" y="3675888"/>
            <a:ext cx="2359152" cy="731520"/>
          </a:xfrm>
          <a:prstGeom prst="rect">
            <a:avLst/>
          </a:prstGeom>
          <a:noFill/>
          <a:ln/>
        </p:spPr>
        <p:txBody>
          <a:bodyPr wrap="square"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average cost of a single data breach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4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Why Phishing Is Dangerous</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4"/>
          <p:cNvSpPr/>
          <p:nvPr/>
        </p:nvSpPr>
        <p:spPr>
          <a:xfrm>
            <a:off x="457200" y="960120"/>
            <a:ext cx="4114800" cy="1207008"/>
          </a:xfrm>
          <a:prstGeom prst="rect">
            <a:avLst/>
          </a:prstGeom>
          <a:solidFill>
            <a:srgbClr val="F7F8FC"/>
          </a:solidFill>
          <a:ln w="12700">
            <a:solidFill>
              <a:srgbClr val="D8DCE8"/>
            </a:solidFill>
            <a:prstDash val="solid"/>
          </a:ln>
        </p:spPr>
      </p:sp>
      <p:sp>
        <p:nvSpPr>
          <p:cNvPr id="8" name="Shape 5"/>
          <p:cNvSpPr/>
          <p:nvPr/>
        </p:nvSpPr>
        <p:spPr>
          <a:xfrm>
            <a:off x="457200" y="960120"/>
            <a:ext cx="45720" cy="1207008"/>
          </a:xfrm>
          <a:prstGeom prst="rect">
            <a:avLst/>
          </a:prstGeom>
          <a:solidFill>
            <a:srgbClr val="1A2340"/>
          </a:solidFill>
          <a:ln w="12700">
            <a:solidFill>
              <a:srgbClr val="1A2340">
                <a:alpha val="0"/>
              </a:srgbClr>
            </a:solidFill>
            <a:prstDash val="solid"/>
          </a:ln>
        </p:spPr>
      </p:sp>
      <p:pic>
        <p:nvPicPr>
          <p:cNvPr id="9" name="Image 1" descr="preencoded.png"/>
          <p:cNvPicPr>
            <a:picLocks noChangeAspect="1"/>
          </p:cNvPicPr>
          <p:nvPr/>
        </p:nvPicPr>
        <p:blipFill>
          <a:blip r:embed="rId3"/>
          <a:stretch>
            <a:fillRect/>
          </a:stretch>
        </p:blipFill>
        <p:spPr>
          <a:xfrm>
            <a:off x="621792" y="1307592"/>
            <a:ext cx="365760" cy="365760"/>
          </a:xfrm>
          <a:prstGeom prst="rect">
            <a:avLst/>
          </a:prstGeom>
        </p:spPr>
      </p:pic>
      <p:sp>
        <p:nvSpPr>
          <p:cNvPr id="10" name="Text 6"/>
          <p:cNvSpPr/>
          <p:nvPr/>
        </p:nvSpPr>
        <p:spPr>
          <a:xfrm>
            <a:off x="1115568" y="1088136"/>
            <a:ext cx="3310128"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Identity Theft</a:t>
            </a:r>
            <a:endParaRPr lang="en-US" sz="1300" dirty="0"/>
          </a:p>
        </p:txBody>
      </p:sp>
      <p:sp>
        <p:nvSpPr>
          <p:cNvPr id="11" name="Text 7"/>
          <p:cNvSpPr/>
          <p:nvPr/>
        </p:nvSpPr>
        <p:spPr>
          <a:xfrm>
            <a:off x="1115568" y="1417320"/>
            <a:ext cx="3337560" cy="6400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Stolen credentials used to impersonate you — recovery takes months to years</a:t>
            </a:r>
            <a:endParaRPr lang="en-US" sz="1050" dirty="0"/>
          </a:p>
        </p:txBody>
      </p:sp>
      <p:sp>
        <p:nvSpPr>
          <p:cNvPr id="12" name="Shape 8"/>
          <p:cNvSpPr/>
          <p:nvPr/>
        </p:nvSpPr>
        <p:spPr>
          <a:xfrm>
            <a:off x="4754880" y="960120"/>
            <a:ext cx="4114800" cy="1207008"/>
          </a:xfrm>
          <a:prstGeom prst="rect">
            <a:avLst/>
          </a:prstGeom>
          <a:solidFill>
            <a:srgbClr val="F7F8FC"/>
          </a:solidFill>
          <a:ln w="12700">
            <a:solidFill>
              <a:srgbClr val="D8DCE8"/>
            </a:solidFill>
            <a:prstDash val="solid"/>
          </a:ln>
        </p:spPr>
      </p:sp>
      <p:sp>
        <p:nvSpPr>
          <p:cNvPr id="13" name="Shape 9"/>
          <p:cNvSpPr/>
          <p:nvPr/>
        </p:nvSpPr>
        <p:spPr>
          <a:xfrm>
            <a:off x="4754880" y="960120"/>
            <a:ext cx="45720" cy="1207008"/>
          </a:xfrm>
          <a:prstGeom prst="rect">
            <a:avLst/>
          </a:prstGeom>
          <a:solidFill>
            <a:srgbClr val="E8523A"/>
          </a:solidFill>
          <a:ln w="12700">
            <a:solidFill>
              <a:srgbClr val="E8523A">
                <a:alpha val="0"/>
              </a:srgbClr>
            </a:solidFill>
            <a:prstDash val="solid"/>
          </a:ln>
        </p:spPr>
      </p:sp>
      <p:pic>
        <p:nvPicPr>
          <p:cNvPr id="14" name="Image 2" descr="preencoded.png"/>
          <p:cNvPicPr>
            <a:picLocks noChangeAspect="1"/>
          </p:cNvPicPr>
          <p:nvPr/>
        </p:nvPicPr>
        <p:blipFill>
          <a:blip r:embed="rId4"/>
          <a:stretch>
            <a:fillRect/>
          </a:stretch>
        </p:blipFill>
        <p:spPr>
          <a:xfrm>
            <a:off x="4919472" y="1307592"/>
            <a:ext cx="365760" cy="365760"/>
          </a:xfrm>
          <a:prstGeom prst="rect">
            <a:avLst/>
          </a:prstGeom>
        </p:spPr>
      </p:pic>
      <p:sp>
        <p:nvSpPr>
          <p:cNvPr id="15" name="Text 10"/>
          <p:cNvSpPr/>
          <p:nvPr/>
        </p:nvSpPr>
        <p:spPr>
          <a:xfrm>
            <a:off x="5413248" y="1088136"/>
            <a:ext cx="3310128"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Financial Loss</a:t>
            </a:r>
            <a:endParaRPr lang="en-US" sz="1300" dirty="0"/>
          </a:p>
        </p:txBody>
      </p:sp>
      <p:sp>
        <p:nvSpPr>
          <p:cNvPr id="16" name="Text 11"/>
          <p:cNvSpPr/>
          <p:nvPr/>
        </p:nvSpPr>
        <p:spPr>
          <a:xfrm>
            <a:off x="5413248" y="1417320"/>
            <a:ext cx="3337560" cy="6400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Bank accounts drained, credit cards maxed, loans opened in your name</a:t>
            </a:r>
            <a:endParaRPr lang="en-US" sz="1050" dirty="0"/>
          </a:p>
        </p:txBody>
      </p:sp>
      <p:sp>
        <p:nvSpPr>
          <p:cNvPr id="17" name="Shape 12"/>
          <p:cNvSpPr/>
          <p:nvPr/>
        </p:nvSpPr>
        <p:spPr>
          <a:xfrm>
            <a:off x="457200" y="2331720"/>
            <a:ext cx="4114800" cy="1207008"/>
          </a:xfrm>
          <a:prstGeom prst="rect">
            <a:avLst/>
          </a:prstGeom>
          <a:solidFill>
            <a:srgbClr val="F7F8FC"/>
          </a:solidFill>
          <a:ln w="12700">
            <a:solidFill>
              <a:srgbClr val="D8DCE8"/>
            </a:solidFill>
            <a:prstDash val="solid"/>
          </a:ln>
        </p:spPr>
      </p:sp>
      <p:sp>
        <p:nvSpPr>
          <p:cNvPr id="18" name="Shape 13"/>
          <p:cNvSpPr/>
          <p:nvPr/>
        </p:nvSpPr>
        <p:spPr>
          <a:xfrm>
            <a:off x="457200" y="2331720"/>
            <a:ext cx="45720" cy="1207008"/>
          </a:xfrm>
          <a:prstGeom prst="rect">
            <a:avLst/>
          </a:prstGeom>
          <a:solidFill>
            <a:srgbClr val="1A2340"/>
          </a:solidFill>
          <a:ln w="12700">
            <a:solidFill>
              <a:srgbClr val="1A2340">
                <a:alpha val="0"/>
              </a:srgbClr>
            </a:solidFill>
            <a:prstDash val="solid"/>
          </a:ln>
        </p:spPr>
      </p:sp>
      <p:pic>
        <p:nvPicPr>
          <p:cNvPr id="19" name="Image 3" descr="preencoded.png"/>
          <p:cNvPicPr>
            <a:picLocks noChangeAspect="1"/>
          </p:cNvPicPr>
          <p:nvPr/>
        </p:nvPicPr>
        <p:blipFill>
          <a:blip r:embed="rId5"/>
          <a:stretch>
            <a:fillRect/>
          </a:stretch>
        </p:blipFill>
        <p:spPr>
          <a:xfrm>
            <a:off x="621792" y="2679192"/>
            <a:ext cx="365760" cy="365760"/>
          </a:xfrm>
          <a:prstGeom prst="rect">
            <a:avLst/>
          </a:prstGeom>
        </p:spPr>
      </p:pic>
      <p:sp>
        <p:nvSpPr>
          <p:cNvPr id="20" name="Text 14"/>
          <p:cNvSpPr/>
          <p:nvPr/>
        </p:nvSpPr>
        <p:spPr>
          <a:xfrm>
            <a:off x="1115568" y="2459736"/>
            <a:ext cx="3310128"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Malware &amp; Ransomware</a:t>
            </a:r>
            <a:endParaRPr lang="en-US" sz="1300" dirty="0"/>
          </a:p>
        </p:txBody>
      </p:sp>
      <p:sp>
        <p:nvSpPr>
          <p:cNvPr id="21" name="Text 15"/>
          <p:cNvSpPr/>
          <p:nvPr/>
        </p:nvSpPr>
        <p:spPr>
          <a:xfrm>
            <a:off x="1115568" y="2788920"/>
            <a:ext cx="3337560" cy="6400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One click can encrypt your files — pay a ransom or lose everything forever</a:t>
            </a:r>
            <a:endParaRPr lang="en-US" sz="1050" dirty="0"/>
          </a:p>
        </p:txBody>
      </p:sp>
      <p:sp>
        <p:nvSpPr>
          <p:cNvPr id="22" name="Shape 16"/>
          <p:cNvSpPr/>
          <p:nvPr/>
        </p:nvSpPr>
        <p:spPr>
          <a:xfrm>
            <a:off x="4754880" y="2331720"/>
            <a:ext cx="4114800" cy="1207008"/>
          </a:xfrm>
          <a:prstGeom prst="rect">
            <a:avLst/>
          </a:prstGeom>
          <a:solidFill>
            <a:srgbClr val="F7F8FC"/>
          </a:solidFill>
          <a:ln w="12700">
            <a:solidFill>
              <a:srgbClr val="D8DCE8"/>
            </a:solidFill>
            <a:prstDash val="solid"/>
          </a:ln>
        </p:spPr>
      </p:sp>
      <p:sp>
        <p:nvSpPr>
          <p:cNvPr id="23" name="Shape 17"/>
          <p:cNvSpPr/>
          <p:nvPr/>
        </p:nvSpPr>
        <p:spPr>
          <a:xfrm>
            <a:off x="4754880" y="2331720"/>
            <a:ext cx="45720" cy="1207008"/>
          </a:xfrm>
          <a:prstGeom prst="rect">
            <a:avLst/>
          </a:prstGeom>
          <a:solidFill>
            <a:srgbClr val="E8523A"/>
          </a:solidFill>
          <a:ln w="12700">
            <a:solidFill>
              <a:srgbClr val="E8523A">
                <a:alpha val="0"/>
              </a:srgbClr>
            </a:solidFill>
            <a:prstDash val="solid"/>
          </a:ln>
        </p:spPr>
      </p:sp>
      <p:pic>
        <p:nvPicPr>
          <p:cNvPr id="24" name="Image 4" descr="preencoded.png"/>
          <p:cNvPicPr>
            <a:picLocks noChangeAspect="1"/>
          </p:cNvPicPr>
          <p:nvPr/>
        </p:nvPicPr>
        <p:blipFill>
          <a:blip r:embed="rId6"/>
          <a:stretch>
            <a:fillRect/>
          </a:stretch>
        </p:blipFill>
        <p:spPr>
          <a:xfrm>
            <a:off x="4919472" y="2679192"/>
            <a:ext cx="365760" cy="365760"/>
          </a:xfrm>
          <a:prstGeom prst="rect">
            <a:avLst/>
          </a:prstGeom>
        </p:spPr>
      </p:pic>
      <p:sp>
        <p:nvSpPr>
          <p:cNvPr id="25" name="Text 18"/>
          <p:cNvSpPr/>
          <p:nvPr/>
        </p:nvSpPr>
        <p:spPr>
          <a:xfrm>
            <a:off x="5413248" y="2459736"/>
            <a:ext cx="3310128"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Reputation Damage</a:t>
            </a:r>
            <a:endParaRPr lang="en-US" sz="1300" dirty="0"/>
          </a:p>
        </p:txBody>
      </p:sp>
      <p:sp>
        <p:nvSpPr>
          <p:cNvPr id="26" name="Text 19"/>
          <p:cNvSpPr/>
          <p:nvPr/>
        </p:nvSpPr>
        <p:spPr>
          <a:xfrm>
            <a:off x="5413248" y="2788920"/>
            <a:ext cx="3337560" cy="6400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Your hijacked accounts used to scam friends, family, and colleagues</a:t>
            </a:r>
            <a:endParaRPr lang="en-US" sz="1050" dirty="0"/>
          </a:p>
        </p:txBody>
      </p:sp>
      <p:sp>
        <p:nvSpPr>
          <p:cNvPr id="27" name="Shape 20"/>
          <p:cNvSpPr/>
          <p:nvPr/>
        </p:nvSpPr>
        <p:spPr>
          <a:xfrm>
            <a:off x="457200" y="3703320"/>
            <a:ext cx="4114800" cy="1207008"/>
          </a:xfrm>
          <a:prstGeom prst="rect">
            <a:avLst/>
          </a:prstGeom>
          <a:solidFill>
            <a:srgbClr val="F7F8FC"/>
          </a:solidFill>
          <a:ln w="12700">
            <a:solidFill>
              <a:srgbClr val="D8DCE8"/>
            </a:solidFill>
            <a:prstDash val="solid"/>
          </a:ln>
        </p:spPr>
      </p:sp>
      <p:sp>
        <p:nvSpPr>
          <p:cNvPr id="28" name="Shape 21"/>
          <p:cNvSpPr/>
          <p:nvPr/>
        </p:nvSpPr>
        <p:spPr>
          <a:xfrm>
            <a:off x="457200" y="3703320"/>
            <a:ext cx="45720" cy="1207008"/>
          </a:xfrm>
          <a:prstGeom prst="rect">
            <a:avLst/>
          </a:prstGeom>
          <a:solidFill>
            <a:srgbClr val="1A2340"/>
          </a:solidFill>
          <a:ln w="12700">
            <a:solidFill>
              <a:srgbClr val="1A2340">
                <a:alpha val="0"/>
              </a:srgbClr>
            </a:solidFill>
            <a:prstDash val="solid"/>
          </a:ln>
        </p:spPr>
      </p:sp>
      <p:pic>
        <p:nvPicPr>
          <p:cNvPr id="29" name="Image 5" descr="preencoded.png"/>
          <p:cNvPicPr>
            <a:picLocks noChangeAspect="1"/>
          </p:cNvPicPr>
          <p:nvPr/>
        </p:nvPicPr>
        <p:blipFill>
          <a:blip r:embed="rId7"/>
          <a:stretch>
            <a:fillRect/>
          </a:stretch>
        </p:blipFill>
        <p:spPr>
          <a:xfrm>
            <a:off x="621792" y="4050792"/>
            <a:ext cx="365760" cy="365760"/>
          </a:xfrm>
          <a:prstGeom prst="rect">
            <a:avLst/>
          </a:prstGeom>
        </p:spPr>
      </p:pic>
      <p:sp>
        <p:nvSpPr>
          <p:cNvPr id="30" name="Text 22"/>
          <p:cNvSpPr/>
          <p:nvPr/>
        </p:nvSpPr>
        <p:spPr>
          <a:xfrm>
            <a:off x="1115568" y="3831336"/>
            <a:ext cx="3310128"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Data Breach</a:t>
            </a:r>
            <a:endParaRPr lang="en-US" sz="1300" dirty="0"/>
          </a:p>
        </p:txBody>
      </p:sp>
      <p:sp>
        <p:nvSpPr>
          <p:cNvPr id="31" name="Text 23"/>
          <p:cNvSpPr/>
          <p:nvPr/>
        </p:nvSpPr>
        <p:spPr>
          <a:xfrm>
            <a:off x="1115568" y="4160520"/>
            <a:ext cx="3337560" cy="6400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Personal and professional records exposed and sold on the dark web</a:t>
            </a:r>
            <a:endParaRPr lang="en-US" sz="1050" dirty="0"/>
          </a:p>
        </p:txBody>
      </p:sp>
      <p:sp>
        <p:nvSpPr>
          <p:cNvPr id="32" name="Shape 24"/>
          <p:cNvSpPr/>
          <p:nvPr/>
        </p:nvSpPr>
        <p:spPr>
          <a:xfrm>
            <a:off x="4754880" y="3703320"/>
            <a:ext cx="4114800" cy="1207008"/>
          </a:xfrm>
          <a:prstGeom prst="rect">
            <a:avLst/>
          </a:prstGeom>
          <a:solidFill>
            <a:srgbClr val="F7F8FC"/>
          </a:solidFill>
          <a:ln w="12700">
            <a:solidFill>
              <a:srgbClr val="D8DCE8"/>
            </a:solidFill>
            <a:prstDash val="solid"/>
          </a:ln>
        </p:spPr>
      </p:sp>
      <p:sp>
        <p:nvSpPr>
          <p:cNvPr id="33" name="Shape 25"/>
          <p:cNvSpPr/>
          <p:nvPr/>
        </p:nvSpPr>
        <p:spPr>
          <a:xfrm>
            <a:off x="4754880" y="3703320"/>
            <a:ext cx="45720" cy="1207008"/>
          </a:xfrm>
          <a:prstGeom prst="rect">
            <a:avLst/>
          </a:prstGeom>
          <a:solidFill>
            <a:srgbClr val="E8523A"/>
          </a:solidFill>
          <a:ln w="12700">
            <a:solidFill>
              <a:srgbClr val="E8523A">
                <a:alpha val="0"/>
              </a:srgbClr>
            </a:solidFill>
            <a:prstDash val="solid"/>
          </a:ln>
        </p:spPr>
      </p:sp>
      <p:pic>
        <p:nvPicPr>
          <p:cNvPr id="34" name="Image 6" descr="preencoded.png"/>
          <p:cNvPicPr>
            <a:picLocks noChangeAspect="1"/>
          </p:cNvPicPr>
          <p:nvPr/>
        </p:nvPicPr>
        <p:blipFill>
          <a:blip r:embed="rId8"/>
          <a:stretch>
            <a:fillRect/>
          </a:stretch>
        </p:blipFill>
        <p:spPr>
          <a:xfrm>
            <a:off x="4919472" y="4050792"/>
            <a:ext cx="365760" cy="365760"/>
          </a:xfrm>
          <a:prstGeom prst="rect">
            <a:avLst/>
          </a:prstGeom>
        </p:spPr>
      </p:pic>
      <p:sp>
        <p:nvSpPr>
          <p:cNvPr id="35" name="Text 26"/>
          <p:cNvSpPr/>
          <p:nvPr/>
        </p:nvSpPr>
        <p:spPr>
          <a:xfrm>
            <a:off x="5413248" y="3831336"/>
            <a:ext cx="3310128"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Academic &amp; Career Risk</a:t>
            </a:r>
            <a:endParaRPr lang="en-US" sz="1300" dirty="0"/>
          </a:p>
        </p:txBody>
      </p:sp>
      <p:sp>
        <p:nvSpPr>
          <p:cNvPr id="36" name="Text 27"/>
          <p:cNvSpPr/>
          <p:nvPr/>
        </p:nvSpPr>
        <p:spPr>
          <a:xfrm>
            <a:off x="5413248" y="4160520"/>
            <a:ext cx="3337560" cy="64008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University records, financial aid, and job applications compromised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5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How a Phishing Attack Works</a:t>
            </a:r>
            <a:endParaRPr lang="en-US" sz="3000" dirty="0"/>
          </a:p>
        </p:txBody>
      </p:sp>
      <p:sp>
        <p:nvSpPr>
          <p:cNvPr id="6" name="Shape 4"/>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5"/>
          <p:cNvSpPr/>
          <p:nvPr/>
        </p:nvSpPr>
        <p:spPr>
          <a:xfrm>
            <a:off x="347472" y="960120"/>
            <a:ext cx="1645920" cy="2395728"/>
          </a:xfrm>
          <a:prstGeom prst="rect">
            <a:avLst/>
          </a:prstGeom>
          <a:solidFill>
            <a:srgbClr val="1A2340"/>
          </a:solidFill>
          <a:ln w="12700">
            <a:solidFill>
              <a:srgbClr val="1A2340">
                <a:alpha val="0"/>
              </a:srgbClr>
            </a:solidFill>
            <a:prstDash val="solid"/>
          </a:ln>
        </p:spPr>
      </p:sp>
      <p:sp>
        <p:nvSpPr>
          <p:cNvPr id="8" name="Text 6"/>
          <p:cNvSpPr/>
          <p:nvPr/>
        </p:nvSpPr>
        <p:spPr>
          <a:xfrm>
            <a:off x="347472" y="1051560"/>
            <a:ext cx="164592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01</a:t>
            </a:r>
            <a:endParaRPr lang="en-US" sz="2200" dirty="0"/>
          </a:p>
        </p:txBody>
      </p:sp>
      <p:pic>
        <p:nvPicPr>
          <p:cNvPr id="9" name="Image 0" descr="preencoded.png"/>
          <p:cNvPicPr>
            <a:picLocks noChangeAspect="1"/>
          </p:cNvPicPr>
          <p:nvPr/>
        </p:nvPicPr>
        <p:blipFill>
          <a:blip r:embed="rId3"/>
          <a:stretch>
            <a:fillRect/>
          </a:stretch>
        </p:blipFill>
        <p:spPr>
          <a:xfrm>
            <a:off x="960120" y="1572768"/>
            <a:ext cx="420624" cy="420624"/>
          </a:xfrm>
          <a:prstGeom prst="rect">
            <a:avLst/>
          </a:prstGeom>
        </p:spPr>
      </p:pic>
      <p:sp>
        <p:nvSpPr>
          <p:cNvPr id="10" name="Text 7"/>
          <p:cNvSpPr/>
          <p:nvPr/>
        </p:nvSpPr>
        <p:spPr>
          <a:xfrm>
            <a:off x="402336" y="2103120"/>
            <a:ext cx="1536192" cy="50292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Select Target</a:t>
            </a:r>
            <a:endParaRPr lang="en-US" sz="1100" dirty="0"/>
          </a:p>
        </p:txBody>
      </p:sp>
      <p:sp>
        <p:nvSpPr>
          <p:cNvPr id="11" name="Text 8"/>
          <p:cNvSpPr/>
          <p:nvPr/>
        </p:nvSpPr>
        <p:spPr>
          <a:xfrm>
            <a:off x="402336" y="2633472"/>
            <a:ext cx="1536192" cy="621792"/>
          </a:xfrm>
          <a:prstGeom prst="rect">
            <a:avLst/>
          </a:prstGeom>
          <a:noFill/>
          <a:ln/>
        </p:spPr>
        <p:txBody>
          <a:bodyPr wrap="square" rtlCol="0" anchor="ctr"/>
          <a:lstStyle/>
          <a:p>
            <a:pPr marL="0" indent="0" algn="ctr">
              <a:buNone/>
            </a:pPr>
            <a:r>
              <a:rPr lang="en-US" sz="850" dirty="0">
                <a:solidFill>
                  <a:srgbClr val="AABBCC"/>
                </a:solidFill>
                <a:latin typeface="Calibri" pitchFamily="34" charset="0"/>
                <a:ea typeface="Calibri" pitchFamily="34" charset="-122"/>
                <a:cs typeface="Calibri" pitchFamily="34" charset="-120"/>
              </a:rPr>
              <a:t>Research on LinkedIn, social media, university sites</a:t>
            </a:r>
            <a:endParaRPr lang="en-US" sz="850" dirty="0"/>
          </a:p>
        </p:txBody>
      </p:sp>
      <p:sp>
        <p:nvSpPr>
          <p:cNvPr id="12" name="Text 9"/>
          <p:cNvSpPr/>
          <p:nvPr/>
        </p:nvSpPr>
        <p:spPr>
          <a:xfrm>
            <a:off x="2011680" y="1828800"/>
            <a:ext cx="54864" cy="320040"/>
          </a:xfrm>
          <a:prstGeom prst="rect">
            <a:avLst/>
          </a:prstGeom>
          <a:noFill/>
          <a:ln/>
        </p:spPr>
        <p:txBody>
          <a:bodyPr wrap="square" lIns="0" tIns="0" rIns="0" bIns="0" rtlCol="0" anchor="ctr"/>
          <a:lstStyle/>
          <a:p>
            <a:pPr marL="0" indent="0" algn="ctr">
              <a:buNone/>
            </a:pPr>
            <a:r>
              <a:rPr lang="en-US" sz="2200" dirty="0">
                <a:solidFill>
                  <a:srgbClr val="7A8394"/>
                </a:solidFill>
              </a:rPr>
              <a:t>›</a:t>
            </a:r>
            <a:endParaRPr lang="en-US" sz="2200" dirty="0"/>
          </a:p>
        </p:txBody>
      </p:sp>
      <p:sp>
        <p:nvSpPr>
          <p:cNvPr id="13" name="Shape 10"/>
          <p:cNvSpPr/>
          <p:nvPr/>
        </p:nvSpPr>
        <p:spPr>
          <a:xfrm>
            <a:off x="2084832" y="960120"/>
            <a:ext cx="1645920" cy="2395728"/>
          </a:xfrm>
          <a:prstGeom prst="rect">
            <a:avLst/>
          </a:prstGeom>
          <a:solidFill>
            <a:srgbClr val="253160"/>
          </a:solidFill>
          <a:ln w="12700">
            <a:solidFill>
              <a:srgbClr val="253160">
                <a:alpha val="0"/>
              </a:srgbClr>
            </a:solidFill>
            <a:prstDash val="solid"/>
          </a:ln>
        </p:spPr>
      </p:sp>
      <p:sp>
        <p:nvSpPr>
          <p:cNvPr id="14" name="Text 11"/>
          <p:cNvSpPr/>
          <p:nvPr/>
        </p:nvSpPr>
        <p:spPr>
          <a:xfrm>
            <a:off x="2084832" y="1051560"/>
            <a:ext cx="164592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02</a:t>
            </a:r>
            <a:endParaRPr lang="en-US" sz="2200" dirty="0"/>
          </a:p>
        </p:txBody>
      </p:sp>
      <p:pic>
        <p:nvPicPr>
          <p:cNvPr id="15" name="Image 1" descr="preencoded.png"/>
          <p:cNvPicPr>
            <a:picLocks noChangeAspect="1"/>
          </p:cNvPicPr>
          <p:nvPr/>
        </p:nvPicPr>
        <p:blipFill>
          <a:blip r:embed="rId4"/>
          <a:stretch>
            <a:fillRect/>
          </a:stretch>
        </p:blipFill>
        <p:spPr>
          <a:xfrm>
            <a:off x="2697480" y="1572768"/>
            <a:ext cx="420624" cy="420624"/>
          </a:xfrm>
          <a:prstGeom prst="rect">
            <a:avLst/>
          </a:prstGeom>
        </p:spPr>
      </p:pic>
      <p:sp>
        <p:nvSpPr>
          <p:cNvPr id="16" name="Text 12"/>
          <p:cNvSpPr/>
          <p:nvPr/>
        </p:nvSpPr>
        <p:spPr>
          <a:xfrm>
            <a:off x="2139696" y="2103120"/>
            <a:ext cx="1536192" cy="50292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Craft Fake Message</a:t>
            </a:r>
            <a:endParaRPr lang="en-US" sz="1100" dirty="0"/>
          </a:p>
        </p:txBody>
      </p:sp>
      <p:sp>
        <p:nvSpPr>
          <p:cNvPr id="17" name="Text 13"/>
          <p:cNvSpPr/>
          <p:nvPr/>
        </p:nvSpPr>
        <p:spPr>
          <a:xfrm>
            <a:off x="2139696" y="2633472"/>
            <a:ext cx="1536192" cy="621792"/>
          </a:xfrm>
          <a:prstGeom prst="rect">
            <a:avLst/>
          </a:prstGeom>
          <a:noFill/>
          <a:ln/>
        </p:spPr>
        <p:txBody>
          <a:bodyPr wrap="square" rtlCol="0" anchor="ctr"/>
          <a:lstStyle/>
          <a:p>
            <a:pPr marL="0" indent="0" algn="ctr">
              <a:buNone/>
            </a:pPr>
            <a:r>
              <a:rPr lang="en-US" sz="850" dirty="0">
                <a:solidFill>
                  <a:srgbClr val="AABBCC"/>
                </a:solidFill>
                <a:latin typeface="Calibri" pitchFamily="34" charset="0"/>
                <a:ea typeface="Calibri" pitchFamily="34" charset="-122"/>
                <a:cs typeface="Calibri" pitchFamily="34" charset="-120"/>
              </a:rPr>
              <a:t>Spoof sender address, clone brand exactly</a:t>
            </a:r>
            <a:endParaRPr lang="en-US" sz="850" dirty="0"/>
          </a:p>
        </p:txBody>
      </p:sp>
      <p:sp>
        <p:nvSpPr>
          <p:cNvPr id="18" name="Text 14"/>
          <p:cNvSpPr/>
          <p:nvPr/>
        </p:nvSpPr>
        <p:spPr>
          <a:xfrm>
            <a:off x="3749040" y="1828800"/>
            <a:ext cx="54864" cy="320040"/>
          </a:xfrm>
          <a:prstGeom prst="rect">
            <a:avLst/>
          </a:prstGeom>
          <a:noFill/>
          <a:ln/>
        </p:spPr>
        <p:txBody>
          <a:bodyPr wrap="square" lIns="0" tIns="0" rIns="0" bIns="0" rtlCol="0" anchor="ctr"/>
          <a:lstStyle/>
          <a:p>
            <a:pPr marL="0" indent="0" algn="ctr">
              <a:buNone/>
            </a:pPr>
            <a:r>
              <a:rPr lang="en-US" sz="2200" dirty="0">
                <a:solidFill>
                  <a:srgbClr val="7A8394"/>
                </a:solidFill>
              </a:rPr>
              <a:t>›</a:t>
            </a:r>
            <a:endParaRPr lang="en-US" sz="2200" dirty="0"/>
          </a:p>
        </p:txBody>
      </p:sp>
      <p:sp>
        <p:nvSpPr>
          <p:cNvPr id="19" name="Shape 15"/>
          <p:cNvSpPr/>
          <p:nvPr/>
        </p:nvSpPr>
        <p:spPr>
          <a:xfrm>
            <a:off x="3822192" y="960120"/>
            <a:ext cx="1645920" cy="2395728"/>
          </a:xfrm>
          <a:prstGeom prst="rect">
            <a:avLst/>
          </a:prstGeom>
          <a:solidFill>
            <a:srgbClr val="E8523A"/>
          </a:solidFill>
          <a:ln w="12700">
            <a:solidFill>
              <a:srgbClr val="E8523A">
                <a:alpha val="0"/>
              </a:srgbClr>
            </a:solidFill>
            <a:prstDash val="solid"/>
          </a:ln>
        </p:spPr>
      </p:sp>
      <p:sp>
        <p:nvSpPr>
          <p:cNvPr id="20" name="Text 16"/>
          <p:cNvSpPr/>
          <p:nvPr/>
        </p:nvSpPr>
        <p:spPr>
          <a:xfrm>
            <a:off x="3822192" y="1051560"/>
            <a:ext cx="164592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03</a:t>
            </a:r>
            <a:endParaRPr lang="en-US" sz="2200" dirty="0"/>
          </a:p>
        </p:txBody>
      </p:sp>
      <p:pic>
        <p:nvPicPr>
          <p:cNvPr id="21" name="Image 2" descr="preencoded.png"/>
          <p:cNvPicPr>
            <a:picLocks noChangeAspect="1"/>
          </p:cNvPicPr>
          <p:nvPr/>
        </p:nvPicPr>
        <p:blipFill>
          <a:blip r:embed="rId5"/>
          <a:stretch>
            <a:fillRect/>
          </a:stretch>
        </p:blipFill>
        <p:spPr>
          <a:xfrm>
            <a:off x="4434840" y="1572768"/>
            <a:ext cx="420624" cy="420624"/>
          </a:xfrm>
          <a:prstGeom prst="rect">
            <a:avLst/>
          </a:prstGeom>
        </p:spPr>
      </p:pic>
      <p:sp>
        <p:nvSpPr>
          <p:cNvPr id="22" name="Text 17"/>
          <p:cNvSpPr/>
          <p:nvPr/>
        </p:nvSpPr>
        <p:spPr>
          <a:xfrm>
            <a:off x="3877056" y="2103120"/>
            <a:ext cx="1536192" cy="50292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Send Bait Link</a:t>
            </a:r>
            <a:endParaRPr lang="en-US" sz="1100" dirty="0"/>
          </a:p>
        </p:txBody>
      </p:sp>
      <p:sp>
        <p:nvSpPr>
          <p:cNvPr id="23" name="Text 18"/>
          <p:cNvSpPr/>
          <p:nvPr/>
        </p:nvSpPr>
        <p:spPr>
          <a:xfrm>
            <a:off x="3877056" y="2633472"/>
            <a:ext cx="1536192" cy="621792"/>
          </a:xfrm>
          <a:prstGeom prst="rect">
            <a:avLst/>
          </a:prstGeom>
          <a:noFill/>
          <a:ln/>
        </p:spPr>
        <p:txBody>
          <a:bodyPr wrap="square" rtlCol="0" anchor="ctr"/>
          <a:lstStyle/>
          <a:p>
            <a:pPr marL="0" indent="0" algn="ctr">
              <a:buNone/>
            </a:pPr>
            <a:r>
              <a:rPr lang="en-US" sz="850" dirty="0">
                <a:solidFill>
                  <a:srgbClr val="FDEAE6"/>
                </a:solidFill>
                <a:latin typeface="Calibri" pitchFamily="34" charset="0"/>
                <a:ea typeface="Calibri" pitchFamily="34" charset="-122"/>
                <a:cs typeface="Calibri" pitchFamily="34" charset="-120"/>
              </a:rPr>
              <a:t>Urgency trigger + malicious URL or attachment</a:t>
            </a:r>
            <a:endParaRPr lang="en-US" sz="850" dirty="0"/>
          </a:p>
        </p:txBody>
      </p:sp>
      <p:sp>
        <p:nvSpPr>
          <p:cNvPr id="24" name="Text 19"/>
          <p:cNvSpPr/>
          <p:nvPr/>
        </p:nvSpPr>
        <p:spPr>
          <a:xfrm>
            <a:off x="5486400" y="1828800"/>
            <a:ext cx="54864" cy="320040"/>
          </a:xfrm>
          <a:prstGeom prst="rect">
            <a:avLst/>
          </a:prstGeom>
          <a:noFill/>
          <a:ln/>
        </p:spPr>
        <p:txBody>
          <a:bodyPr wrap="square" lIns="0" tIns="0" rIns="0" bIns="0" rtlCol="0" anchor="ctr"/>
          <a:lstStyle/>
          <a:p>
            <a:pPr marL="0" indent="0" algn="ctr">
              <a:buNone/>
            </a:pPr>
            <a:r>
              <a:rPr lang="en-US" sz="2200" dirty="0">
                <a:solidFill>
                  <a:srgbClr val="7A8394"/>
                </a:solidFill>
              </a:rPr>
              <a:t>›</a:t>
            </a:r>
            <a:endParaRPr lang="en-US" sz="2200" dirty="0"/>
          </a:p>
        </p:txBody>
      </p:sp>
      <p:sp>
        <p:nvSpPr>
          <p:cNvPr id="25" name="Shape 20"/>
          <p:cNvSpPr/>
          <p:nvPr/>
        </p:nvSpPr>
        <p:spPr>
          <a:xfrm>
            <a:off x="5559552" y="960120"/>
            <a:ext cx="1645920" cy="2395728"/>
          </a:xfrm>
          <a:prstGeom prst="rect">
            <a:avLst/>
          </a:prstGeom>
          <a:solidFill>
            <a:srgbClr val="4A72C4"/>
          </a:solidFill>
          <a:ln w="12700">
            <a:solidFill>
              <a:srgbClr val="4A72C4">
                <a:alpha val="0"/>
              </a:srgbClr>
            </a:solidFill>
            <a:prstDash val="solid"/>
          </a:ln>
        </p:spPr>
      </p:sp>
      <p:sp>
        <p:nvSpPr>
          <p:cNvPr id="26" name="Text 21"/>
          <p:cNvSpPr/>
          <p:nvPr/>
        </p:nvSpPr>
        <p:spPr>
          <a:xfrm>
            <a:off x="5559552" y="1051560"/>
            <a:ext cx="164592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04</a:t>
            </a:r>
            <a:endParaRPr lang="en-US" sz="2200" dirty="0"/>
          </a:p>
        </p:txBody>
      </p:sp>
      <p:pic>
        <p:nvPicPr>
          <p:cNvPr id="27" name="Image 3" descr="preencoded.png"/>
          <p:cNvPicPr>
            <a:picLocks noChangeAspect="1"/>
          </p:cNvPicPr>
          <p:nvPr/>
        </p:nvPicPr>
        <p:blipFill>
          <a:blip r:embed="rId6"/>
          <a:stretch>
            <a:fillRect/>
          </a:stretch>
        </p:blipFill>
        <p:spPr>
          <a:xfrm>
            <a:off x="6172200" y="1572768"/>
            <a:ext cx="420624" cy="420624"/>
          </a:xfrm>
          <a:prstGeom prst="rect">
            <a:avLst/>
          </a:prstGeom>
        </p:spPr>
      </p:pic>
      <p:sp>
        <p:nvSpPr>
          <p:cNvPr id="28" name="Text 22"/>
          <p:cNvSpPr/>
          <p:nvPr/>
        </p:nvSpPr>
        <p:spPr>
          <a:xfrm>
            <a:off x="5614416" y="2103120"/>
            <a:ext cx="1536192" cy="50292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Victim Lands on Fake Site</a:t>
            </a:r>
            <a:endParaRPr lang="en-US" sz="1100" dirty="0"/>
          </a:p>
        </p:txBody>
      </p:sp>
      <p:sp>
        <p:nvSpPr>
          <p:cNvPr id="29" name="Text 23"/>
          <p:cNvSpPr/>
          <p:nvPr/>
        </p:nvSpPr>
        <p:spPr>
          <a:xfrm>
            <a:off x="5614416" y="2633472"/>
            <a:ext cx="1536192" cy="621792"/>
          </a:xfrm>
          <a:prstGeom prst="rect">
            <a:avLst/>
          </a:prstGeom>
          <a:noFill/>
          <a:ln/>
        </p:spPr>
        <p:txBody>
          <a:bodyPr wrap="square" rtlCol="0" anchor="ctr"/>
          <a:lstStyle/>
          <a:p>
            <a:pPr marL="0" indent="0" algn="ctr">
              <a:buNone/>
            </a:pPr>
            <a:r>
              <a:rPr lang="en-US" sz="850" dirty="0">
                <a:solidFill>
                  <a:srgbClr val="DDE6F8"/>
                </a:solidFill>
                <a:latin typeface="Calibri" pitchFamily="34" charset="0"/>
                <a:ea typeface="Calibri" pitchFamily="34" charset="-122"/>
                <a:cs typeface="Calibri" pitchFamily="34" charset="-120"/>
              </a:rPr>
              <a:t>Pixel-perfect replica captures every keystroke</a:t>
            </a:r>
            <a:endParaRPr lang="en-US" sz="850" dirty="0"/>
          </a:p>
        </p:txBody>
      </p:sp>
      <p:sp>
        <p:nvSpPr>
          <p:cNvPr id="30" name="Text 24"/>
          <p:cNvSpPr/>
          <p:nvPr/>
        </p:nvSpPr>
        <p:spPr>
          <a:xfrm>
            <a:off x="7223760" y="1828800"/>
            <a:ext cx="54864" cy="320040"/>
          </a:xfrm>
          <a:prstGeom prst="rect">
            <a:avLst/>
          </a:prstGeom>
          <a:noFill/>
          <a:ln/>
        </p:spPr>
        <p:txBody>
          <a:bodyPr wrap="square" lIns="0" tIns="0" rIns="0" bIns="0" rtlCol="0" anchor="ctr"/>
          <a:lstStyle/>
          <a:p>
            <a:pPr marL="0" indent="0" algn="ctr">
              <a:buNone/>
            </a:pPr>
            <a:r>
              <a:rPr lang="en-US" sz="2200" dirty="0">
                <a:solidFill>
                  <a:srgbClr val="7A8394"/>
                </a:solidFill>
              </a:rPr>
              <a:t>›</a:t>
            </a:r>
            <a:endParaRPr lang="en-US" sz="2200" dirty="0"/>
          </a:p>
        </p:txBody>
      </p:sp>
      <p:sp>
        <p:nvSpPr>
          <p:cNvPr id="31" name="Shape 25"/>
          <p:cNvSpPr/>
          <p:nvPr/>
        </p:nvSpPr>
        <p:spPr>
          <a:xfrm>
            <a:off x="7296912" y="960120"/>
            <a:ext cx="1645920" cy="2395728"/>
          </a:xfrm>
          <a:prstGeom prst="rect">
            <a:avLst/>
          </a:prstGeom>
          <a:solidFill>
            <a:srgbClr val="F5C518"/>
          </a:solidFill>
          <a:ln w="12700">
            <a:solidFill>
              <a:srgbClr val="F5C518">
                <a:alpha val="0"/>
              </a:srgbClr>
            </a:solidFill>
            <a:prstDash val="solid"/>
          </a:ln>
        </p:spPr>
      </p:sp>
      <p:sp>
        <p:nvSpPr>
          <p:cNvPr id="32" name="Text 26"/>
          <p:cNvSpPr/>
          <p:nvPr/>
        </p:nvSpPr>
        <p:spPr>
          <a:xfrm>
            <a:off x="7296912" y="1051560"/>
            <a:ext cx="1645920" cy="411480"/>
          </a:xfrm>
          <a:prstGeom prst="rect">
            <a:avLst/>
          </a:prstGeom>
          <a:noFill/>
          <a:ln/>
        </p:spPr>
        <p:txBody>
          <a:bodyPr wrap="square" lIns="0" tIns="0" rIns="0" bIns="0" rtlCol="0" anchor="ctr"/>
          <a:lstStyle/>
          <a:p>
            <a:pPr marL="0" indent="0" algn="ctr">
              <a:buNone/>
            </a:pPr>
            <a:r>
              <a:rPr lang="en-US" sz="2200" b="1" dirty="0">
                <a:solidFill>
                  <a:srgbClr val="1A2340"/>
                </a:solidFill>
                <a:latin typeface="Georgia" pitchFamily="34" charset="0"/>
                <a:ea typeface="Georgia" pitchFamily="34" charset="-122"/>
                <a:cs typeface="Georgia" pitchFamily="34" charset="-120"/>
              </a:rPr>
              <a:t>05</a:t>
            </a:r>
            <a:endParaRPr lang="en-US" sz="2200" dirty="0"/>
          </a:p>
        </p:txBody>
      </p:sp>
      <p:pic>
        <p:nvPicPr>
          <p:cNvPr id="33" name="Image 4" descr="preencoded.png"/>
          <p:cNvPicPr>
            <a:picLocks noChangeAspect="1"/>
          </p:cNvPicPr>
          <p:nvPr/>
        </p:nvPicPr>
        <p:blipFill>
          <a:blip r:embed="rId7"/>
          <a:stretch>
            <a:fillRect/>
          </a:stretch>
        </p:blipFill>
        <p:spPr>
          <a:xfrm>
            <a:off x="7909560" y="1572768"/>
            <a:ext cx="420624" cy="420624"/>
          </a:xfrm>
          <a:prstGeom prst="rect">
            <a:avLst/>
          </a:prstGeom>
        </p:spPr>
      </p:pic>
      <p:sp>
        <p:nvSpPr>
          <p:cNvPr id="34" name="Text 27"/>
          <p:cNvSpPr/>
          <p:nvPr/>
        </p:nvSpPr>
        <p:spPr>
          <a:xfrm>
            <a:off x="7351776" y="2103120"/>
            <a:ext cx="1536192" cy="502920"/>
          </a:xfrm>
          <a:prstGeom prst="rect">
            <a:avLst/>
          </a:prstGeom>
          <a:noFill/>
          <a:ln/>
        </p:spPr>
        <p:txBody>
          <a:bodyPr wrap="square" rtlCol="0" anchor="ctr"/>
          <a:lstStyle/>
          <a:p>
            <a:pPr marL="0" indent="0" algn="ctr">
              <a:buNone/>
            </a:pPr>
            <a:r>
              <a:rPr lang="en-US" sz="1100" b="1" dirty="0">
                <a:solidFill>
                  <a:srgbClr val="1A2340"/>
                </a:solidFill>
                <a:latin typeface="Georgia" pitchFamily="34" charset="0"/>
                <a:ea typeface="Georgia" pitchFamily="34" charset="-122"/>
                <a:cs typeface="Georgia" pitchFamily="34" charset="-120"/>
              </a:rPr>
              <a:t>Credentials Harvested</a:t>
            </a:r>
            <a:endParaRPr lang="en-US" sz="1100" dirty="0"/>
          </a:p>
        </p:txBody>
      </p:sp>
      <p:sp>
        <p:nvSpPr>
          <p:cNvPr id="35" name="Text 28"/>
          <p:cNvSpPr/>
          <p:nvPr/>
        </p:nvSpPr>
        <p:spPr>
          <a:xfrm>
            <a:off x="7351776" y="2633472"/>
            <a:ext cx="1536192" cy="621792"/>
          </a:xfrm>
          <a:prstGeom prst="rect">
            <a:avLst/>
          </a:prstGeom>
          <a:noFill/>
          <a:ln/>
        </p:spPr>
        <p:txBody>
          <a:bodyPr wrap="square" rtlCol="0" anchor="ctr"/>
          <a:lstStyle/>
          <a:p>
            <a:pPr marL="0" indent="0" algn="ctr">
              <a:buNone/>
            </a:pPr>
            <a:r>
              <a:rPr lang="en-US" sz="850" dirty="0">
                <a:solidFill>
                  <a:srgbClr val="1A2340"/>
                </a:solidFill>
                <a:latin typeface="Calibri" pitchFamily="34" charset="0"/>
                <a:ea typeface="Calibri" pitchFamily="34" charset="-122"/>
                <a:cs typeface="Calibri" pitchFamily="34" charset="-120"/>
              </a:rPr>
              <a:t>Data stolen, malware silently installed</a:t>
            </a:r>
            <a:endParaRPr lang="en-US" sz="850" dirty="0"/>
          </a:p>
        </p:txBody>
      </p:sp>
      <p:sp>
        <p:nvSpPr>
          <p:cNvPr id="36" name="Shape 29"/>
          <p:cNvSpPr/>
          <p:nvPr/>
        </p:nvSpPr>
        <p:spPr>
          <a:xfrm>
            <a:off x="347472" y="3474720"/>
            <a:ext cx="8458200" cy="1207008"/>
          </a:xfrm>
          <a:prstGeom prst="rect">
            <a:avLst/>
          </a:prstGeom>
          <a:solidFill>
            <a:srgbClr val="FDEAE6"/>
          </a:solidFill>
          <a:ln w="12700">
            <a:solidFill>
              <a:srgbClr val="E8523A"/>
            </a:solidFill>
            <a:prstDash val="solid"/>
          </a:ln>
        </p:spPr>
      </p:sp>
      <p:sp>
        <p:nvSpPr>
          <p:cNvPr id="37" name="Shape 30"/>
          <p:cNvSpPr/>
          <p:nvPr/>
        </p:nvSpPr>
        <p:spPr>
          <a:xfrm>
            <a:off x="347472" y="3474720"/>
            <a:ext cx="45720" cy="1207008"/>
          </a:xfrm>
          <a:prstGeom prst="rect">
            <a:avLst/>
          </a:prstGeom>
          <a:solidFill>
            <a:srgbClr val="E8523A"/>
          </a:solidFill>
          <a:ln w="12700">
            <a:solidFill>
              <a:srgbClr val="E8523A">
                <a:alpha val="0"/>
              </a:srgbClr>
            </a:solidFill>
            <a:prstDash val="solid"/>
          </a:ln>
        </p:spPr>
      </p:sp>
      <p:sp>
        <p:nvSpPr>
          <p:cNvPr id="38" name="Text 31"/>
          <p:cNvSpPr/>
          <p:nvPr/>
        </p:nvSpPr>
        <p:spPr>
          <a:xfrm>
            <a:off x="530352" y="3566160"/>
            <a:ext cx="2286000" cy="256032"/>
          </a:xfrm>
          <a:prstGeom prst="rect">
            <a:avLst/>
          </a:prstGeom>
          <a:noFill/>
          <a:ln/>
        </p:spPr>
        <p:txBody>
          <a:bodyPr wrap="square" lIns="0" tIns="0" rIns="0" bIns="0" rtlCol="0" anchor="ctr"/>
          <a:lstStyle/>
          <a:p>
            <a:pPr marL="0" indent="0">
              <a:buNone/>
            </a:pPr>
            <a:r>
              <a:rPr lang="en-US" sz="1000" b="1" dirty="0">
                <a:solidFill>
                  <a:srgbClr val="E8523A"/>
                </a:solidFill>
                <a:latin typeface="Georgia" pitchFamily="34" charset="0"/>
                <a:ea typeface="Georgia" pitchFamily="34" charset="-122"/>
                <a:cs typeface="Georgia" pitchFamily="34" charset="-120"/>
              </a:rPr>
              <a:t>Potential outcomes:</a:t>
            </a:r>
            <a:endParaRPr lang="en-US" sz="1000" dirty="0"/>
          </a:p>
        </p:txBody>
      </p:sp>
      <p:sp>
        <p:nvSpPr>
          <p:cNvPr id="39" name="Text 32"/>
          <p:cNvSpPr/>
          <p:nvPr/>
        </p:nvSpPr>
        <p:spPr>
          <a:xfrm>
            <a:off x="530352" y="3858768"/>
            <a:ext cx="260604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Stolen passwords &amp; accounts</a:t>
            </a:r>
            <a:endParaRPr lang="en-US" sz="1050" dirty="0"/>
          </a:p>
        </p:txBody>
      </p:sp>
      <p:sp>
        <p:nvSpPr>
          <p:cNvPr id="40" name="Text 33"/>
          <p:cNvSpPr/>
          <p:nvPr/>
        </p:nvSpPr>
        <p:spPr>
          <a:xfrm>
            <a:off x="3227832" y="3858768"/>
            <a:ext cx="260604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Drained bank accounts</a:t>
            </a:r>
            <a:endParaRPr lang="en-US" sz="1050" dirty="0"/>
          </a:p>
        </p:txBody>
      </p:sp>
      <p:sp>
        <p:nvSpPr>
          <p:cNvPr id="41" name="Text 34"/>
          <p:cNvSpPr/>
          <p:nvPr/>
        </p:nvSpPr>
        <p:spPr>
          <a:xfrm>
            <a:off x="5925312" y="3858768"/>
            <a:ext cx="260604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Identity theft</a:t>
            </a:r>
            <a:endParaRPr lang="en-US" sz="1050" dirty="0"/>
          </a:p>
        </p:txBody>
      </p:sp>
      <p:sp>
        <p:nvSpPr>
          <p:cNvPr id="42" name="Text 35"/>
          <p:cNvSpPr/>
          <p:nvPr/>
        </p:nvSpPr>
        <p:spPr>
          <a:xfrm>
            <a:off x="530352" y="4270248"/>
            <a:ext cx="260604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Ransomware infection</a:t>
            </a:r>
            <a:endParaRPr lang="en-US" sz="1050" dirty="0"/>
          </a:p>
        </p:txBody>
      </p:sp>
      <p:sp>
        <p:nvSpPr>
          <p:cNvPr id="43" name="Text 36"/>
          <p:cNvSpPr/>
          <p:nvPr/>
        </p:nvSpPr>
        <p:spPr>
          <a:xfrm>
            <a:off x="3227832" y="4270248"/>
            <a:ext cx="2606040" cy="3474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 Malware silently installed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6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Types of Phishing</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4"/>
          <p:cNvSpPr/>
          <p:nvPr/>
        </p:nvSpPr>
        <p:spPr>
          <a:xfrm>
            <a:off x="457200" y="960120"/>
            <a:ext cx="2633472" cy="1828800"/>
          </a:xfrm>
          <a:prstGeom prst="rect">
            <a:avLst/>
          </a:prstGeom>
          <a:solidFill>
            <a:srgbClr val="F7F8FC"/>
          </a:solidFill>
          <a:ln w="12700">
            <a:solidFill>
              <a:srgbClr val="D8DCE8"/>
            </a:solidFill>
            <a:prstDash val="solid"/>
          </a:ln>
        </p:spPr>
      </p:sp>
      <p:sp>
        <p:nvSpPr>
          <p:cNvPr id="8" name="Shape 5"/>
          <p:cNvSpPr/>
          <p:nvPr/>
        </p:nvSpPr>
        <p:spPr>
          <a:xfrm>
            <a:off x="457200" y="960120"/>
            <a:ext cx="2633472" cy="45720"/>
          </a:xfrm>
          <a:prstGeom prst="rect">
            <a:avLst/>
          </a:prstGeom>
          <a:solidFill>
            <a:srgbClr val="1A2340"/>
          </a:solidFill>
          <a:ln w="12700">
            <a:solidFill>
              <a:srgbClr val="1A2340">
                <a:alpha val="0"/>
              </a:srgbClr>
            </a:solidFill>
            <a:prstDash val="solid"/>
          </a:ln>
        </p:spPr>
      </p:sp>
      <p:pic>
        <p:nvPicPr>
          <p:cNvPr id="9" name="Image 1" descr="preencoded.png"/>
          <p:cNvPicPr>
            <a:picLocks noChangeAspect="1"/>
          </p:cNvPicPr>
          <p:nvPr/>
        </p:nvPicPr>
        <p:blipFill>
          <a:blip r:embed="rId3"/>
          <a:stretch>
            <a:fillRect/>
          </a:stretch>
        </p:blipFill>
        <p:spPr>
          <a:xfrm>
            <a:off x="621792" y="1188720"/>
            <a:ext cx="384048" cy="384048"/>
          </a:xfrm>
          <a:prstGeom prst="rect">
            <a:avLst/>
          </a:prstGeom>
        </p:spPr>
      </p:pic>
      <p:sp>
        <p:nvSpPr>
          <p:cNvPr id="10" name="Text 6"/>
          <p:cNvSpPr/>
          <p:nvPr/>
        </p:nvSpPr>
        <p:spPr>
          <a:xfrm>
            <a:off x="1143000" y="1097280"/>
            <a:ext cx="1737360" cy="292608"/>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Email Phishing</a:t>
            </a:r>
            <a:endParaRPr lang="en-US" sz="1300" dirty="0"/>
          </a:p>
        </p:txBody>
      </p:sp>
      <p:sp>
        <p:nvSpPr>
          <p:cNvPr id="11" name="Shape 7"/>
          <p:cNvSpPr/>
          <p:nvPr/>
        </p:nvSpPr>
        <p:spPr>
          <a:xfrm>
            <a:off x="1143000" y="1435608"/>
            <a:ext cx="960120" cy="201168"/>
          </a:xfrm>
          <a:prstGeom prst="roundRect">
            <a:avLst>
              <a:gd name="adj" fmla="val 18182"/>
            </a:avLst>
          </a:prstGeom>
          <a:solidFill>
            <a:srgbClr val="1A2340"/>
          </a:solidFill>
          <a:ln w="12700">
            <a:solidFill>
              <a:srgbClr val="1A2340">
                <a:alpha val="0"/>
              </a:srgbClr>
            </a:solidFill>
            <a:prstDash val="solid"/>
          </a:ln>
        </p:spPr>
      </p:sp>
      <p:sp>
        <p:nvSpPr>
          <p:cNvPr id="12" name="Text 8"/>
          <p:cNvSpPr/>
          <p:nvPr/>
        </p:nvSpPr>
        <p:spPr>
          <a:xfrm>
            <a:off x="1143000" y="1435608"/>
            <a:ext cx="96012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MOST COMMON</a:t>
            </a:r>
            <a:endParaRPr lang="en-US" sz="650" dirty="0"/>
          </a:p>
        </p:txBody>
      </p:sp>
      <p:sp>
        <p:nvSpPr>
          <p:cNvPr id="13" name="Text 9"/>
          <p:cNvSpPr/>
          <p:nvPr/>
        </p:nvSpPr>
        <p:spPr>
          <a:xfrm>
            <a:off x="621792" y="1801368"/>
            <a:ext cx="2331720" cy="8229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Mass emails mimicking banks, tech companies, and universities</a:t>
            </a:r>
            <a:endParaRPr lang="en-US" sz="1000" dirty="0"/>
          </a:p>
        </p:txBody>
      </p:sp>
      <p:sp>
        <p:nvSpPr>
          <p:cNvPr id="14" name="Shape 10"/>
          <p:cNvSpPr/>
          <p:nvPr/>
        </p:nvSpPr>
        <p:spPr>
          <a:xfrm>
            <a:off x="3246120" y="960120"/>
            <a:ext cx="2633472" cy="1828800"/>
          </a:xfrm>
          <a:prstGeom prst="rect">
            <a:avLst/>
          </a:prstGeom>
          <a:solidFill>
            <a:srgbClr val="F7F8FC"/>
          </a:solidFill>
          <a:ln w="12700">
            <a:solidFill>
              <a:srgbClr val="D8DCE8"/>
            </a:solidFill>
            <a:prstDash val="solid"/>
          </a:ln>
        </p:spPr>
      </p:sp>
      <p:sp>
        <p:nvSpPr>
          <p:cNvPr id="15" name="Shape 11"/>
          <p:cNvSpPr/>
          <p:nvPr/>
        </p:nvSpPr>
        <p:spPr>
          <a:xfrm>
            <a:off x="3246120" y="960120"/>
            <a:ext cx="2633472" cy="45720"/>
          </a:xfrm>
          <a:prstGeom prst="rect">
            <a:avLst/>
          </a:prstGeom>
          <a:solidFill>
            <a:srgbClr val="1A2340"/>
          </a:solidFill>
          <a:ln w="12700">
            <a:solidFill>
              <a:srgbClr val="1A2340">
                <a:alpha val="0"/>
              </a:srgbClr>
            </a:solidFill>
            <a:prstDash val="solid"/>
          </a:ln>
        </p:spPr>
      </p:sp>
      <p:pic>
        <p:nvPicPr>
          <p:cNvPr id="16" name="Image 2" descr="preencoded.png"/>
          <p:cNvPicPr>
            <a:picLocks noChangeAspect="1"/>
          </p:cNvPicPr>
          <p:nvPr/>
        </p:nvPicPr>
        <p:blipFill>
          <a:blip r:embed="rId4"/>
          <a:stretch>
            <a:fillRect/>
          </a:stretch>
        </p:blipFill>
        <p:spPr>
          <a:xfrm>
            <a:off x="3410712" y="1188720"/>
            <a:ext cx="384048" cy="384048"/>
          </a:xfrm>
          <a:prstGeom prst="rect">
            <a:avLst/>
          </a:prstGeom>
        </p:spPr>
      </p:pic>
      <p:sp>
        <p:nvSpPr>
          <p:cNvPr id="17" name="Text 12"/>
          <p:cNvSpPr/>
          <p:nvPr/>
        </p:nvSpPr>
        <p:spPr>
          <a:xfrm>
            <a:off x="3931920" y="1097280"/>
            <a:ext cx="1737360" cy="292608"/>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Smishing</a:t>
            </a:r>
            <a:endParaRPr lang="en-US" sz="1300" dirty="0"/>
          </a:p>
        </p:txBody>
      </p:sp>
      <p:sp>
        <p:nvSpPr>
          <p:cNvPr id="18" name="Shape 13"/>
          <p:cNvSpPr/>
          <p:nvPr/>
        </p:nvSpPr>
        <p:spPr>
          <a:xfrm>
            <a:off x="3931920" y="1435608"/>
            <a:ext cx="960120" cy="201168"/>
          </a:xfrm>
          <a:prstGeom prst="roundRect">
            <a:avLst>
              <a:gd name="adj" fmla="val 18182"/>
            </a:avLst>
          </a:prstGeom>
          <a:solidFill>
            <a:srgbClr val="E8523A"/>
          </a:solidFill>
          <a:ln w="12700">
            <a:solidFill>
              <a:srgbClr val="E8523A">
                <a:alpha val="0"/>
              </a:srgbClr>
            </a:solidFill>
            <a:prstDash val="solid"/>
          </a:ln>
        </p:spPr>
      </p:sp>
      <p:sp>
        <p:nvSpPr>
          <p:cNvPr id="19" name="Text 14"/>
          <p:cNvSpPr/>
          <p:nvPr/>
        </p:nvSpPr>
        <p:spPr>
          <a:xfrm>
            <a:off x="3931920" y="1435608"/>
            <a:ext cx="96012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RISING FAST</a:t>
            </a:r>
            <a:endParaRPr lang="en-US" sz="650" dirty="0"/>
          </a:p>
        </p:txBody>
      </p:sp>
      <p:sp>
        <p:nvSpPr>
          <p:cNvPr id="20" name="Text 15"/>
          <p:cNvSpPr/>
          <p:nvPr/>
        </p:nvSpPr>
        <p:spPr>
          <a:xfrm>
            <a:off x="3410712" y="1801368"/>
            <a:ext cx="2331720" cy="8229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SMS text messages with malicious links or urgent fake alerts</a:t>
            </a:r>
            <a:endParaRPr lang="en-US" sz="1000" dirty="0"/>
          </a:p>
        </p:txBody>
      </p:sp>
      <p:sp>
        <p:nvSpPr>
          <p:cNvPr id="21" name="Shape 16"/>
          <p:cNvSpPr/>
          <p:nvPr/>
        </p:nvSpPr>
        <p:spPr>
          <a:xfrm>
            <a:off x="6035040" y="960120"/>
            <a:ext cx="2633472" cy="1828800"/>
          </a:xfrm>
          <a:prstGeom prst="rect">
            <a:avLst/>
          </a:prstGeom>
          <a:solidFill>
            <a:srgbClr val="F7F8FC"/>
          </a:solidFill>
          <a:ln w="12700">
            <a:solidFill>
              <a:srgbClr val="D8DCE8"/>
            </a:solidFill>
            <a:prstDash val="solid"/>
          </a:ln>
        </p:spPr>
      </p:sp>
      <p:sp>
        <p:nvSpPr>
          <p:cNvPr id="22" name="Shape 17"/>
          <p:cNvSpPr/>
          <p:nvPr/>
        </p:nvSpPr>
        <p:spPr>
          <a:xfrm>
            <a:off x="6035040" y="960120"/>
            <a:ext cx="2633472" cy="45720"/>
          </a:xfrm>
          <a:prstGeom prst="rect">
            <a:avLst/>
          </a:prstGeom>
          <a:solidFill>
            <a:srgbClr val="1A2340"/>
          </a:solidFill>
          <a:ln w="12700">
            <a:solidFill>
              <a:srgbClr val="1A2340">
                <a:alpha val="0"/>
              </a:srgbClr>
            </a:solidFill>
            <a:prstDash val="solid"/>
          </a:ln>
        </p:spPr>
      </p:sp>
      <p:pic>
        <p:nvPicPr>
          <p:cNvPr id="23" name="Image 3" descr="preencoded.png"/>
          <p:cNvPicPr>
            <a:picLocks noChangeAspect="1"/>
          </p:cNvPicPr>
          <p:nvPr/>
        </p:nvPicPr>
        <p:blipFill>
          <a:blip r:embed="rId5"/>
          <a:stretch>
            <a:fillRect/>
          </a:stretch>
        </p:blipFill>
        <p:spPr>
          <a:xfrm>
            <a:off x="6199632" y="1188720"/>
            <a:ext cx="384048" cy="384048"/>
          </a:xfrm>
          <a:prstGeom prst="rect">
            <a:avLst/>
          </a:prstGeom>
        </p:spPr>
      </p:pic>
      <p:sp>
        <p:nvSpPr>
          <p:cNvPr id="24" name="Text 18"/>
          <p:cNvSpPr/>
          <p:nvPr/>
        </p:nvSpPr>
        <p:spPr>
          <a:xfrm>
            <a:off x="6720840" y="1097280"/>
            <a:ext cx="1737360" cy="292608"/>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Vishing</a:t>
            </a:r>
            <a:endParaRPr lang="en-US" sz="1300" dirty="0"/>
          </a:p>
        </p:txBody>
      </p:sp>
      <p:sp>
        <p:nvSpPr>
          <p:cNvPr id="25" name="Text 19"/>
          <p:cNvSpPr/>
          <p:nvPr/>
        </p:nvSpPr>
        <p:spPr>
          <a:xfrm>
            <a:off x="6199632" y="1801368"/>
            <a:ext cx="2331720" cy="8229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Voice calls impersonating IRS agents, tech support, or bank fraud teams</a:t>
            </a:r>
            <a:endParaRPr lang="en-US" sz="1000" dirty="0"/>
          </a:p>
        </p:txBody>
      </p:sp>
      <p:sp>
        <p:nvSpPr>
          <p:cNvPr id="26" name="Shape 20"/>
          <p:cNvSpPr/>
          <p:nvPr/>
        </p:nvSpPr>
        <p:spPr>
          <a:xfrm>
            <a:off x="457200" y="2953512"/>
            <a:ext cx="2633472" cy="1828800"/>
          </a:xfrm>
          <a:prstGeom prst="rect">
            <a:avLst/>
          </a:prstGeom>
          <a:solidFill>
            <a:srgbClr val="F7F8FC"/>
          </a:solidFill>
          <a:ln w="12700">
            <a:solidFill>
              <a:srgbClr val="D8DCE8"/>
            </a:solidFill>
            <a:prstDash val="solid"/>
          </a:ln>
        </p:spPr>
      </p:sp>
      <p:sp>
        <p:nvSpPr>
          <p:cNvPr id="27" name="Shape 21"/>
          <p:cNvSpPr/>
          <p:nvPr/>
        </p:nvSpPr>
        <p:spPr>
          <a:xfrm>
            <a:off x="457200" y="2953512"/>
            <a:ext cx="2633472" cy="45720"/>
          </a:xfrm>
          <a:prstGeom prst="rect">
            <a:avLst/>
          </a:prstGeom>
          <a:solidFill>
            <a:srgbClr val="1A2340"/>
          </a:solidFill>
          <a:ln w="12700">
            <a:solidFill>
              <a:srgbClr val="1A2340">
                <a:alpha val="0"/>
              </a:srgbClr>
            </a:solidFill>
            <a:prstDash val="solid"/>
          </a:ln>
        </p:spPr>
      </p:sp>
      <p:pic>
        <p:nvPicPr>
          <p:cNvPr id="28" name="Image 4" descr="preencoded.png"/>
          <p:cNvPicPr>
            <a:picLocks noChangeAspect="1"/>
          </p:cNvPicPr>
          <p:nvPr/>
        </p:nvPicPr>
        <p:blipFill>
          <a:blip r:embed="rId6"/>
          <a:stretch>
            <a:fillRect/>
          </a:stretch>
        </p:blipFill>
        <p:spPr>
          <a:xfrm>
            <a:off x="621792" y="3182112"/>
            <a:ext cx="384048" cy="384048"/>
          </a:xfrm>
          <a:prstGeom prst="rect">
            <a:avLst/>
          </a:prstGeom>
        </p:spPr>
      </p:pic>
      <p:sp>
        <p:nvSpPr>
          <p:cNvPr id="29" name="Text 22"/>
          <p:cNvSpPr/>
          <p:nvPr/>
        </p:nvSpPr>
        <p:spPr>
          <a:xfrm>
            <a:off x="1143000" y="3090672"/>
            <a:ext cx="1737360" cy="292608"/>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Spear Phishing</a:t>
            </a:r>
            <a:endParaRPr lang="en-US" sz="1300" dirty="0"/>
          </a:p>
        </p:txBody>
      </p:sp>
      <p:sp>
        <p:nvSpPr>
          <p:cNvPr id="30" name="Shape 23"/>
          <p:cNvSpPr/>
          <p:nvPr/>
        </p:nvSpPr>
        <p:spPr>
          <a:xfrm>
            <a:off x="1143000" y="3429000"/>
            <a:ext cx="960120" cy="201168"/>
          </a:xfrm>
          <a:prstGeom prst="roundRect">
            <a:avLst>
              <a:gd name="adj" fmla="val 18182"/>
            </a:avLst>
          </a:prstGeom>
          <a:solidFill>
            <a:srgbClr val="E8523A"/>
          </a:solidFill>
          <a:ln w="12700">
            <a:solidFill>
              <a:srgbClr val="E8523A">
                <a:alpha val="0"/>
              </a:srgbClr>
            </a:solidFill>
            <a:prstDash val="solid"/>
          </a:ln>
        </p:spPr>
      </p:sp>
      <p:sp>
        <p:nvSpPr>
          <p:cNvPr id="31" name="Text 24"/>
          <p:cNvSpPr/>
          <p:nvPr/>
        </p:nvSpPr>
        <p:spPr>
          <a:xfrm>
            <a:off x="1143000" y="3429000"/>
            <a:ext cx="96012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HIGH IMPACT</a:t>
            </a:r>
            <a:endParaRPr lang="en-US" sz="650" dirty="0"/>
          </a:p>
        </p:txBody>
      </p:sp>
      <p:sp>
        <p:nvSpPr>
          <p:cNvPr id="32" name="Text 25"/>
          <p:cNvSpPr/>
          <p:nvPr/>
        </p:nvSpPr>
        <p:spPr>
          <a:xfrm>
            <a:off x="621792" y="3794760"/>
            <a:ext cx="2331720" cy="8229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Personalized attacks researched to target one specific individual</a:t>
            </a:r>
            <a:endParaRPr lang="en-US" sz="1000" dirty="0"/>
          </a:p>
        </p:txBody>
      </p:sp>
      <p:sp>
        <p:nvSpPr>
          <p:cNvPr id="33" name="Shape 26"/>
          <p:cNvSpPr/>
          <p:nvPr/>
        </p:nvSpPr>
        <p:spPr>
          <a:xfrm>
            <a:off x="3246120" y="2953512"/>
            <a:ext cx="2633472" cy="1828800"/>
          </a:xfrm>
          <a:prstGeom prst="rect">
            <a:avLst/>
          </a:prstGeom>
          <a:solidFill>
            <a:srgbClr val="F7F8FC"/>
          </a:solidFill>
          <a:ln w="12700">
            <a:solidFill>
              <a:srgbClr val="D8DCE8"/>
            </a:solidFill>
            <a:prstDash val="solid"/>
          </a:ln>
        </p:spPr>
      </p:sp>
      <p:sp>
        <p:nvSpPr>
          <p:cNvPr id="34" name="Shape 27"/>
          <p:cNvSpPr/>
          <p:nvPr/>
        </p:nvSpPr>
        <p:spPr>
          <a:xfrm>
            <a:off x="3246120" y="2953512"/>
            <a:ext cx="2633472" cy="45720"/>
          </a:xfrm>
          <a:prstGeom prst="rect">
            <a:avLst/>
          </a:prstGeom>
          <a:solidFill>
            <a:srgbClr val="1A2340"/>
          </a:solidFill>
          <a:ln w="12700">
            <a:solidFill>
              <a:srgbClr val="1A2340">
                <a:alpha val="0"/>
              </a:srgbClr>
            </a:solidFill>
            <a:prstDash val="solid"/>
          </a:ln>
        </p:spPr>
      </p:sp>
      <p:pic>
        <p:nvPicPr>
          <p:cNvPr id="35" name="Image 5" descr="preencoded.png"/>
          <p:cNvPicPr>
            <a:picLocks noChangeAspect="1"/>
          </p:cNvPicPr>
          <p:nvPr/>
        </p:nvPicPr>
        <p:blipFill>
          <a:blip r:embed="rId7"/>
          <a:stretch>
            <a:fillRect/>
          </a:stretch>
        </p:blipFill>
        <p:spPr>
          <a:xfrm>
            <a:off x="3410712" y="3182112"/>
            <a:ext cx="384048" cy="384048"/>
          </a:xfrm>
          <a:prstGeom prst="rect">
            <a:avLst/>
          </a:prstGeom>
        </p:spPr>
      </p:pic>
      <p:sp>
        <p:nvSpPr>
          <p:cNvPr id="36" name="Text 28"/>
          <p:cNvSpPr/>
          <p:nvPr/>
        </p:nvSpPr>
        <p:spPr>
          <a:xfrm>
            <a:off x="3931920" y="3090672"/>
            <a:ext cx="1737360" cy="292608"/>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Whaling</a:t>
            </a:r>
            <a:endParaRPr lang="en-US" sz="1300" dirty="0"/>
          </a:p>
        </p:txBody>
      </p:sp>
      <p:sp>
        <p:nvSpPr>
          <p:cNvPr id="37" name="Shape 29"/>
          <p:cNvSpPr/>
          <p:nvPr/>
        </p:nvSpPr>
        <p:spPr>
          <a:xfrm>
            <a:off x="3931920" y="3429000"/>
            <a:ext cx="960120" cy="201168"/>
          </a:xfrm>
          <a:prstGeom prst="roundRect">
            <a:avLst>
              <a:gd name="adj" fmla="val 18182"/>
            </a:avLst>
          </a:prstGeom>
          <a:solidFill>
            <a:srgbClr val="F5C518"/>
          </a:solidFill>
          <a:ln w="12700">
            <a:solidFill>
              <a:srgbClr val="F5C518">
                <a:alpha val="0"/>
              </a:srgbClr>
            </a:solidFill>
            <a:prstDash val="solid"/>
          </a:ln>
        </p:spPr>
      </p:sp>
      <p:sp>
        <p:nvSpPr>
          <p:cNvPr id="38" name="Text 30"/>
          <p:cNvSpPr/>
          <p:nvPr/>
        </p:nvSpPr>
        <p:spPr>
          <a:xfrm>
            <a:off x="3931920" y="3429000"/>
            <a:ext cx="960120" cy="201168"/>
          </a:xfrm>
          <a:prstGeom prst="rect">
            <a:avLst/>
          </a:prstGeom>
          <a:noFill/>
          <a:ln/>
        </p:spPr>
        <p:txBody>
          <a:bodyPr wrap="square" lIns="0" tIns="0" rIns="0" bIns="0" rtlCol="0" anchor="ctr"/>
          <a:lstStyle/>
          <a:p>
            <a:pPr marL="0" indent="0" algn="ctr">
              <a:buNone/>
            </a:pPr>
            <a:r>
              <a:rPr lang="en-US" sz="650" b="1" dirty="0">
                <a:solidFill>
                  <a:srgbClr val="1A2340"/>
                </a:solidFill>
                <a:latin typeface="Arial" pitchFamily="34" charset="0"/>
                <a:ea typeface="Arial" pitchFamily="34" charset="-122"/>
                <a:cs typeface="Arial" pitchFamily="34" charset="-120"/>
              </a:rPr>
              <a:t>HIGH VALUE</a:t>
            </a:r>
            <a:endParaRPr lang="en-US" sz="650" dirty="0"/>
          </a:p>
        </p:txBody>
      </p:sp>
      <p:sp>
        <p:nvSpPr>
          <p:cNvPr id="39" name="Text 31"/>
          <p:cNvSpPr/>
          <p:nvPr/>
        </p:nvSpPr>
        <p:spPr>
          <a:xfrm>
            <a:off x="3410712" y="3794760"/>
            <a:ext cx="2331720" cy="8229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Targets executives and high-value individuals for maximum financial impact</a:t>
            </a:r>
            <a:endParaRPr lang="en-US" sz="1000" dirty="0"/>
          </a:p>
        </p:txBody>
      </p:sp>
      <p:sp>
        <p:nvSpPr>
          <p:cNvPr id="40" name="Shape 32"/>
          <p:cNvSpPr/>
          <p:nvPr/>
        </p:nvSpPr>
        <p:spPr>
          <a:xfrm>
            <a:off x="6035040" y="2953512"/>
            <a:ext cx="2633472" cy="1828800"/>
          </a:xfrm>
          <a:prstGeom prst="rect">
            <a:avLst/>
          </a:prstGeom>
          <a:solidFill>
            <a:srgbClr val="F7F8FC"/>
          </a:solidFill>
          <a:ln w="12700">
            <a:solidFill>
              <a:srgbClr val="D8DCE8"/>
            </a:solidFill>
            <a:prstDash val="solid"/>
          </a:ln>
        </p:spPr>
      </p:sp>
      <p:sp>
        <p:nvSpPr>
          <p:cNvPr id="41" name="Shape 33"/>
          <p:cNvSpPr/>
          <p:nvPr/>
        </p:nvSpPr>
        <p:spPr>
          <a:xfrm>
            <a:off x="6035040" y="2953512"/>
            <a:ext cx="2633472" cy="45720"/>
          </a:xfrm>
          <a:prstGeom prst="rect">
            <a:avLst/>
          </a:prstGeom>
          <a:solidFill>
            <a:srgbClr val="1A2340"/>
          </a:solidFill>
          <a:ln w="12700">
            <a:solidFill>
              <a:srgbClr val="1A2340">
                <a:alpha val="0"/>
              </a:srgbClr>
            </a:solidFill>
            <a:prstDash val="solid"/>
          </a:ln>
        </p:spPr>
      </p:sp>
      <p:pic>
        <p:nvPicPr>
          <p:cNvPr id="42" name="Image 6" descr="preencoded.png"/>
          <p:cNvPicPr>
            <a:picLocks noChangeAspect="1"/>
          </p:cNvPicPr>
          <p:nvPr/>
        </p:nvPicPr>
        <p:blipFill>
          <a:blip r:embed="rId8"/>
          <a:stretch>
            <a:fillRect/>
          </a:stretch>
        </p:blipFill>
        <p:spPr>
          <a:xfrm>
            <a:off x="6199632" y="3182112"/>
            <a:ext cx="384048" cy="384048"/>
          </a:xfrm>
          <a:prstGeom prst="rect">
            <a:avLst/>
          </a:prstGeom>
        </p:spPr>
      </p:pic>
      <p:sp>
        <p:nvSpPr>
          <p:cNvPr id="43" name="Text 34"/>
          <p:cNvSpPr/>
          <p:nvPr/>
        </p:nvSpPr>
        <p:spPr>
          <a:xfrm>
            <a:off x="6720840" y="3090672"/>
            <a:ext cx="1737360" cy="292608"/>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Pharming</a:t>
            </a:r>
            <a:endParaRPr lang="en-US" sz="1300" dirty="0"/>
          </a:p>
        </p:txBody>
      </p:sp>
      <p:sp>
        <p:nvSpPr>
          <p:cNvPr id="44" name="Shape 35"/>
          <p:cNvSpPr/>
          <p:nvPr/>
        </p:nvSpPr>
        <p:spPr>
          <a:xfrm>
            <a:off x="6720840" y="3429000"/>
            <a:ext cx="960120" cy="201168"/>
          </a:xfrm>
          <a:prstGeom prst="roundRect">
            <a:avLst>
              <a:gd name="adj" fmla="val 18182"/>
            </a:avLst>
          </a:prstGeom>
          <a:solidFill>
            <a:srgbClr val="253160"/>
          </a:solidFill>
          <a:ln w="12700">
            <a:solidFill>
              <a:srgbClr val="253160">
                <a:alpha val="0"/>
              </a:srgbClr>
            </a:solidFill>
            <a:prstDash val="solid"/>
          </a:ln>
        </p:spPr>
      </p:sp>
      <p:sp>
        <p:nvSpPr>
          <p:cNvPr id="45" name="Text 36"/>
          <p:cNvSpPr/>
          <p:nvPr/>
        </p:nvSpPr>
        <p:spPr>
          <a:xfrm>
            <a:off x="6720840" y="3429000"/>
            <a:ext cx="960120"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ADVANCED</a:t>
            </a:r>
            <a:endParaRPr lang="en-US" sz="650" dirty="0"/>
          </a:p>
        </p:txBody>
      </p:sp>
      <p:sp>
        <p:nvSpPr>
          <p:cNvPr id="46" name="Text 37"/>
          <p:cNvSpPr/>
          <p:nvPr/>
        </p:nvSpPr>
        <p:spPr>
          <a:xfrm>
            <a:off x="6199632" y="3794760"/>
            <a:ext cx="2331720" cy="8229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DNS poisoning redirects you to fake sites even when you type the real URL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7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Recognizing Phishing Emails</a:t>
            </a:r>
            <a:endParaRPr lang="en-US" sz="3000" dirty="0"/>
          </a:p>
        </p:txBody>
      </p:sp>
      <p:sp>
        <p:nvSpPr>
          <p:cNvPr id="6" name="Shape 4"/>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5"/>
          <p:cNvSpPr/>
          <p:nvPr/>
        </p:nvSpPr>
        <p:spPr>
          <a:xfrm>
            <a:off x="457200" y="969264"/>
            <a:ext cx="4114800" cy="804672"/>
          </a:xfrm>
          <a:prstGeom prst="rect">
            <a:avLst/>
          </a:prstGeom>
          <a:solidFill>
            <a:srgbClr val="F7F8FC"/>
          </a:solidFill>
          <a:ln w="12700">
            <a:solidFill>
              <a:srgbClr val="D8DCE8"/>
            </a:solidFill>
            <a:prstDash val="solid"/>
          </a:ln>
        </p:spPr>
      </p:sp>
      <p:sp>
        <p:nvSpPr>
          <p:cNvPr id="8" name="Shape 6"/>
          <p:cNvSpPr/>
          <p:nvPr/>
        </p:nvSpPr>
        <p:spPr>
          <a:xfrm>
            <a:off x="457200" y="969264"/>
            <a:ext cx="45720" cy="804672"/>
          </a:xfrm>
          <a:prstGeom prst="rect">
            <a:avLst/>
          </a:prstGeom>
          <a:solidFill>
            <a:srgbClr val="1A2340"/>
          </a:solidFill>
          <a:ln w="12700">
            <a:solidFill>
              <a:srgbClr val="1A2340">
                <a:alpha val="0"/>
              </a:srgbClr>
            </a:solidFill>
            <a:prstDash val="solid"/>
          </a:ln>
        </p:spPr>
      </p:sp>
      <p:sp>
        <p:nvSpPr>
          <p:cNvPr id="9" name="Shape 7"/>
          <p:cNvSpPr/>
          <p:nvPr/>
        </p:nvSpPr>
        <p:spPr>
          <a:xfrm>
            <a:off x="566928" y="1124712"/>
            <a:ext cx="438912" cy="438912"/>
          </a:xfrm>
          <a:prstGeom prst="ellipse">
            <a:avLst/>
          </a:prstGeom>
          <a:solidFill>
            <a:srgbClr val="1A2340"/>
          </a:solidFill>
          <a:ln w="12700">
            <a:solidFill>
              <a:srgbClr val="1A2340">
                <a:alpha val="0"/>
              </a:srgbClr>
            </a:solidFill>
            <a:prstDash val="solid"/>
          </a:ln>
        </p:spPr>
      </p:sp>
      <p:sp>
        <p:nvSpPr>
          <p:cNvPr id="10" name="Text 8"/>
          <p:cNvSpPr/>
          <p:nvPr/>
        </p:nvSpPr>
        <p:spPr>
          <a:xfrm>
            <a:off x="566928" y="112471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01</a:t>
            </a:r>
            <a:endParaRPr lang="en-US" sz="1000" dirty="0"/>
          </a:p>
        </p:txBody>
      </p:sp>
      <p:sp>
        <p:nvSpPr>
          <p:cNvPr id="11" name="Text 9"/>
          <p:cNvSpPr/>
          <p:nvPr/>
        </p:nvSpPr>
        <p:spPr>
          <a:xfrm>
            <a:off x="1133856" y="1042416"/>
            <a:ext cx="3291840" cy="246888"/>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Suspicious Sender Address</a:t>
            </a:r>
            <a:endParaRPr lang="en-US" sz="1150" dirty="0"/>
          </a:p>
        </p:txBody>
      </p:sp>
      <p:sp>
        <p:nvSpPr>
          <p:cNvPr id="12" name="Text 10"/>
          <p:cNvSpPr/>
          <p:nvPr/>
        </p:nvSpPr>
        <p:spPr>
          <a:xfrm>
            <a:off x="1133856" y="1316736"/>
            <a:ext cx="3310128"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Look for digit swaps — paypa1.com, amaz0n.net. Always check the full domain, not just the display name.</a:t>
            </a:r>
            <a:endParaRPr lang="en-US" sz="900" dirty="0"/>
          </a:p>
        </p:txBody>
      </p:sp>
      <p:sp>
        <p:nvSpPr>
          <p:cNvPr id="13" name="Shape 11"/>
          <p:cNvSpPr/>
          <p:nvPr/>
        </p:nvSpPr>
        <p:spPr>
          <a:xfrm>
            <a:off x="4754880" y="969264"/>
            <a:ext cx="4114800" cy="804672"/>
          </a:xfrm>
          <a:prstGeom prst="rect">
            <a:avLst/>
          </a:prstGeom>
          <a:solidFill>
            <a:srgbClr val="F7F8FC"/>
          </a:solidFill>
          <a:ln w="12700">
            <a:solidFill>
              <a:srgbClr val="D8DCE8"/>
            </a:solidFill>
            <a:prstDash val="solid"/>
          </a:ln>
        </p:spPr>
      </p:sp>
      <p:sp>
        <p:nvSpPr>
          <p:cNvPr id="14" name="Shape 12"/>
          <p:cNvSpPr/>
          <p:nvPr/>
        </p:nvSpPr>
        <p:spPr>
          <a:xfrm>
            <a:off x="4754880" y="969264"/>
            <a:ext cx="45720" cy="804672"/>
          </a:xfrm>
          <a:prstGeom prst="rect">
            <a:avLst/>
          </a:prstGeom>
          <a:solidFill>
            <a:srgbClr val="1A2340"/>
          </a:solidFill>
          <a:ln w="12700">
            <a:solidFill>
              <a:srgbClr val="1A2340">
                <a:alpha val="0"/>
              </a:srgbClr>
            </a:solidFill>
            <a:prstDash val="solid"/>
          </a:ln>
        </p:spPr>
      </p:sp>
      <p:sp>
        <p:nvSpPr>
          <p:cNvPr id="15" name="Shape 13"/>
          <p:cNvSpPr/>
          <p:nvPr/>
        </p:nvSpPr>
        <p:spPr>
          <a:xfrm>
            <a:off x="4864608" y="1124712"/>
            <a:ext cx="438912" cy="438912"/>
          </a:xfrm>
          <a:prstGeom prst="ellipse">
            <a:avLst/>
          </a:prstGeom>
          <a:solidFill>
            <a:srgbClr val="1A2340"/>
          </a:solidFill>
          <a:ln w="12700">
            <a:solidFill>
              <a:srgbClr val="1A2340">
                <a:alpha val="0"/>
              </a:srgbClr>
            </a:solidFill>
            <a:prstDash val="solid"/>
          </a:ln>
        </p:spPr>
      </p:sp>
      <p:sp>
        <p:nvSpPr>
          <p:cNvPr id="16" name="Text 14"/>
          <p:cNvSpPr/>
          <p:nvPr/>
        </p:nvSpPr>
        <p:spPr>
          <a:xfrm>
            <a:off x="4864608" y="112471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02</a:t>
            </a:r>
            <a:endParaRPr lang="en-US" sz="1000" dirty="0"/>
          </a:p>
        </p:txBody>
      </p:sp>
      <p:sp>
        <p:nvSpPr>
          <p:cNvPr id="17" name="Text 15"/>
          <p:cNvSpPr/>
          <p:nvPr/>
        </p:nvSpPr>
        <p:spPr>
          <a:xfrm>
            <a:off x="5431536" y="1042416"/>
            <a:ext cx="3291840" cy="246888"/>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Artificial Urgency &amp; Threats</a:t>
            </a:r>
            <a:endParaRPr lang="en-US" sz="1150" dirty="0"/>
          </a:p>
        </p:txBody>
      </p:sp>
      <p:sp>
        <p:nvSpPr>
          <p:cNvPr id="18" name="Text 16"/>
          <p:cNvSpPr/>
          <p:nvPr/>
        </p:nvSpPr>
        <p:spPr>
          <a:xfrm>
            <a:off x="5431536" y="1316736"/>
            <a:ext cx="3310128"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'Act NOW or lose access forever!' Real organizations never threaten account deletion by email.</a:t>
            </a:r>
            <a:endParaRPr lang="en-US" sz="900" dirty="0"/>
          </a:p>
        </p:txBody>
      </p:sp>
      <p:sp>
        <p:nvSpPr>
          <p:cNvPr id="19" name="Shape 17"/>
          <p:cNvSpPr/>
          <p:nvPr/>
        </p:nvSpPr>
        <p:spPr>
          <a:xfrm>
            <a:off x="457200" y="1938528"/>
            <a:ext cx="4114800" cy="804672"/>
          </a:xfrm>
          <a:prstGeom prst="rect">
            <a:avLst/>
          </a:prstGeom>
          <a:solidFill>
            <a:srgbClr val="F7F8FC"/>
          </a:solidFill>
          <a:ln w="12700">
            <a:solidFill>
              <a:srgbClr val="D8DCE8"/>
            </a:solidFill>
            <a:prstDash val="solid"/>
          </a:ln>
        </p:spPr>
      </p:sp>
      <p:sp>
        <p:nvSpPr>
          <p:cNvPr id="20" name="Shape 18"/>
          <p:cNvSpPr/>
          <p:nvPr/>
        </p:nvSpPr>
        <p:spPr>
          <a:xfrm>
            <a:off x="457200" y="1938528"/>
            <a:ext cx="45720" cy="804672"/>
          </a:xfrm>
          <a:prstGeom prst="rect">
            <a:avLst/>
          </a:prstGeom>
          <a:solidFill>
            <a:srgbClr val="1A2340"/>
          </a:solidFill>
          <a:ln w="12700">
            <a:solidFill>
              <a:srgbClr val="1A2340">
                <a:alpha val="0"/>
              </a:srgbClr>
            </a:solidFill>
            <a:prstDash val="solid"/>
          </a:ln>
        </p:spPr>
      </p:sp>
      <p:sp>
        <p:nvSpPr>
          <p:cNvPr id="21" name="Shape 19"/>
          <p:cNvSpPr/>
          <p:nvPr/>
        </p:nvSpPr>
        <p:spPr>
          <a:xfrm>
            <a:off x="566928" y="2093976"/>
            <a:ext cx="438912" cy="438912"/>
          </a:xfrm>
          <a:prstGeom prst="ellipse">
            <a:avLst/>
          </a:prstGeom>
          <a:solidFill>
            <a:srgbClr val="1A2340"/>
          </a:solidFill>
          <a:ln w="12700">
            <a:solidFill>
              <a:srgbClr val="1A2340">
                <a:alpha val="0"/>
              </a:srgbClr>
            </a:solidFill>
            <a:prstDash val="solid"/>
          </a:ln>
        </p:spPr>
      </p:sp>
      <p:sp>
        <p:nvSpPr>
          <p:cNvPr id="22" name="Text 20"/>
          <p:cNvSpPr/>
          <p:nvPr/>
        </p:nvSpPr>
        <p:spPr>
          <a:xfrm>
            <a:off x="566928" y="209397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03</a:t>
            </a:r>
            <a:endParaRPr lang="en-US" sz="1000" dirty="0"/>
          </a:p>
        </p:txBody>
      </p:sp>
      <p:sp>
        <p:nvSpPr>
          <p:cNvPr id="23" name="Text 21"/>
          <p:cNvSpPr/>
          <p:nvPr/>
        </p:nvSpPr>
        <p:spPr>
          <a:xfrm>
            <a:off x="1133856" y="2011680"/>
            <a:ext cx="3291840" cy="246888"/>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Generic or Missing Greeting</a:t>
            </a:r>
            <a:endParaRPr lang="en-US" sz="1150" dirty="0"/>
          </a:p>
        </p:txBody>
      </p:sp>
      <p:sp>
        <p:nvSpPr>
          <p:cNvPr id="24" name="Text 22"/>
          <p:cNvSpPr/>
          <p:nvPr/>
        </p:nvSpPr>
        <p:spPr>
          <a:xfrm>
            <a:off x="1133856" y="2286000"/>
            <a:ext cx="3310128"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'Dear Customer' instead of your name. Banks and institutions always personalize their emails.</a:t>
            </a:r>
            <a:endParaRPr lang="en-US" sz="900" dirty="0"/>
          </a:p>
        </p:txBody>
      </p:sp>
      <p:sp>
        <p:nvSpPr>
          <p:cNvPr id="25" name="Shape 23"/>
          <p:cNvSpPr/>
          <p:nvPr/>
        </p:nvSpPr>
        <p:spPr>
          <a:xfrm>
            <a:off x="4754880" y="1938528"/>
            <a:ext cx="4114800" cy="804672"/>
          </a:xfrm>
          <a:prstGeom prst="rect">
            <a:avLst/>
          </a:prstGeom>
          <a:solidFill>
            <a:srgbClr val="F7F8FC"/>
          </a:solidFill>
          <a:ln w="12700">
            <a:solidFill>
              <a:srgbClr val="D8DCE8"/>
            </a:solidFill>
            <a:prstDash val="solid"/>
          </a:ln>
        </p:spPr>
      </p:sp>
      <p:sp>
        <p:nvSpPr>
          <p:cNvPr id="26" name="Shape 24"/>
          <p:cNvSpPr/>
          <p:nvPr/>
        </p:nvSpPr>
        <p:spPr>
          <a:xfrm>
            <a:off x="4754880" y="1938528"/>
            <a:ext cx="45720" cy="804672"/>
          </a:xfrm>
          <a:prstGeom prst="rect">
            <a:avLst/>
          </a:prstGeom>
          <a:solidFill>
            <a:srgbClr val="1A2340"/>
          </a:solidFill>
          <a:ln w="12700">
            <a:solidFill>
              <a:srgbClr val="1A2340">
                <a:alpha val="0"/>
              </a:srgbClr>
            </a:solidFill>
            <a:prstDash val="solid"/>
          </a:ln>
        </p:spPr>
      </p:sp>
      <p:sp>
        <p:nvSpPr>
          <p:cNvPr id="27" name="Shape 25"/>
          <p:cNvSpPr/>
          <p:nvPr/>
        </p:nvSpPr>
        <p:spPr>
          <a:xfrm>
            <a:off x="4864608" y="2093976"/>
            <a:ext cx="438912" cy="438912"/>
          </a:xfrm>
          <a:prstGeom prst="ellipse">
            <a:avLst/>
          </a:prstGeom>
          <a:solidFill>
            <a:srgbClr val="1A2340"/>
          </a:solidFill>
          <a:ln w="12700">
            <a:solidFill>
              <a:srgbClr val="1A2340">
                <a:alpha val="0"/>
              </a:srgbClr>
            </a:solidFill>
            <a:prstDash val="solid"/>
          </a:ln>
        </p:spPr>
      </p:sp>
      <p:sp>
        <p:nvSpPr>
          <p:cNvPr id="28" name="Text 26"/>
          <p:cNvSpPr/>
          <p:nvPr/>
        </p:nvSpPr>
        <p:spPr>
          <a:xfrm>
            <a:off x="4864608" y="2093976"/>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04</a:t>
            </a:r>
            <a:endParaRPr lang="en-US" sz="1000" dirty="0"/>
          </a:p>
        </p:txBody>
      </p:sp>
      <p:sp>
        <p:nvSpPr>
          <p:cNvPr id="29" name="Text 27"/>
          <p:cNvSpPr/>
          <p:nvPr/>
        </p:nvSpPr>
        <p:spPr>
          <a:xfrm>
            <a:off x="5431536" y="2011680"/>
            <a:ext cx="3291840" cy="246888"/>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Mismatched or Hidden Links</a:t>
            </a:r>
            <a:endParaRPr lang="en-US" sz="1150" dirty="0"/>
          </a:p>
        </p:txBody>
      </p:sp>
      <p:sp>
        <p:nvSpPr>
          <p:cNvPr id="30" name="Text 28"/>
          <p:cNvSpPr/>
          <p:nvPr/>
        </p:nvSpPr>
        <p:spPr>
          <a:xfrm>
            <a:off x="5431536" y="2286000"/>
            <a:ext cx="3310128"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Hover before clicking. The real URL in the status bar must match what the link text actually says.</a:t>
            </a:r>
            <a:endParaRPr lang="en-US" sz="900" dirty="0"/>
          </a:p>
        </p:txBody>
      </p:sp>
      <p:sp>
        <p:nvSpPr>
          <p:cNvPr id="31" name="Shape 29"/>
          <p:cNvSpPr/>
          <p:nvPr/>
        </p:nvSpPr>
        <p:spPr>
          <a:xfrm>
            <a:off x="457200" y="2907792"/>
            <a:ext cx="4114800" cy="804672"/>
          </a:xfrm>
          <a:prstGeom prst="rect">
            <a:avLst/>
          </a:prstGeom>
          <a:solidFill>
            <a:srgbClr val="F7F8FC"/>
          </a:solidFill>
          <a:ln w="12700">
            <a:solidFill>
              <a:srgbClr val="D8DCE8"/>
            </a:solidFill>
            <a:prstDash val="solid"/>
          </a:ln>
        </p:spPr>
      </p:sp>
      <p:sp>
        <p:nvSpPr>
          <p:cNvPr id="32" name="Shape 30"/>
          <p:cNvSpPr/>
          <p:nvPr/>
        </p:nvSpPr>
        <p:spPr>
          <a:xfrm>
            <a:off x="457200" y="2907792"/>
            <a:ext cx="45720" cy="804672"/>
          </a:xfrm>
          <a:prstGeom prst="rect">
            <a:avLst/>
          </a:prstGeom>
          <a:solidFill>
            <a:srgbClr val="E8523A"/>
          </a:solidFill>
          <a:ln w="12700">
            <a:solidFill>
              <a:srgbClr val="E8523A">
                <a:alpha val="0"/>
              </a:srgbClr>
            </a:solidFill>
            <a:prstDash val="solid"/>
          </a:ln>
        </p:spPr>
      </p:sp>
      <p:sp>
        <p:nvSpPr>
          <p:cNvPr id="33" name="Shape 31"/>
          <p:cNvSpPr/>
          <p:nvPr/>
        </p:nvSpPr>
        <p:spPr>
          <a:xfrm>
            <a:off x="566928" y="3063240"/>
            <a:ext cx="438912" cy="438912"/>
          </a:xfrm>
          <a:prstGeom prst="ellipse">
            <a:avLst/>
          </a:prstGeom>
          <a:solidFill>
            <a:srgbClr val="1A2340"/>
          </a:solidFill>
          <a:ln w="12700">
            <a:solidFill>
              <a:srgbClr val="1A2340">
                <a:alpha val="0"/>
              </a:srgbClr>
            </a:solidFill>
            <a:prstDash val="solid"/>
          </a:ln>
        </p:spPr>
      </p:sp>
      <p:sp>
        <p:nvSpPr>
          <p:cNvPr id="34" name="Text 32"/>
          <p:cNvSpPr/>
          <p:nvPr/>
        </p:nvSpPr>
        <p:spPr>
          <a:xfrm>
            <a:off x="566928" y="3063240"/>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05</a:t>
            </a:r>
            <a:endParaRPr lang="en-US" sz="1000" dirty="0"/>
          </a:p>
        </p:txBody>
      </p:sp>
      <p:sp>
        <p:nvSpPr>
          <p:cNvPr id="35" name="Text 33"/>
          <p:cNvSpPr/>
          <p:nvPr/>
        </p:nvSpPr>
        <p:spPr>
          <a:xfrm>
            <a:off x="1133856" y="2980944"/>
            <a:ext cx="3291840" cy="246888"/>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Unexpected Attachments</a:t>
            </a:r>
            <a:endParaRPr lang="en-US" sz="1150" dirty="0"/>
          </a:p>
        </p:txBody>
      </p:sp>
      <p:sp>
        <p:nvSpPr>
          <p:cNvPr id="36" name="Text 34"/>
          <p:cNvSpPr/>
          <p:nvPr/>
        </p:nvSpPr>
        <p:spPr>
          <a:xfrm>
            <a:off x="1133856" y="3255264"/>
            <a:ext cx="3310128"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Unsolicited .zip, .exe, or .pdf files can execute malware the moment they are opened.</a:t>
            </a:r>
            <a:endParaRPr lang="en-US" sz="900" dirty="0"/>
          </a:p>
        </p:txBody>
      </p:sp>
      <p:sp>
        <p:nvSpPr>
          <p:cNvPr id="37" name="Shape 35"/>
          <p:cNvSpPr/>
          <p:nvPr/>
        </p:nvSpPr>
        <p:spPr>
          <a:xfrm>
            <a:off x="4754880" y="2907792"/>
            <a:ext cx="4114800" cy="804672"/>
          </a:xfrm>
          <a:prstGeom prst="rect">
            <a:avLst/>
          </a:prstGeom>
          <a:solidFill>
            <a:srgbClr val="F7F8FC"/>
          </a:solidFill>
          <a:ln w="12700">
            <a:solidFill>
              <a:srgbClr val="D8DCE8"/>
            </a:solidFill>
            <a:prstDash val="solid"/>
          </a:ln>
        </p:spPr>
      </p:sp>
      <p:sp>
        <p:nvSpPr>
          <p:cNvPr id="38" name="Shape 36"/>
          <p:cNvSpPr/>
          <p:nvPr/>
        </p:nvSpPr>
        <p:spPr>
          <a:xfrm>
            <a:off x="4754880" y="2907792"/>
            <a:ext cx="45720" cy="804672"/>
          </a:xfrm>
          <a:prstGeom prst="rect">
            <a:avLst/>
          </a:prstGeom>
          <a:solidFill>
            <a:srgbClr val="E8523A"/>
          </a:solidFill>
          <a:ln w="12700">
            <a:solidFill>
              <a:srgbClr val="E8523A">
                <a:alpha val="0"/>
              </a:srgbClr>
            </a:solidFill>
            <a:prstDash val="solid"/>
          </a:ln>
        </p:spPr>
      </p:sp>
      <p:sp>
        <p:nvSpPr>
          <p:cNvPr id="39" name="Shape 37"/>
          <p:cNvSpPr/>
          <p:nvPr/>
        </p:nvSpPr>
        <p:spPr>
          <a:xfrm>
            <a:off x="4864608" y="3063240"/>
            <a:ext cx="438912" cy="438912"/>
          </a:xfrm>
          <a:prstGeom prst="ellipse">
            <a:avLst/>
          </a:prstGeom>
          <a:solidFill>
            <a:srgbClr val="1A2340"/>
          </a:solidFill>
          <a:ln w="12700">
            <a:solidFill>
              <a:srgbClr val="1A2340">
                <a:alpha val="0"/>
              </a:srgbClr>
            </a:solidFill>
            <a:prstDash val="solid"/>
          </a:ln>
        </p:spPr>
      </p:sp>
      <p:sp>
        <p:nvSpPr>
          <p:cNvPr id="40" name="Text 38"/>
          <p:cNvSpPr/>
          <p:nvPr/>
        </p:nvSpPr>
        <p:spPr>
          <a:xfrm>
            <a:off x="4864608" y="3063240"/>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06</a:t>
            </a:r>
            <a:endParaRPr lang="en-US" sz="1000" dirty="0"/>
          </a:p>
        </p:txBody>
      </p:sp>
      <p:sp>
        <p:nvSpPr>
          <p:cNvPr id="41" name="Text 39"/>
          <p:cNvSpPr/>
          <p:nvPr/>
        </p:nvSpPr>
        <p:spPr>
          <a:xfrm>
            <a:off x="5431536" y="2980944"/>
            <a:ext cx="3291840" cy="246888"/>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Poor Grammar &amp; Spelling</a:t>
            </a:r>
            <a:endParaRPr lang="en-US" sz="1150" dirty="0"/>
          </a:p>
        </p:txBody>
      </p:sp>
      <p:sp>
        <p:nvSpPr>
          <p:cNvPr id="42" name="Text 40"/>
          <p:cNvSpPr/>
          <p:nvPr/>
        </p:nvSpPr>
        <p:spPr>
          <a:xfrm>
            <a:off x="5431536" y="3255264"/>
            <a:ext cx="3310128"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Professional organizations have editors. Multiple errors signal an automated phishing campaign.</a:t>
            </a:r>
            <a:endParaRPr lang="en-US" sz="900" dirty="0"/>
          </a:p>
        </p:txBody>
      </p:sp>
      <p:sp>
        <p:nvSpPr>
          <p:cNvPr id="43" name="Shape 41"/>
          <p:cNvSpPr/>
          <p:nvPr/>
        </p:nvSpPr>
        <p:spPr>
          <a:xfrm>
            <a:off x="2331720" y="3877056"/>
            <a:ext cx="4114800" cy="804672"/>
          </a:xfrm>
          <a:prstGeom prst="rect">
            <a:avLst/>
          </a:prstGeom>
          <a:solidFill>
            <a:srgbClr val="F7F8FC"/>
          </a:solidFill>
          <a:ln w="12700">
            <a:solidFill>
              <a:srgbClr val="D8DCE8"/>
            </a:solidFill>
            <a:prstDash val="solid"/>
          </a:ln>
        </p:spPr>
      </p:sp>
      <p:sp>
        <p:nvSpPr>
          <p:cNvPr id="44" name="Shape 42"/>
          <p:cNvSpPr/>
          <p:nvPr/>
        </p:nvSpPr>
        <p:spPr>
          <a:xfrm>
            <a:off x="2331720" y="3877056"/>
            <a:ext cx="45720" cy="804672"/>
          </a:xfrm>
          <a:prstGeom prst="rect">
            <a:avLst/>
          </a:prstGeom>
          <a:solidFill>
            <a:srgbClr val="F5C518"/>
          </a:solidFill>
          <a:ln w="12700">
            <a:solidFill>
              <a:srgbClr val="F5C518">
                <a:alpha val="0"/>
              </a:srgbClr>
            </a:solidFill>
            <a:prstDash val="solid"/>
          </a:ln>
        </p:spPr>
      </p:sp>
      <p:sp>
        <p:nvSpPr>
          <p:cNvPr id="45" name="Shape 43"/>
          <p:cNvSpPr/>
          <p:nvPr/>
        </p:nvSpPr>
        <p:spPr>
          <a:xfrm>
            <a:off x="2441448" y="4032504"/>
            <a:ext cx="438912" cy="438912"/>
          </a:xfrm>
          <a:prstGeom prst="ellipse">
            <a:avLst/>
          </a:prstGeom>
          <a:solidFill>
            <a:srgbClr val="1A2340"/>
          </a:solidFill>
          <a:ln w="12700">
            <a:solidFill>
              <a:srgbClr val="1A2340">
                <a:alpha val="0"/>
              </a:srgbClr>
            </a:solidFill>
            <a:prstDash val="solid"/>
          </a:ln>
        </p:spPr>
      </p:sp>
      <p:sp>
        <p:nvSpPr>
          <p:cNvPr id="46" name="Text 44"/>
          <p:cNvSpPr/>
          <p:nvPr/>
        </p:nvSpPr>
        <p:spPr>
          <a:xfrm>
            <a:off x="2441448" y="4032504"/>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07</a:t>
            </a:r>
            <a:endParaRPr lang="en-US" sz="1000" dirty="0"/>
          </a:p>
        </p:txBody>
      </p:sp>
      <p:sp>
        <p:nvSpPr>
          <p:cNvPr id="47" name="Text 45"/>
          <p:cNvSpPr/>
          <p:nvPr/>
        </p:nvSpPr>
        <p:spPr>
          <a:xfrm>
            <a:off x="3008376" y="3950208"/>
            <a:ext cx="3291840" cy="246888"/>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Requests for Sensitive Info</a:t>
            </a:r>
            <a:endParaRPr lang="en-US" sz="1150" dirty="0"/>
          </a:p>
        </p:txBody>
      </p:sp>
      <p:sp>
        <p:nvSpPr>
          <p:cNvPr id="48" name="Text 46"/>
          <p:cNvSpPr/>
          <p:nvPr/>
        </p:nvSpPr>
        <p:spPr>
          <a:xfrm>
            <a:off x="3008376" y="4224528"/>
            <a:ext cx="3310128"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The golden rule: no legitimate service will ever ask for your password or PIN via email. Ever.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8 / 18</a:t>
            </a:r>
            <a:endParaRPr lang="en-US" sz="750" dirty="0"/>
          </a:p>
        </p:txBody>
      </p:sp>
      <p:sp>
        <p:nvSpPr>
          <p:cNvPr id="5" name="Shape 2"/>
          <p:cNvSpPr/>
          <p:nvPr/>
        </p:nvSpPr>
        <p:spPr>
          <a:xfrm>
            <a:off x="457200" y="164592"/>
            <a:ext cx="6858000" cy="658368"/>
          </a:xfrm>
          <a:prstGeom prst="rect">
            <a:avLst/>
          </a:prstGeom>
          <a:solidFill>
            <a:srgbClr val="F5C518"/>
          </a:solidFill>
          <a:ln w="12700">
            <a:solidFill>
              <a:srgbClr val="F5C518">
                <a:alpha val="0"/>
              </a:srgbClr>
            </a:solidFill>
            <a:prstDash val="solid"/>
          </a:ln>
        </p:spPr>
      </p:sp>
      <p:sp>
        <p:nvSpPr>
          <p:cNvPr id="6" name="Text 3"/>
          <p:cNvSpPr/>
          <p:nvPr/>
        </p:nvSpPr>
        <p:spPr>
          <a:xfrm>
            <a:off x="566928" y="201168"/>
            <a:ext cx="6583680" cy="548640"/>
          </a:xfrm>
          <a:prstGeom prst="rect">
            <a:avLst/>
          </a:prstGeom>
          <a:noFill/>
          <a:ln/>
        </p:spPr>
        <p:txBody>
          <a:bodyPr wrap="square" lIns="0" tIns="0" rIns="0" bIns="0" rtlCol="0" anchor="ctr"/>
          <a:lstStyle/>
          <a:p>
            <a:pPr marL="0" indent="0">
              <a:buNone/>
            </a:pPr>
            <a:r>
              <a:rPr lang="en-US" sz="2200" b="1" dirty="0">
                <a:solidFill>
                  <a:srgbClr val="1A2340"/>
                </a:solidFill>
                <a:latin typeface="Georgia" pitchFamily="34" charset="0"/>
                <a:ea typeface="Georgia" pitchFamily="34" charset="-122"/>
                <a:cs typeface="Georgia" pitchFamily="34" charset="-120"/>
              </a:rPr>
              <a:t>Interactive Activity — Spot the Red Flags</a:t>
            </a:r>
            <a:endParaRPr lang="en-US" sz="2200" dirty="0"/>
          </a:p>
        </p:txBody>
      </p:sp>
      <p:sp>
        <p:nvSpPr>
          <p:cNvPr id="7" name="Text 4"/>
          <p:cNvSpPr/>
          <p:nvPr/>
        </p:nvSpPr>
        <p:spPr>
          <a:xfrm>
            <a:off x="457200" y="914400"/>
            <a:ext cx="6858000" cy="256032"/>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Can you find all five red flags in this email?</a:t>
            </a:r>
            <a:endParaRPr lang="en-US" sz="1200" dirty="0"/>
          </a:p>
        </p:txBody>
      </p:sp>
      <p:sp>
        <p:nvSpPr>
          <p:cNvPr id="8" name="Shape 5"/>
          <p:cNvSpPr/>
          <p:nvPr/>
        </p:nvSpPr>
        <p:spPr>
          <a:xfrm>
            <a:off x="457200" y="1207008"/>
            <a:ext cx="8321040" cy="3474720"/>
          </a:xfrm>
          <a:prstGeom prst="rect">
            <a:avLst/>
          </a:prstGeom>
          <a:solidFill>
            <a:srgbClr val="FFFFFF"/>
          </a:solidFill>
          <a:ln w="12700">
            <a:solidFill>
              <a:srgbClr val="CCCCCC"/>
            </a:solidFill>
            <a:prstDash val="solid"/>
          </a:ln>
        </p:spPr>
      </p:sp>
      <p:sp>
        <p:nvSpPr>
          <p:cNvPr id="9" name="Shape 6"/>
          <p:cNvSpPr/>
          <p:nvPr/>
        </p:nvSpPr>
        <p:spPr>
          <a:xfrm>
            <a:off x="457200" y="1207008"/>
            <a:ext cx="8321040" cy="347472"/>
          </a:xfrm>
          <a:prstGeom prst="rect">
            <a:avLst/>
          </a:prstGeom>
          <a:solidFill>
            <a:srgbClr val="EEF0F6"/>
          </a:solidFill>
          <a:ln w="12700">
            <a:solidFill>
              <a:srgbClr val="D8DCE8"/>
            </a:solidFill>
            <a:prstDash val="solid"/>
          </a:ln>
        </p:spPr>
      </p:sp>
      <p:sp>
        <p:nvSpPr>
          <p:cNvPr id="10" name="Text 7"/>
          <p:cNvSpPr/>
          <p:nvPr/>
        </p:nvSpPr>
        <p:spPr>
          <a:xfrm>
            <a:off x="566928" y="1243584"/>
            <a:ext cx="5486400" cy="256032"/>
          </a:xfrm>
          <a:prstGeom prst="rect">
            <a:avLst/>
          </a:prstGeom>
          <a:noFill/>
          <a:ln/>
        </p:spPr>
        <p:txBody>
          <a:bodyPr wrap="square" rtlCol="0" anchor="ctr"/>
          <a:lstStyle/>
          <a:p>
            <a:pPr marL="0" indent="0">
              <a:buNone/>
            </a:pPr>
            <a:r>
              <a:rPr lang="en-US" sz="900" dirty="0">
                <a:solidFill>
                  <a:srgbClr val="888888"/>
                </a:solidFill>
                <a:latin typeface="Calibri" pitchFamily="34" charset="0"/>
                <a:ea typeface="Calibri" pitchFamily="34" charset="-122"/>
                <a:cs typeface="Calibri" pitchFamily="34" charset="-120"/>
              </a:rPr>
              <a:t>  ⬤  ⬤  ⬤    Inbox — Microsoft Outlook</a:t>
            </a:r>
            <a:endParaRPr lang="en-US" sz="900" dirty="0"/>
          </a:p>
        </p:txBody>
      </p:sp>
      <p:sp>
        <p:nvSpPr>
          <p:cNvPr id="11" name="Text 8"/>
          <p:cNvSpPr/>
          <p:nvPr/>
        </p:nvSpPr>
        <p:spPr>
          <a:xfrm>
            <a:off x="594360" y="1664208"/>
            <a:ext cx="822960" cy="237744"/>
          </a:xfrm>
          <a:prstGeom prst="rect">
            <a:avLst/>
          </a:prstGeom>
          <a:noFill/>
          <a:ln/>
        </p:spPr>
        <p:txBody>
          <a:bodyPr wrap="square" lIns="0" tIns="0" rIns="0" bIns="0"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From:</a:t>
            </a:r>
            <a:endParaRPr lang="en-US" sz="1000" dirty="0"/>
          </a:p>
        </p:txBody>
      </p:sp>
      <p:sp>
        <p:nvSpPr>
          <p:cNvPr id="12" name="Text 9"/>
          <p:cNvSpPr/>
          <p:nvPr/>
        </p:nvSpPr>
        <p:spPr>
          <a:xfrm>
            <a:off x="1463040" y="1664208"/>
            <a:ext cx="7132320" cy="237744"/>
          </a:xfrm>
          <a:prstGeom prst="rect">
            <a:avLst/>
          </a:prstGeom>
          <a:noFill/>
          <a:ln/>
        </p:spPr>
        <p:txBody>
          <a:bodyPr wrap="square" lIns="0" tIns="0" rIns="0" bIns="0" rtlCol="0" anchor="ctr"/>
          <a:lstStyle/>
          <a:p>
            <a:pPr marL="0" indent="0">
              <a:buNone/>
            </a:pPr>
            <a:r>
              <a:rPr lang="en-US" sz="1000" b="1" dirty="0">
                <a:solidFill>
                  <a:srgbClr val="E8523A"/>
                </a:solidFill>
                <a:latin typeface="Calibri" pitchFamily="34" charset="0"/>
                <a:ea typeface="Calibri" pitchFamily="34" charset="-122"/>
                <a:cs typeface="Calibri" pitchFamily="34" charset="-120"/>
              </a:rPr>
              <a:t>security@micros0ft-verify.net</a:t>
            </a:r>
            <a:endParaRPr lang="en-US" sz="1000" dirty="0"/>
          </a:p>
        </p:txBody>
      </p:sp>
      <p:sp>
        <p:nvSpPr>
          <p:cNvPr id="13" name="Text 10"/>
          <p:cNvSpPr/>
          <p:nvPr/>
        </p:nvSpPr>
        <p:spPr>
          <a:xfrm>
            <a:off x="594360" y="1938528"/>
            <a:ext cx="822960" cy="237744"/>
          </a:xfrm>
          <a:prstGeom prst="rect">
            <a:avLst/>
          </a:prstGeom>
          <a:noFill/>
          <a:ln/>
        </p:spPr>
        <p:txBody>
          <a:bodyPr wrap="square" lIns="0" tIns="0" rIns="0" bIns="0"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To:</a:t>
            </a:r>
            <a:endParaRPr lang="en-US" sz="1000" dirty="0"/>
          </a:p>
        </p:txBody>
      </p:sp>
      <p:sp>
        <p:nvSpPr>
          <p:cNvPr id="14" name="Text 11"/>
          <p:cNvSpPr/>
          <p:nvPr/>
        </p:nvSpPr>
        <p:spPr>
          <a:xfrm>
            <a:off x="1463040" y="1938528"/>
            <a:ext cx="7132320" cy="237744"/>
          </a:xfrm>
          <a:prstGeom prst="rect">
            <a:avLst/>
          </a:prstGeom>
          <a:noFill/>
          <a:ln/>
        </p:spPr>
        <p:txBody>
          <a:bodyPr wrap="square" lIns="0" tIns="0" rIns="0" bIns="0" rtlCol="0" anchor="ctr"/>
          <a:lstStyle/>
          <a:p>
            <a:pPr marL="0" indent="0">
              <a:buNone/>
            </a:pPr>
            <a:r>
              <a:rPr lang="en-US" sz="1000" dirty="0">
                <a:solidFill>
                  <a:srgbClr val="1A2340"/>
                </a:solidFill>
                <a:latin typeface="Calibri" pitchFamily="34" charset="0"/>
                <a:ea typeface="Calibri" pitchFamily="34" charset="-122"/>
                <a:cs typeface="Calibri" pitchFamily="34" charset="-120"/>
              </a:rPr>
              <a:t>you@university.edu</a:t>
            </a:r>
            <a:endParaRPr lang="en-US" sz="1000" dirty="0"/>
          </a:p>
        </p:txBody>
      </p:sp>
      <p:sp>
        <p:nvSpPr>
          <p:cNvPr id="15" name="Text 12"/>
          <p:cNvSpPr/>
          <p:nvPr/>
        </p:nvSpPr>
        <p:spPr>
          <a:xfrm>
            <a:off x="594360" y="2212848"/>
            <a:ext cx="822960" cy="237744"/>
          </a:xfrm>
          <a:prstGeom prst="rect">
            <a:avLst/>
          </a:prstGeom>
          <a:noFill/>
          <a:ln/>
        </p:spPr>
        <p:txBody>
          <a:bodyPr wrap="square" lIns="0" tIns="0" rIns="0" bIns="0"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Subject:</a:t>
            </a:r>
            <a:endParaRPr lang="en-US" sz="1000" dirty="0"/>
          </a:p>
        </p:txBody>
      </p:sp>
      <p:sp>
        <p:nvSpPr>
          <p:cNvPr id="16" name="Text 13"/>
          <p:cNvSpPr/>
          <p:nvPr/>
        </p:nvSpPr>
        <p:spPr>
          <a:xfrm>
            <a:off x="1463040" y="2212848"/>
            <a:ext cx="7132320" cy="237744"/>
          </a:xfrm>
          <a:prstGeom prst="rect">
            <a:avLst/>
          </a:prstGeom>
          <a:noFill/>
          <a:ln/>
        </p:spPr>
        <p:txBody>
          <a:bodyPr wrap="square" lIns="0" tIns="0" rIns="0" bIns="0" rtlCol="0" anchor="ctr"/>
          <a:lstStyle/>
          <a:p>
            <a:pPr marL="0" indent="0">
              <a:buNone/>
            </a:pPr>
            <a:r>
              <a:rPr lang="en-US" sz="1000" b="1" dirty="0">
                <a:solidFill>
                  <a:srgbClr val="E8523A"/>
                </a:solidFill>
                <a:latin typeface="Calibri" pitchFamily="34" charset="0"/>
                <a:ea typeface="Calibri" pitchFamily="34" charset="-122"/>
                <a:cs typeface="Calibri" pitchFamily="34" charset="-120"/>
              </a:rPr>
              <a:t>⚠️  URGENT: Your account will be DELETED in 24 hours!</a:t>
            </a:r>
            <a:endParaRPr lang="en-US" sz="1000" dirty="0"/>
          </a:p>
        </p:txBody>
      </p:sp>
      <p:sp>
        <p:nvSpPr>
          <p:cNvPr id="17" name="Shape 14"/>
          <p:cNvSpPr/>
          <p:nvPr/>
        </p:nvSpPr>
        <p:spPr>
          <a:xfrm>
            <a:off x="548640" y="2523744"/>
            <a:ext cx="8092440" cy="0"/>
          </a:xfrm>
          <a:prstGeom prst="line">
            <a:avLst/>
          </a:prstGeom>
          <a:noFill/>
          <a:ln w="10160">
            <a:solidFill>
              <a:srgbClr val="DDDDDD"/>
            </a:solidFill>
            <a:prstDash val="solid"/>
          </a:ln>
        </p:spPr>
      </p:sp>
      <p:sp>
        <p:nvSpPr>
          <p:cNvPr id="18" name="Text 15"/>
          <p:cNvSpPr/>
          <p:nvPr/>
        </p:nvSpPr>
        <p:spPr>
          <a:xfrm>
            <a:off x="594360" y="2596896"/>
            <a:ext cx="8046720" cy="1938528"/>
          </a:xfrm>
          <a:prstGeom prst="rect">
            <a:avLst/>
          </a:prstGeom>
          <a:noFill/>
          <a:ln/>
        </p:spPr>
        <p:txBody>
          <a:bodyPr wrap="square" rtlCol="0" anchor="ctr"/>
          <a:lstStyle/>
          <a:p>
            <a:pPr marL="0" indent="0">
              <a:buNone/>
            </a:pPr>
            <a:r>
              <a:rPr lang="en-US" sz="950" dirty="0">
                <a:solidFill>
                  <a:srgbClr val="1A2340"/>
                </a:solidFill>
                <a:latin typeface="Calibri" pitchFamily="34" charset="0"/>
                <a:ea typeface="Calibri" pitchFamily="34" charset="-122"/>
                <a:cs typeface="Calibri" pitchFamily="34" charset="-120"/>
              </a:rPr>
              <a:t>Dear Customer,</a:t>
            </a:r>
            <a:endParaRPr lang="en-US" sz="950" dirty="0"/>
          </a:p>
          <a:p>
            <a:pPr marL="0" indent="0">
              <a:buNone/>
            </a:pPr>
            <a:endParaRPr lang="en-US" sz="950" dirty="0"/>
          </a:p>
          <a:p>
            <a:pPr marL="0" indent="0">
              <a:buNone/>
            </a:pPr>
            <a:r>
              <a:rPr lang="en-US" sz="950" dirty="0">
                <a:solidFill>
                  <a:srgbClr val="1A2340"/>
                </a:solidFill>
                <a:latin typeface="Calibri" pitchFamily="34" charset="0"/>
                <a:ea typeface="Calibri" pitchFamily="34" charset="-122"/>
                <a:cs typeface="Calibri" pitchFamily="34" charset="-120"/>
              </a:rPr>
              <a:t>We detected suspicious activity on your Microsoft account. Your account will be PERMANENTLY DELETED within 24 hours unless you verify your identity immediately.</a:t>
            </a:r>
            <a:endParaRPr lang="en-US" sz="950" dirty="0"/>
          </a:p>
          <a:p>
            <a:pPr marL="0" indent="0">
              <a:buNone/>
            </a:pPr>
            <a:endParaRPr lang="en-US" sz="950" dirty="0"/>
          </a:p>
          <a:p>
            <a:pPr marL="0" indent="0">
              <a:buNone/>
            </a:pPr>
            <a:r>
              <a:rPr lang="en-US" sz="950" dirty="0">
                <a:solidFill>
                  <a:srgbClr val="1A2340"/>
                </a:solidFill>
                <a:latin typeface="Calibri" pitchFamily="34" charset="0"/>
                <a:ea typeface="Calibri" pitchFamily="34" charset="-122"/>
                <a:cs typeface="Calibri" pitchFamily="34" charset="-120"/>
              </a:rPr>
              <a:t>Click here to verify now:  http://bit.ly/ms-verify-account2024</a:t>
            </a:r>
            <a:endParaRPr lang="en-US" sz="950" dirty="0"/>
          </a:p>
          <a:p>
            <a:pPr marL="0" indent="0">
              <a:buNone/>
            </a:pPr>
            <a:endParaRPr lang="en-US" sz="950" dirty="0"/>
          </a:p>
          <a:p>
            <a:pPr marL="0" indent="0">
              <a:buNone/>
            </a:pPr>
            <a:r>
              <a:rPr lang="en-US" sz="950" dirty="0">
                <a:solidFill>
                  <a:srgbClr val="1A2340"/>
                </a:solidFill>
                <a:latin typeface="Calibri" pitchFamily="34" charset="0"/>
                <a:ea typeface="Calibri" pitchFamily="34" charset="-122"/>
                <a:cs typeface="Calibri" pitchFamily="34" charset="-120"/>
              </a:rPr>
              <a:t>You must also provide:  Username  ·  Password  ·  Date of Birth  ·  Credit Card Number</a:t>
            </a:r>
            <a:endParaRPr lang="en-US" sz="950" dirty="0"/>
          </a:p>
          <a:p>
            <a:pPr marL="0" indent="0">
              <a:buNone/>
            </a:pPr>
            <a:endParaRPr lang="en-US" sz="950" dirty="0"/>
          </a:p>
          <a:p>
            <a:pPr marL="0" indent="0">
              <a:buNone/>
            </a:pPr>
            <a:r>
              <a:rPr lang="en-US" sz="950" dirty="0">
                <a:solidFill>
                  <a:srgbClr val="1A2340"/>
                </a:solidFill>
                <a:latin typeface="Calibri" pitchFamily="34" charset="0"/>
                <a:ea typeface="Calibri" pitchFamily="34" charset="-122"/>
                <a:cs typeface="Calibri" pitchFamily="34" charset="-120"/>
              </a:rPr>
              <a:t>Failure to comply will result in immediate account termination.</a:t>
            </a:r>
            <a:endParaRPr lang="en-US" sz="950" dirty="0"/>
          </a:p>
          <a:p>
            <a:pPr marL="0" indent="0">
              <a:buNone/>
            </a:pPr>
            <a:endParaRPr lang="en-US" sz="950" dirty="0"/>
          </a:p>
          <a:p>
            <a:pPr marL="0" indent="0">
              <a:buNone/>
            </a:pPr>
            <a:r>
              <a:rPr lang="en-US" sz="950" dirty="0">
                <a:solidFill>
                  <a:srgbClr val="1A2340"/>
                </a:solidFill>
                <a:latin typeface="Calibri" pitchFamily="34" charset="0"/>
                <a:ea typeface="Calibri" pitchFamily="34" charset="-122"/>
                <a:cs typeface="Calibri" pitchFamily="34" charset="-120"/>
              </a:rPr>
              <a:t>— Microsoft Security Team</a:t>
            </a:r>
            <a:endParaRPr lang="en-US" sz="950" dirty="0"/>
          </a:p>
        </p:txBody>
      </p:sp>
      <p:sp>
        <p:nvSpPr>
          <p:cNvPr id="19" name="Shape 16"/>
          <p:cNvSpPr/>
          <p:nvPr/>
        </p:nvSpPr>
        <p:spPr>
          <a:xfrm>
            <a:off x="457200" y="4645152"/>
            <a:ext cx="8321040" cy="310896"/>
          </a:xfrm>
          <a:prstGeom prst="rect">
            <a:avLst/>
          </a:prstGeom>
          <a:solidFill>
            <a:srgbClr val="1A2340"/>
          </a:solidFill>
          <a:ln w="12700">
            <a:solidFill>
              <a:srgbClr val="1A2340">
                <a:alpha val="0"/>
              </a:srgbClr>
            </a:solidFill>
            <a:prstDash val="solid"/>
          </a:ln>
        </p:spPr>
      </p:sp>
      <p:sp>
        <p:nvSpPr>
          <p:cNvPr id="20" name="Text 17"/>
          <p:cNvSpPr/>
          <p:nvPr/>
        </p:nvSpPr>
        <p:spPr>
          <a:xfrm>
            <a:off x="457200" y="4663440"/>
            <a:ext cx="8321040" cy="256032"/>
          </a:xfrm>
          <a:prstGeom prst="rect">
            <a:avLst/>
          </a:prstGeom>
          <a:noFill/>
          <a:ln/>
        </p:spPr>
        <p:txBody>
          <a:bodyPr wrap="square" rtlCol="0" anchor="ctr"/>
          <a:lstStyle/>
          <a:p>
            <a:pPr marL="0" indent="0" algn="ctr">
              <a:buNone/>
            </a:pPr>
            <a:r>
              <a:rPr lang="en-US" sz="850" dirty="0">
                <a:solidFill>
                  <a:srgbClr val="F5C518"/>
                </a:solidFill>
                <a:latin typeface="Calibri" pitchFamily="34" charset="0"/>
                <a:ea typeface="Calibri" pitchFamily="34" charset="-122"/>
                <a:cs typeface="Calibri" pitchFamily="34" charset="-120"/>
              </a:rPr>
              <a:t>🚩 Fake domain  ·  🚩 Urgency &amp; threats  ·  🚩 Generic greeting  ·  🚩 Shortened link  ·  🚩 Requests password &amp; card number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9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Real Phishing Email Example</a:t>
            </a:r>
            <a:endParaRPr lang="en-US" sz="3000" dirty="0"/>
          </a:p>
        </p:txBody>
      </p:sp>
      <p:sp>
        <p:nvSpPr>
          <p:cNvPr id="5" name="Text 3"/>
          <p:cNvSpPr/>
          <p:nvPr/>
        </p:nvSpPr>
        <p:spPr>
          <a:xfrm>
            <a:off x="457200" y="749808"/>
            <a:ext cx="6858000" cy="256032"/>
          </a:xfrm>
          <a:prstGeom prst="rect">
            <a:avLst/>
          </a:prstGeom>
          <a:noFill/>
          <a:ln/>
        </p:spPr>
        <p:txBody>
          <a:bodyPr wrap="square" rtlCol="0" anchor="ctr"/>
          <a:lstStyle/>
          <a:p>
            <a:pPr marL="0" indent="0">
              <a:buNone/>
            </a:pPr>
            <a:r>
              <a:rPr lang="en-US" sz="1200" i="1" dirty="0">
                <a:solidFill>
                  <a:srgbClr val="7A8394"/>
                </a:solidFill>
                <a:latin typeface="Calibri" pitchFamily="34" charset="0"/>
                <a:ea typeface="Calibri" pitchFamily="34" charset="-122"/>
                <a:cs typeface="Calibri" pitchFamily="34" charset="-120"/>
              </a:rPr>
              <a:t>Amazon Order Confirmation Attack — 2023 (reconstructed from reported cases)</a:t>
            </a:r>
            <a:endParaRPr lang="en-US" sz="1200" dirty="0"/>
          </a:p>
        </p:txBody>
      </p:sp>
      <p:sp>
        <p:nvSpPr>
          <p:cNvPr id="6" name="Shape 4"/>
          <p:cNvSpPr/>
          <p:nvPr/>
        </p:nvSpPr>
        <p:spPr>
          <a:xfrm>
            <a:off x="457200" y="722376"/>
            <a:ext cx="8229600" cy="16459"/>
          </a:xfrm>
          <a:prstGeom prst="rect">
            <a:avLst/>
          </a:prstGeom>
          <a:solidFill>
            <a:srgbClr val="D8DCE8"/>
          </a:solidFill>
          <a:ln w="12700">
            <a:solidFill>
              <a:srgbClr val="D8DCE8">
                <a:alpha val="0"/>
              </a:srgbClr>
            </a:solidFill>
            <a:prstDash val="solid"/>
          </a:ln>
        </p:spPr>
      </p:sp>
      <p:pic>
        <p:nvPicPr>
          <p:cNvPr id="8" name="Image 1" descr="preencoded.png"/>
          <p:cNvPicPr>
            <a:picLocks noChangeAspect="1"/>
          </p:cNvPicPr>
          <p:nvPr/>
        </p:nvPicPr>
        <p:blipFill>
          <a:blip r:embed="rId3"/>
          <a:stretch>
            <a:fillRect/>
          </a:stretch>
        </p:blipFill>
        <p:spPr>
          <a:xfrm>
            <a:off x="457200" y="1005840"/>
            <a:ext cx="320040" cy="320040"/>
          </a:xfrm>
          <a:prstGeom prst="rect">
            <a:avLst/>
          </a:prstGeom>
        </p:spPr>
      </p:pic>
      <p:sp>
        <p:nvSpPr>
          <p:cNvPr id="9" name="Text 5"/>
          <p:cNvSpPr/>
          <p:nvPr/>
        </p:nvSpPr>
        <p:spPr>
          <a:xfrm>
            <a:off x="896112" y="914400"/>
            <a:ext cx="4160520" cy="530352"/>
          </a:xfrm>
          <a:prstGeom prst="rect">
            <a:avLst/>
          </a:prstGeom>
          <a:noFill/>
          <a:ln/>
        </p:spPr>
        <p:txBody>
          <a:bodyPr wrap="square" rtlCol="0" anchor="ctr"/>
          <a:lstStyle/>
          <a:p>
            <a:pPr marL="0" indent="0">
              <a:buNone/>
            </a:pPr>
            <a:r>
              <a:rPr lang="en-US" sz="1150" dirty="0">
                <a:solidFill>
                  <a:srgbClr val="E8523A"/>
                </a:solidFill>
                <a:latin typeface="Calibri" pitchFamily="34" charset="0"/>
                <a:ea typeface="Calibri" pitchFamily="34" charset="-122"/>
                <a:cs typeface="Calibri" pitchFamily="34" charset="-120"/>
              </a:rPr>
              <a:t>Sender: amazon-orders@amaz0n-support.co</a:t>
            </a:r>
            <a:endParaRPr lang="en-US" sz="1150" dirty="0"/>
          </a:p>
        </p:txBody>
      </p:sp>
      <p:pic>
        <p:nvPicPr>
          <p:cNvPr id="10" name="Image 2" descr="preencoded.png"/>
          <p:cNvPicPr>
            <a:picLocks noChangeAspect="1"/>
          </p:cNvPicPr>
          <p:nvPr/>
        </p:nvPicPr>
        <p:blipFill>
          <a:blip r:embed="rId3"/>
          <a:stretch>
            <a:fillRect/>
          </a:stretch>
        </p:blipFill>
        <p:spPr>
          <a:xfrm>
            <a:off x="457200" y="1645920"/>
            <a:ext cx="320040" cy="320040"/>
          </a:xfrm>
          <a:prstGeom prst="rect">
            <a:avLst/>
          </a:prstGeom>
        </p:spPr>
      </p:pic>
      <p:sp>
        <p:nvSpPr>
          <p:cNvPr id="11" name="Text 6"/>
          <p:cNvSpPr/>
          <p:nvPr/>
        </p:nvSpPr>
        <p:spPr>
          <a:xfrm>
            <a:off x="896112" y="1554480"/>
            <a:ext cx="4160520" cy="530352"/>
          </a:xfrm>
          <a:prstGeom prst="rect">
            <a:avLst/>
          </a:prstGeom>
          <a:noFill/>
          <a:ln/>
        </p:spPr>
        <p:txBody>
          <a:bodyPr wrap="square" rtlCol="0" anchor="ctr"/>
          <a:lstStyle/>
          <a:p>
            <a:pPr marL="0" indent="0">
              <a:buNone/>
            </a:pPr>
            <a:r>
              <a:rPr lang="en-US" sz="1150" dirty="0">
                <a:solidFill>
                  <a:srgbClr val="E8523A"/>
                </a:solidFill>
                <a:latin typeface="Calibri" pitchFamily="34" charset="0"/>
                <a:ea typeface="Calibri" pitchFamily="34" charset="-122"/>
                <a:cs typeface="Calibri" pitchFamily="34" charset="-120"/>
              </a:rPr>
              <a:t>Subject: Your order #4829 has a PAYMENT ISSUE!</a:t>
            </a:r>
            <a:endParaRPr lang="en-US" sz="1150" dirty="0"/>
          </a:p>
        </p:txBody>
      </p:sp>
      <p:pic>
        <p:nvPicPr>
          <p:cNvPr id="12" name="Image 3" descr="preencoded.png"/>
          <p:cNvPicPr>
            <a:picLocks noChangeAspect="1"/>
          </p:cNvPicPr>
          <p:nvPr/>
        </p:nvPicPr>
        <p:blipFill>
          <a:blip r:embed="rId3"/>
          <a:stretch>
            <a:fillRect/>
          </a:stretch>
        </p:blipFill>
        <p:spPr>
          <a:xfrm>
            <a:off x="457200" y="2286000"/>
            <a:ext cx="320040" cy="320040"/>
          </a:xfrm>
          <a:prstGeom prst="rect">
            <a:avLst/>
          </a:prstGeom>
        </p:spPr>
      </p:pic>
      <p:sp>
        <p:nvSpPr>
          <p:cNvPr id="13" name="Text 7"/>
          <p:cNvSpPr/>
          <p:nvPr/>
        </p:nvSpPr>
        <p:spPr>
          <a:xfrm>
            <a:off x="896112" y="2194560"/>
            <a:ext cx="4160520" cy="530352"/>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Body: 'Resolve within 12 hours or order cancelled'</a:t>
            </a:r>
            <a:endParaRPr lang="en-US" sz="1150" dirty="0"/>
          </a:p>
        </p:txBody>
      </p:sp>
      <p:pic>
        <p:nvPicPr>
          <p:cNvPr id="14" name="Image 4" descr="preencoded.png"/>
          <p:cNvPicPr>
            <a:picLocks noChangeAspect="1"/>
          </p:cNvPicPr>
          <p:nvPr/>
        </p:nvPicPr>
        <p:blipFill>
          <a:blip r:embed="rId3"/>
          <a:stretch>
            <a:fillRect/>
          </a:stretch>
        </p:blipFill>
        <p:spPr>
          <a:xfrm>
            <a:off x="457200" y="2926080"/>
            <a:ext cx="320040" cy="320040"/>
          </a:xfrm>
          <a:prstGeom prst="rect">
            <a:avLst/>
          </a:prstGeom>
        </p:spPr>
      </p:pic>
      <p:sp>
        <p:nvSpPr>
          <p:cNvPr id="15" name="Text 8"/>
          <p:cNvSpPr/>
          <p:nvPr/>
        </p:nvSpPr>
        <p:spPr>
          <a:xfrm>
            <a:off x="896112" y="2834640"/>
            <a:ext cx="4160520" cy="530352"/>
          </a:xfrm>
          <a:prstGeom prst="rect">
            <a:avLst/>
          </a:prstGeom>
          <a:noFill/>
          <a:ln/>
        </p:spPr>
        <p:txBody>
          <a:bodyPr wrap="square" rtlCol="0" anchor="ctr"/>
          <a:lstStyle/>
          <a:p>
            <a:pPr marL="0" indent="0">
              <a:buNone/>
            </a:pPr>
            <a:r>
              <a:rPr lang="en-US" sz="1150" dirty="0">
                <a:solidFill>
                  <a:srgbClr val="E8523A"/>
                </a:solidFill>
                <a:latin typeface="Calibri" pitchFamily="34" charset="0"/>
                <a:ea typeface="Calibri" pitchFamily="34" charset="-122"/>
                <a:cs typeface="Calibri" pitchFamily="34" charset="-120"/>
              </a:rPr>
              <a:t>Link: http://amaz0n-secure.ru/verify</a:t>
            </a:r>
            <a:endParaRPr lang="en-US" sz="1150" dirty="0"/>
          </a:p>
        </p:txBody>
      </p:sp>
      <p:pic>
        <p:nvPicPr>
          <p:cNvPr id="16" name="Image 5" descr="preencoded.png"/>
          <p:cNvPicPr>
            <a:picLocks noChangeAspect="1"/>
          </p:cNvPicPr>
          <p:nvPr/>
        </p:nvPicPr>
        <p:blipFill>
          <a:blip r:embed="rId3"/>
          <a:stretch>
            <a:fillRect/>
          </a:stretch>
        </p:blipFill>
        <p:spPr>
          <a:xfrm>
            <a:off x="457200" y="3566160"/>
            <a:ext cx="320040" cy="320040"/>
          </a:xfrm>
          <a:prstGeom prst="rect">
            <a:avLst/>
          </a:prstGeom>
        </p:spPr>
      </p:pic>
      <p:sp>
        <p:nvSpPr>
          <p:cNvPr id="17" name="Text 9"/>
          <p:cNvSpPr/>
          <p:nvPr/>
        </p:nvSpPr>
        <p:spPr>
          <a:xfrm>
            <a:off x="896112" y="3474720"/>
            <a:ext cx="4160520" cy="530352"/>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Asks you to re-enter full credit card details</a:t>
            </a:r>
            <a:endParaRPr lang="en-US" sz="1150" dirty="0"/>
          </a:p>
        </p:txBody>
      </p:sp>
      <p:pic>
        <p:nvPicPr>
          <p:cNvPr id="18" name="Image 6" descr="preencoded.png"/>
          <p:cNvPicPr>
            <a:picLocks noChangeAspect="1"/>
          </p:cNvPicPr>
          <p:nvPr/>
        </p:nvPicPr>
        <p:blipFill>
          <a:blip r:embed="rId4"/>
          <a:stretch>
            <a:fillRect/>
          </a:stretch>
        </p:blipFill>
        <p:spPr>
          <a:xfrm>
            <a:off x="457200" y="4206240"/>
            <a:ext cx="320040" cy="320040"/>
          </a:xfrm>
          <a:prstGeom prst="rect">
            <a:avLst/>
          </a:prstGeom>
        </p:spPr>
      </p:pic>
      <p:sp>
        <p:nvSpPr>
          <p:cNvPr id="19" name="Text 10"/>
          <p:cNvSpPr/>
          <p:nvPr/>
        </p:nvSpPr>
        <p:spPr>
          <a:xfrm>
            <a:off x="896112" y="4114800"/>
            <a:ext cx="4160520" cy="530352"/>
          </a:xfrm>
          <a:prstGeom prst="rect">
            <a:avLst/>
          </a:prstGeom>
          <a:noFill/>
          <a:ln/>
        </p:spPr>
        <p:txBody>
          <a:bodyPr wrap="square" rtlCol="0" anchor="ctr"/>
          <a:lstStyle/>
          <a:p>
            <a:pPr marL="0" indent="0">
              <a:buNone/>
            </a:pPr>
            <a:r>
              <a:rPr lang="en-US" sz="1150" b="1" dirty="0">
                <a:solidFill>
                  <a:srgbClr val="2BAE76"/>
                </a:solidFill>
                <a:latin typeface="Calibri" pitchFamily="34" charset="0"/>
                <a:ea typeface="Calibri" pitchFamily="34" charset="-122"/>
                <a:cs typeface="Calibri" pitchFamily="34" charset="-120"/>
              </a:rPr>
              <a:t>SAFE ACTION: Open a new tab → type amazon.com directly</a:t>
            </a:r>
            <a:endParaRPr lang="en-US" sz="1150" dirty="0"/>
          </a:p>
        </p:txBody>
      </p:sp>
      <p:sp>
        <p:nvSpPr>
          <p:cNvPr id="20" name="Shape 11"/>
          <p:cNvSpPr/>
          <p:nvPr/>
        </p:nvSpPr>
        <p:spPr>
          <a:xfrm>
            <a:off x="5257800" y="1050765"/>
            <a:ext cx="3520440" cy="3840480"/>
          </a:xfrm>
          <a:prstGeom prst="rect">
            <a:avLst/>
          </a:prstGeom>
          <a:solidFill>
            <a:srgbClr val="1A2340"/>
          </a:solidFill>
          <a:ln w="12700">
            <a:solidFill>
              <a:srgbClr val="1A2340">
                <a:alpha val="0"/>
              </a:srgbClr>
            </a:solidFill>
            <a:prstDash val="solid"/>
          </a:ln>
        </p:spPr>
      </p:sp>
      <p:sp>
        <p:nvSpPr>
          <p:cNvPr id="21" name="Shape 12"/>
          <p:cNvSpPr/>
          <p:nvPr/>
        </p:nvSpPr>
        <p:spPr>
          <a:xfrm>
            <a:off x="5257800" y="1046988"/>
            <a:ext cx="3520440" cy="347472"/>
          </a:xfrm>
          <a:prstGeom prst="rect">
            <a:avLst/>
          </a:prstGeom>
          <a:solidFill>
            <a:srgbClr val="F5C518"/>
          </a:solidFill>
          <a:ln w="12700">
            <a:solidFill>
              <a:srgbClr val="F5C518">
                <a:alpha val="0"/>
              </a:srgbClr>
            </a:solidFill>
            <a:prstDash val="solid"/>
          </a:ln>
        </p:spPr>
      </p:sp>
      <p:sp>
        <p:nvSpPr>
          <p:cNvPr id="22" name="Text 13"/>
          <p:cNvSpPr/>
          <p:nvPr/>
        </p:nvSpPr>
        <p:spPr>
          <a:xfrm>
            <a:off x="5989320" y="1082371"/>
            <a:ext cx="3383280" cy="292608"/>
          </a:xfrm>
          <a:prstGeom prst="rect">
            <a:avLst/>
          </a:prstGeom>
          <a:noFill/>
          <a:ln/>
        </p:spPr>
        <p:txBody>
          <a:bodyPr wrap="square" lIns="0" tIns="0" rIns="0" bIns="0" rtlCol="0" anchor="ctr"/>
          <a:lstStyle/>
          <a:p>
            <a:pPr marL="0" indent="0">
              <a:buNone/>
            </a:pPr>
            <a:r>
              <a:rPr lang="en-US" sz="1100" b="1" dirty="0">
                <a:solidFill>
                  <a:srgbClr val="1A2340"/>
                </a:solidFill>
                <a:latin typeface="Georgia" pitchFamily="34" charset="0"/>
                <a:ea typeface="Georgia" pitchFamily="34" charset="-122"/>
                <a:cs typeface="Georgia" pitchFamily="34" charset="-120"/>
              </a:rPr>
              <a:t>Why This Attack Works</a:t>
            </a:r>
            <a:endParaRPr lang="en-US" sz="1100" dirty="0"/>
          </a:p>
        </p:txBody>
      </p:sp>
      <p:sp>
        <p:nvSpPr>
          <p:cNvPr id="23" name="Shape 14"/>
          <p:cNvSpPr/>
          <p:nvPr/>
        </p:nvSpPr>
        <p:spPr>
          <a:xfrm>
            <a:off x="5394960" y="1417320"/>
            <a:ext cx="73152" cy="73152"/>
          </a:xfrm>
          <a:prstGeom prst="rect">
            <a:avLst/>
          </a:prstGeom>
          <a:solidFill>
            <a:srgbClr val="F5C518"/>
          </a:solidFill>
          <a:ln w="12700">
            <a:solidFill>
              <a:srgbClr val="F5C518">
                <a:alpha val="0"/>
              </a:srgbClr>
            </a:solidFill>
            <a:prstDash val="solid"/>
          </a:ln>
        </p:spPr>
      </p:sp>
      <p:sp>
        <p:nvSpPr>
          <p:cNvPr id="24" name="Text 15"/>
          <p:cNvSpPr/>
          <p:nvPr/>
        </p:nvSpPr>
        <p:spPr>
          <a:xfrm>
            <a:off x="5577840" y="1371600"/>
            <a:ext cx="306324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Amazon is the #1 most impersonated brand worldwide</a:t>
            </a:r>
            <a:endParaRPr lang="en-US" sz="1000" dirty="0"/>
          </a:p>
        </p:txBody>
      </p:sp>
      <p:sp>
        <p:nvSpPr>
          <p:cNvPr id="25" name="Shape 16"/>
          <p:cNvSpPr/>
          <p:nvPr/>
        </p:nvSpPr>
        <p:spPr>
          <a:xfrm>
            <a:off x="5394960" y="1920240"/>
            <a:ext cx="73152" cy="73152"/>
          </a:xfrm>
          <a:prstGeom prst="rect">
            <a:avLst/>
          </a:prstGeom>
          <a:solidFill>
            <a:srgbClr val="F5C518"/>
          </a:solidFill>
          <a:ln w="12700">
            <a:solidFill>
              <a:srgbClr val="F5C518">
                <a:alpha val="0"/>
              </a:srgbClr>
            </a:solidFill>
            <a:prstDash val="solid"/>
          </a:ln>
        </p:spPr>
      </p:sp>
      <p:sp>
        <p:nvSpPr>
          <p:cNvPr id="26" name="Text 17"/>
          <p:cNvSpPr/>
          <p:nvPr/>
        </p:nvSpPr>
        <p:spPr>
          <a:xfrm>
            <a:off x="5577840" y="1874520"/>
            <a:ext cx="306324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Order anxiety is a powerful emotional trigger</a:t>
            </a:r>
            <a:endParaRPr lang="en-US" sz="1000" dirty="0"/>
          </a:p>
        </p:txBody>
      </p:sp>
      <p:sp>
        <p:nvSpPr>
          <p:cNvPr id="27" name="Shape 18"/>
          <p:cNvSpPr/>
          <p:nvPr/>
        </p:nvSpPr>
        <p:spPr>
          <a:xfrm>
            <a:off x="5394960" y="2423160"/>
            <a:ext cx="73152" cy="73152"/>
          </a:xfrm>
          <a:prstGeom prst="rect">
            <a:avLst/>
          </a:prstGeom>
          <a:solidFill>
            <a:srgbClr val="F5C518"/>
          </a:solidFill>
          <a:ln w="12700">
            <a:solidFill>
              <a:srgbClr val="F5C518">
                <a:alpha val="0"/>
              </a:srgbClr>
            </a:solidFill>
            <a:prstDash val="solid"/>
          </a:ln>
        </p:spPr>
      </p:sp>
      <p:sp>
        <p:nvSpPr>
          <p:cNvPr id="28" name="Text 19"/>
          <p:cNvSpPr/>
          <p:nvPr/>
        </p:nvSpPr>
        <p:spPr>
          <a:xfrm>
            <a:off x="5577840" y="2377440"/>
            <a:ext cx="306324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Logo and layout are nearly pixel-perfect replicas</a:t>
            </a:r>
            <a:endParaRPr lang="en-US" sz="1000" dirty="0"/>
          </a:p>
        </p:txBody>
      </p:sp>
      <p:sp>
        <p:nvSpPr>
          <p:cNvPr id="29" name="Shape 20"/>
          <p:cNvSpPr/>
          <p:nvPr/>
        </p:nvSpPr>
        <p:spPr>
          <a:xfrm>
            <a:off x="5394960" y="2926080"/>
            <a:ext cx="73152" cy="73152"/>
          </a:xfrm>
          <a:prstGeom prst="rect">
            <a:avLst/>
          </a:prstGeom>
          <a:solidFill>
            <a:srgbClr val="F5C518"/>
          </a:solidFill>
          <a:ln w="12700">
            <a:solidFill>
              <a:srgbClr val="F5C518">
                <a:alpha val="0"/>
              </a:srgbClr>
            </a:solidFill>
            <a:prstDash val="solid"/>
          </a:ln>
        </p:spPr>
      </p:sp>
      <p:sp>
        <p:nvSpPr>
          <p:cNvPr id="30" name="Text 21"/>
          <p:cNvSpPr/>
          <p:nvPr/>
        </p:nvSpPr>
        <p:spPr>
          <a:xfrm>
            <a:off x="5577840" y="2880360"/>
            <a:ext cx="306324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Shortened URL completely hides the real destination</a:t>
            </a:r>
            <a:endParaRPr lang="en-US" sz="1000" dirty="0"/>
          </a:p>
        </p:txBody>
      </p:sp>
      <p:sp>
        <p:nvSpPr>
          <p:cNvPr id="31" name="Shape 22"/>
          <p:cNvSpPr/>
          <p:nvPr/>
        </p:nvSpPr>
        <p:spPr>
          <a:xfrm>
            <a:off x="5394960" y="3429000"/>
            <a:ext cx="73152" cy="73152"/>
          </a:xfrm>
          <a:prstGeom prst="rect">
            <a:avLst/>
          </a:prstGeom>
          <a:solidFill>
            <a:srgbClr val="F5C518"/>
          </a:solidFill>
          <a:ln w="12700">
            <a:solidFill>
              <a:srgbClr val="F5C518">
                <a:alpha val="0"/>
              </a:srgbClr>
            </a:solidFill>
            <a:prstDash val="solid"/>
          </a:ln>
        </p:spPr>
      </p:sp>
      <p:sp>
        <p:nvSpPr>
          <p:cNvPr id="32" name="Text 23"/>
          <p:cNvSpPr/>
          <p:nvPr/>
        </p:nvSpPr>
        <p:spPr>
          <a:xfrm>
            <a:off x="5577840" y="3383280"/>
            <a:ext cx="306324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12-hour deadline bypasses rational decision-making</a:t>
            </a:r>
            <a:endParaRPr lang="en-US" sz="1000" dirty="0"/>
          </a:p>
        </p:txBody>
      </p:sp>
      <p:sp>
        <p:nvSpPr>
          <p:cNvPr id="33" name="Shape 24"/>
          <p:cNvSpPr/>
          <p:nvPr/>
        </p:nvSpPr>
        <p:spPr>
          <a:xfrm>
            <a:off x="5394960" y="3931920"/>
            <a:ext cx="73152" cy="73152"/>
          </a:xfrm>
          <a:prstGeom prst="rect">
            <a:avLst/>
          </a:prstGeom>
          <a:solidFill>
            <a:srgbClr val="F5C518"/>
          </a:solidFill>
          <a:ln w="12700">
            <a:solidFill>
              <a:srgbClr val="F5C518">
                <a:alpha val="0"/>
              </a:srgbClr>
            </a:solidFill>
            <a:prstDash val="solid"/>
          </a:ln>
        </p:spPr>
      </p:sp>
      <p:sp>
        <p:nvSpPr>
          <p:cNvPr id="34" name="Text 25"/>
          <p:cNvSpPr/>
          <p:nvPr/>
        </p:nvSpPr>
        <p:spPr>
          <a:xfrm>
            <a:off x="5577840" y="3886200"/>
            <a:ext cx="306324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Millions expect legitimate Amazon emails daily — this blends in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10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Recognizing Fake Websites</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pic>
        <p:nvPicPr>
          <p:cNvPr id="6" name="Image 0" descr="preencoded.png"/>
          <p:cNvPicPr>
            <a:picLocks noChangeAspect="1"/>
          </p:cNvPicPr>
          <p:nvPr/>
        </p:nvPicPr>
        <p:blipFill>
          <a:blip r:embed="rId3"/>
          <a:stretch>
            <a:fillRect/>
          </a:stretch>
        </p:blipFill>
        <p:spPr>
          <a:xfrm>
            <a:off x="7595758" y="768493"/>
            <a:ext cx="949906" cy="1190549"/>
          </a:xfrm>
          <a:prstGeom prst="rect">
            <a:avLst/>
          </a:prstGeom>
        </p:spPr>
      </p:pic>
      <p:sp>
        <p:nvSpPr>
          <p:cNvPr id="7" name="Shape 4"/>
          <p:cNvSpPr/>
          <p:nvPr/>
        </p:nvSpPr>
        <p:spPr>
          <a:xfrm>
            <a:off x="457200" y="896112"/>
            <a:ext cx="6812280" cy="548640"/>
          </a:xfrm>
          <a:prstGeom prst="rect">
            <a:avLst/>
          </a:prstGeom>
          <a:solidFill>
            <a:srgbClr val="2B2B2B"/>
          </a:solidFill>
          <a:ln w="12700">
            <a:solidFill>
              <a:srgbClr val="2B2B2B">
                <a:alpha val="0"/>
              </a:srgbClr>
            </a:solidFill>
            <a:prstDash val="solid"/>
          </a:ln>
        </p:spPr>
      </p:sp>
      <p:sp>
        <p:nvSpPr>
          <p:cNvPr id="8" name="Shape 5"/>
          <p:cNvSpPr/>
          <p:nvPr/>
        </p:nvSpPr>
        <p:spPr>
          <a:xfrm>
            <a:off x="1188720" y="969264"/>
            <a:ext cx="5943600" cy="365760"/>
          </a:xfrm>
          <a:prstGeom prst="roundRect">
            <a:avLst>
              <a:gd name="adj" fmla="val 10000"/>
            </a:avLst>
          </a:prstGeom>
          <a:solidFill>
            <a:srgbClr val="1A1A1A"/>
          </a:solidFill>
          <a:ln w="12700">
            <a:solidFill>
              <a:srgbClr val="555555"/>
            </a:solidFill>
            <a:prstDash val="solid"/>
          </a:ln>
        </p:spPr>
      </p:sp>
      <p:sp>
        <p:nvSpPr>
          <p:cNvPr id="9" name="Text 6"/>
          <p:cNvSpPr/>
          <p:nvPr/>
        </p:nvSpPr>
        <p:spPr>
          <a:xfrm>
            <a:off x="1298448" y="1005840"/>
            <a:ext cx="5742432" cy="256032"/>
          </a:xfrm>
          <a:prstGeom prst="rect">
            <a:avLst/>
          </a:prstGeom>
          <a:noFill/>
          <a:ln/>
        </p:spPr>
        <p:txBody>
          <a:bodyPr wrap="square" lIns="0" tIns="0" rIns="0" bIns="0" rtlCol="0" anchor="ctr"/>
          <a:lstStyle/>
          <a:p>
            <a:pPr marL="0" indent="0">
              <a:buNone/>
            </a:pPr>
            <a:r>
              <a:rPr lang="en-US" sz="1000" dirty="0">
                <a:solidFill>
                  <a:srgbClr val="E8523A"/>
                </a:solidFill>
                <a:latin typeface="Consolas" pitchFamily="34" charset="0"/>
                <a:ea typeface="Consolas" pitchFamily="34" charset="-122"/>
                <a:cs typeface="Consolas" pitchFamily="34" charset="-120"/>
              </a:rPr>
              <a:t>⚠️  http://paypa1-secure-login.com/account/verify</a:t>
            </a:r>
            <a:endParaRPr lang="en-US" sz="1000" dirty="0"/>
          </a:p>
        </p:txBody>
      </p:sp>
      <p:sp>
        <p:nvSpPr>
          <p:cNvPr id="10" name="Text 7"/>
          <p:cNvSpPr/>
          <p:nvPr/>
        </p:nvSpPr>
        <p:spPr>
          <a:xfrm>
            <a:off x="530352" y="987552"/>
            <a:ext cx="640080" cy="256032"/>
          </a:xfrm>
          <a:prstGeom prst="rect">
            <a:avLst/>
          </a:prstGeom>
          <a:noFill/>
          <a:ln/>
        </p:spPr>
        <p:txBody>
          <a:bodyPr wrap="square" lIns="0" tIns="0" rIns="0" bIns="0" rtlCol="0" anchor="ctr"/>
          <a:lstStyle/>
          <a:p>
            <a:pPr marL="0" indent="0">
              <a:buNone/>
            </a:pPr>
            <a:r>
              <a:rPr lang="en-US" sz="850" dirty="0">
                <a:solidFill>
                  <a:srgbClr val="FFFFFF"/>
                </a:solidFill>
              </a:rPr>
              <a:t>🔴  🟡  🟢</a:t>
            </a:r>
            <a:endParaRPr lang="en-US" sz="850" dirty="0"/>
          </a:p>
        </p:txBody>
      </p:sp>
      <p:sp>
        <p:nvSpPr>
          <p:cNvPr id="11" name="Shape 8"/>
          <p:cNvSpPr/>
          <p:nvPr/>
        </p:nvSpPr>
        <p:spPr>
          <a:xfrm>
            <a:off x="457200" y="1554480"/>
            <a:ext cx="6812280" cy="475488"/>
          </a:xfrm>
          <a:prstGeom prst="rect">
            <a:avLst/>
          </a:prstGeom>
          <a:solidFill>
            <a:srgbClr val="FEF3B0"/>
          </a:solidFill>
          <a:ln w="12700">
            <a:solidFill>
              <a:srgbClr val="F5C518"/>
            </a:solidFill>
            <a:prstDash val="solid"/>
          </a:ln>
        </p:spPr>
      </p:sp>
      <p:sp>
        <p:nvSpPr>
          <p:cNvPr id="12" name="Text 9"/>
          <p:cNvSpPr/>
          <p:nvPr/>
        </p:nvSpPr>
        <p:spPr>
          <a:xfrm>
            <a:off x="566928" y="1627632"/>
            <a:ext cx="1645920" cy="256032"/>
          </a:xfrm>
          <a:prstGeom prst="rect">
            <a:avLst/>
          </a:prstGeom>
          <a:noFill/>
          <a:ln/>
        </p:spPr>
        <p:txBody>
          <a:bodyPr wrap="square" lIns="0" tIns="0" rIns="0" bIns="0" rtlCol="0" anchor="ctr"/>
          <a:lstStyle/>
          <a:p>
            <a:pPr marL="0" indent="0">
              <a:buNone/>
            </a:pPr>
            <a:r>
              <a:rPr lang="en-US" sz="1000" b="1" dirty="0">
                <a:solidFill>
                  <a:srgbClr val="1A2340"/>
                </a:solidFill>
                <a:latin typeface="Georgia" pitchFamily="34" charset="0"/>
                <a:ea typeface="Georgia" pitchFamily="34" charset="-122"/>
                <a:cs typeface="Georgia" pitchFamily="34" charset="-120"/>
              </a:rPr>
              <a:t>⚠️  Common Myth: </a:t>
            </a:r>
            <a:endParaRPr lang="en-US" sz="1000" dirty="0"/>
          </a:p>
        </p:txBody>
      </p:sp>
      <p:sp>
        <p:nvSpPr>
          <p:cNvPr id="13" name="Text 10"/>
          <p:cNvSpPr/>
          <p:nvPr/>
        </p:nvSpPr>
        <p:spPr>
          <a:xfrm>
            <a:off x="2103120" y="1600200"/>
            <a:ext cx="5029200" cy="384048"/>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"HTTPS and a padlock mean a site is safe." — FALSE. 83% of phishing sites now use HTTPS. The padlock only means your connection is encrypted, not that the site is trustworthy.</a:t>
            </a:r>
            <a:endParaRPr lang="en-US" sz="950" dirty="0"/>
          </a:p>
        </p:txBody>
      </p:sp>
      <p:sp>
        <p:nvSpPr>
          <p:cNvPr id="14" name="Shape 11"/>
          <p:cNvSpPr/>
          <p:nvPr/>
        </p:nvSpPr>
        <p:spPr>
          <a:xfrm>
            <a:off x="457200" y="2148840"/>
            <a:ext cx="4114800" cy="822960"/>
          </a:xfrm>
          <a:prstGeom prst="rect">
            <a:avLst/>
          </a:prstGeom>
          <a:solidFill>
            <a:srgbClr val="F7F8FC"/>
          </a:solidFill>
          <a:ln w="12700">
            <a:solidFill>
              <a:srgbClr val="D8DCE8"/>
            </a:solidFill>
            <a:prstDash val="solid"/>
          </a:ln>
        </p:spPr>
      </p:sp>
      <p:sp>
        <p:nvSpPr>
          <p:cNvPr id="15" name="Shape 12"/>
          <p:cNvSpPr/>
          <p:nvPr/>
        </p:nvSpPr>
        <p:spPr>
          <a:xfrm>
            <a:off x="457200" y="2148840"/>
            <a:ext cx="45720" cy="822960"/>
          </a:xfrm>
          <a:prstGeom prst="rect">
            <a:avLst/>
          </a:prstGeom>
          <a:solidFill>
            <a:srgbClr val="1A2340"/>
          </a:solidFill>
          <a:ln w="12700">
            <a:solidFill>
              <a:srgbClr val="1A2340">
                <a:alpha val="0"/>
              </a:srgbClr>
            </a:solidFill>
            <a:prstDash val="solid"/>
          </a:ln>
        </p:spPr>
      </p:sp>
      <p:pic>
        <p:nvPicPr>
          <p:cNvPr id="16" name="Image 1" descr="preencoded.png"/>
          <p:cNvPicPr>
            <a:picLocks noChangeAspect="1"/>
          </p:cNvPicPr>
          <p:nvPr/>
        </p:nvPicPr>
        <p:blipFill>
          <a:blip r:embed="rId4"/>
          <a:stretch>
            <a:fillRect/>
          </a:stretch>
        </p:blipFill>
        <p:spPr>
          <a:xfrm>
            <a:off x="603504" y="2350008"/>
            <a:ext cx="347472" cy="347472"/>
          </a:xfrm>
          <a:prstGeom prst="rect">
            <a:avLst/>
          </a:prstGeom>
        </p:spPr>
      </p:pic>
      <p:sp>
        <p:nvSpPr>
          <p:cNvPr id="17" name="Text 13"/>
          <p:cNvSpPr/>
          <p:nvPr/>
        </p:nvSpPr>
        <p:spPr>
          <a:xfrm>
            <a:off x="1078992" y="2221992"/>
            <a:ext cx="3364992" cy="256032"/>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Read the Full Domain Carefully</a:t>
            </a:r>
            <a:endParaRPr lang="en-US" sz="1150" dirty="0"/>
          </a:p>
        </p:txBody>
      </p:sp>
      <p:sp>
        <p:nvSpPr>
          <p:cNvPr id="18" name="Text 14"/>
          <p:cNvSpPr/>
          <p:nvPr/>
        </p:nvSpPr>
        <p:spPr>
          <a:xfrm>
            <a:off x="1078992" y="2514600"/>
            <a:ext cx="3383280"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paypa1.com ≠ paypal.com — check for digit swaps, hyphens, extra words, and wrong TLDs like .net vs .com</a:t>
            </a:r>
            <a:endParaRPr lang="en-US" sz="900" dirty="0"/>
          </a:p>
        </p:txBody>
      </p:sp>
      <p:sp>
        <p:nvSpPr>
          <p:cNvPr id="19" name="Shape 15"/>
          <p:cNvSpPr/>
          <p:nvPr/>
        </p:nvSpPr>
        <p:spPr>
          <a:xfrm>
            <a:off x="4754880" y="2148840"/>
            <a:ext cx="4114800" cy="822960"/>
          </a:xfrm>
          <a:prstGeom prst="rect">
            <a:avLst/>
          </a:prstGeom>
          <a:solidFill>
            <a:srgbClr val="F7F8FC"/>
          </a:solidFill>
          <a:ln w="12700">
            <a:solidFill>
              <a:srgbClr val="D8DCE8"/>
            </a:solidFill>
            <a:prstDash val="solid"/>
          </a:ln>
        </p:spPr>
      </p:sp>
      <p:sp>
        <p:nvSpPr>
          <p:cNvPr id="20" name="Shape 16"/>
          <p:cNvSpPr/>
          <p:nvPr/>
        </p:nvSpPr>
        <p:spPr>
          <a:xfrm>
            <a:off x="4754880" y="2148840"/>
            <a:ext cx="45720" cy="822960"/>
          </a:xfrm>
          <a:prstGeom prst="rect">
            <a:avLst/>
          </a:prstGeom>
          <a:solidFill>
            <a:srgbClr val="4A72C4"/>
          </a:solidFill>
          <a:ln w="12700">
            <a:solidFill>
              <a:srgbClr val="4A72C4">
                <a:alpha val="0"/>
              </a:srgbClr>
            </a:solidFill>
            <a:prstDash val="solid"/>
          </a:ln>
        </p:spPr>
      </p:sp>
      <p:pic>
        <p:nvPicPr>
          <p:cNvPr id="21" name="Image 2" descr="preencoded.png"/>
          <p:cNvPicPr>
            <a:picLocks noChangeAspect="1"/>
          </p:cNvPicPr>
          <p:nvPr/>
        </p:nvPicPr>
        <p:blipFill>
          <a:blip r:embed="rId5"/>
          <a:stretch>
            <a:fillRect/>
          </a:stretch>
        </p:blipFill>
        <p:spPr>
          <a:xfrm>
            <a:off x="4901184" y="2350008"/>
            <a:ext cx="347472" cy="347472"/>
          </a:xfrm>
          <a:prstGeom prst="rect">
            <a:avLst/>
          </a:prstGeom>
        </p:spPr>
      </p:pic>
      <p:sp>
        <p:nvSpPr>
          <p:cNvPr id="22" name="Text 17"/>
          <p:cNvSpPr/>
          <p:nvPr/>
        </p:nvSpPr>
        <p:spPr>
          <a:xfrm>
            <a:off x="5376672" y="2221992"/>
            <a:ext cx="3364992" cy="256032"/>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Click the Padlock for Certificate Info</a:t>
            </a:r>
            <a:endParaRPr lang="en-US" sz="1150" dirty="0"/>
          </a:p>
        </p:txBody>
      </p:sp>
      <p:sp>
        <p:nvSpPr>
          <p:cNvPr id="23" name="Text 18"/>
          <p:cNvSpPr/>
          <p:nvPr/>
        </p:nvSpPr>
        <p:spPr>
          <a:xfrm>
            <a:off x="5376672" y="2514600"/>
            <a:ext cx="3383280"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Padlock → Certificate → 'Issued To' — this reveals who actually owns the site you're viewing</a:t>
            </a:r>
            <a:endParaRPr lang="en-US" sz="900" dirty="0"/>
          </a:p>
        </p:txBody>
      </p:sp>
      <p:sp>
        <p:nvSpPr>
          <p:cNvPr id="24" name="Shape 19"/>
          <p:cNvSpPr/>
          <p:nvPr/>
        </p:nvSpPr>
        <p:spPr>
          <a:xfrm>
            <a:off x="457200" y="3108960"/>
            <a:ext cx="4114800" cy="822960"/>
          </a:xfrm>
          <a:prstGeom prst="rect">
            <a:avLst/>
          </a:prstGeom>
          <a:solidFill>
            <a:srgbClr val="F7F8FC"/>
          </a:solidFill>
          <a:ln w="12700">
            <a:solidFill>
              <a:srgbClr val="D8DCE8"/>
            </a:solidFill>
            <a:prstDash val="solid"/>
          </a:ln>
        </p:spPr>
      </p:sp>
      <p:sp>
        <p:nvSpPr>
          <p:cNvPr id="25" name="Shape 20"/>
          <p:cNvSpPr/>
          <p:nvPr/>
        </p:nvSpPr>
        <p:spPr>
          <a:xfrm>
            <a:off x="457200" y="3108960"/>
            <a:ext cx="45720" cy="822960"/>
          </a:xfrm>
          <a:prstGeom prst="rect">
            <a:avLst/>
          </a:prstGeom>
          <a:solidFill>
            <a:srgbClr val="1A2340"/>
          </a:solidFill>
          <a:ln w="12700">
            <a:solidFill>
              <a:srgbClr val="1A2340">
                <a:alpha val="0"/>
              </a:srgbClr>
            </a:solidFill>
            <a:prstDash val="solid"/>
          </a:ln>
        </p:spPr>
      </p:sp>
      <p:pic>
        <p:nvPicPr>
          <p:cNvPr id="26" name="Image 3" descr="preencoded.png"/>
          <p:cNvPicPr>
            <a:picLocks noChangeAspect="1"/>
          </p:cNvPicPr>
          <p:nvPr/>
        </p:nvPicPr>
        <p:blipFill>
          <a:blip r:embed="rId6"/>
          <a:stretch>
            <a:fillRect/>
          </a:stretch>
        </p:blipFill>
        <p:spPr>
          <a:xfrm>
            <a:off x="603504" y="3310128"/>
            <a:ext cx="347472" cy="347472"/>
          </a:xfrm>
          <a:prstGeom prst="rect">
            <a:avLst/>
          </a:prstGeom>
        </p:spPr>
      </p:pic>
      <p:sp>
        <p:nvSpPr>
          <p:cNvPr id="27" name="Text 21"/>
          <p:cNvSpPr/>
          <p:nvPr/>
        </p:nvSpPr>
        <p:spPr>
          <a:xfrm>
            <a:off x="1078992" y="3182112"/>
            <a:ext cx="3364992" cy="256032"/>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Hover Over Every Link Before Clicking</a:t>
            </a:r>
            <a:endParaRPr lang="en-US" sz="1150" dirty="0"/>
          </a:p>
        </p:txBody>
      </p:sp>
      <p:sp>
        <p:nvSpPr>
          <p:cNvPr id="28" name="Text 22"/>
          <p:cNvSpPr/>
          <p:nvPr/>
        </p:nvSpPr>
        <p:spPr>
          <a:xfrm>
            <a:off x="1078992" y="3474720"/>
            <a:ext cx="3383280"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The browser status bar shows the real destination URL before you commit to clicking</a:t>
            </a:r>
            <a:endParaRPr lang="en-US" sz="900" dirty="0"/>
          </a:p>
        </p:txBody>
      </p:sp>
      <p:sp>
        <p:nvSpPr>
          <p:cNvPr id="29" name="Shape 23"/>
          <p:cNvSpPr/>
          <p:nvPr/>
        </p:nvSpPr>
        <p:spPr>
          <a:xfrm>
            <a:off x="4754880" y="3108960"/>
            <a:ext cx="4114800" cy="822960"/>
          </a:xfrm>
          <a:prstGeom prst="rect">
            <a:avLst/>
          </a:prstGeom>
          <a:solidFill>
            <a:srgbClr val="F7F8FC"/>
          </a:solidFill>
          <a:ln w="12700">
            <a:solidFill>
              <a:srgbClr val="D8DCE8"/>
            </a:solidFill>
            <a:prstDash val="solid"/>
          </a:ln>
        </p:spPr>
      </p:sp>
      <p:sp>
        <p:nvSpPr>
          <p:cNvPr id="30" name="Shape 24"/>
          <p:cNvSpPr/>
          <p:nvPr/>
        </p:nvSpPr>
        <p:spPr>
          <a:xfrm>
            <a:off x="4754880" y="3108960"/>
            <a:ext cx="45720" cy="822960"/>
          </a:xfrm>
          <a:prstGeom prst="rect">
            <a:avLst/>
          </a:prstGeom>
          <a:solidFill>
            <a:srgbClr val="4A72C4"/>
          </a:solidFill>
          <a:ln w="12700">
            <a:solidFill>
              <a:srgbClr val="4A72C4">
                <a:alpha val="0"/>
              </a:srgbClr>
            </a:solidFill>
            <a:prstDash val="solid"/>
          </a:ln>
        </p:spPr>
      </p:sp>
      <p:pic>
        <p:nvPicPr>
          <p:cNvPr id="31" name="Image 4" descr="preencoded.png"/>
          <p:cNvPicPr>
            <a:picLocks noChangeAspect="1"/>
          </p:cNvPicPr>
          <p:nvPr/>
        </p:nvPicPr>
        <p:blipFill>
          <a:blip r:embed="rId7"/>
          <a:stretch>
            <a:fillRect/>
          </a:stretch>
        </p:blipFill>
        <p:spPr>
          <a:xfrm>
            <a:off x="4901184" y="3310128"/>
            <a:ext cx="347472" cy="347472"/>
          </a:xfrm>
          <a:prstGeom prst="rect">
            <a:avLst/>
          </a:prstGeom>
        </p:spPr>
      </p:pic>
      <p:sp>
        <p:nvSpPr>
          <p:cNvPr id="32" name="Text 25"/>
          <p:cNvSpPr/>
          <p:nvPr/>
        </p:nvSpPr>
        <p:spPr>
          <a:xfrm>
            <a:off x="5376672" y="3182112"/>
            <a:ext cx="3364992" cy="256032"/>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Notice What Information Is Requested</a:t>
            </a:r>
            <a:endParaRPr lang="en-US" sz="1150" dirty="0"/>
          </a:p>
        </p:txBody>
      </p:sp>
      <p:sp>
        <p:nvSpPr>
          <p:cNvPr id="33" name="Text 26"/>
          <p:cNvSpPr/>
          <p:nvPr/>
        </p:nvSpPr>
        <p:spPr>
          <a:xfrm>
            <a:off x="5376672" y="3474720"/>
            <a:ext cx="3383280"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Any login page asking for your SSN, card number, or CVV alongside a password is a trap</a:t>
            </a:r>
            <a:endParaRPr lang="en-US" sz="900" dirty="0"/>
          </a:p>
        </p:txBody>
      </p:sp>
      <p:sp>
        <p:nvSpPr>
          <p:cNvPr id="34" name="Shape 27"/>
          <p:cNvSpPr/>
          <p:nvPr/>
        </p:nvSpPr>
        <p:spPr>
          <a:xfrm>
            <a:off x="457200" y="4069080"/>
            <a:ext cx="4114800" cy="822960"/>
          </a:xfrm>
          <a:prstGeom prst="rect">
            <a:avLst/>
          </a:prstGeom>
          <a:solidFill>
            <a:srgbClr val="F7F8FC"/>
          </a:solidFill>
          <a:ln w="12700">
            <a:solidFill>
              <a:srgbClr val="D8DCE8"/>
            </a:solidFill>
            <a:prstDash val="solid"/>
          </a:ln>
        </p:spPr>
      </p:sp>
      <p:sp>
        <p:nvSpPr>
          <p:cNvPr id="35" name="Shape 28"/>
          <p:cNvSpPr/>
          <p:nvPr/>
        </p:nvSpPr>
        <p:spPr>
          <a:xfrm>
            <a:off x="457200" y="4069080"/>
            <a:ext cx="45720" cy="822960"/>
          </a:xfrm>
          <a:prstGeom prst="rect">
            <a:avLst/>
          </a:prstGeom>
          <a:solidFill>
            <a:srgbClr val="1A2340"/>
          </a:solidFill>
          <a:ln w="12700">
            <a:solidFill>
              <a:srgbClr val="1A2340">
                <a:alpha val="0"/>
              </a:srgbClr>
            </a:solidFill>
            <a:prstDash val="solid"/>
          </a:ln>
        </p:spPr>
      </p:sp>
      <p:pic>
        <p:nvPicPr>
          <p:cNvPr id="36" name="Image 5" descr="preencoded.png"/>
          <p:cNvPicPr>
            <a:picLocks noChangeAspect="1"/>
          </p:cNvPicPr>
          <p:nvPr/>
        </p:nvPicPr>
        <p:blipFill>
          <a:blip r:embed="rId8"/>
          <a:stretch>
            <a:fillRect/>
          </a:stretch>
        </p:blipFill>
        <p:spPr>
          <a:xfrm>
            <a:off x="603504" y="4270248"/>
            <a:ext cx="347472" cy="347472"/>
          </a:xfrm>
          <a:prstGeom prst="rect">
            <a:avLst/>
          </a:prstGeom>
        </p:spPr>
      </p:pic>
      <p:sp>
        <p:nvSpPr>
          <p:cNvPr id="37" name="Text 29"/>
          <p:cNvSpPr/>
          <p:nvPr/>
        </p:nvSpPr>
        <p:spPr>
          <a:xfrm>
            <a:off x="1078992" y="4142232"/>
            <a:ext cx="3364992" cy="256032"/>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Watch for Design Inconsistencies</a:t>
            </a:r>
            <a:endParaRPr lang="en-US" sz="1150" dirty="0"/>
          </a:p>
        </p:txBody>
      </p:sp>
      <p:sp>
        <p:nvSpPr>
          <p:cNvPr id="38" name="Text 30"/>
          <p:cNvSpPr/>
          <p:nvPr/>
        </p:nvSpPr>
        <p:spPr>
          <a:xfrm>
            <a:off x="1078992" y="4434840"/>
            <a:ext cx="3383280"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Stretched logos, mismatched fonts, and broken links — signs of a rushed fake assembled quickly</a:t>
            </a:r>
            <a:endParaRPr lang="en-US" sz="900" dirty="0"/>
          </a:p>
        </p:txBody>
      </p:sp>
      <p:sp>
        <p:nvSpPr>
          <p:cNvPr id="39" name="Shape 31"/>
          <p:cNvSpPr/>
          <p:nvPr/>
        </p:nvSpPr>
        <p:spPr>
          <a:xfrm>
            <a:off x="4754880" y="4069080"/>
            <a:ext cx="4114800" cy="822960"/>
          </a:xfrm>
          <a:prstGeom prst="rect">
            <a:avLst/>
          </a:prstGeom>
          <a:solidFill>
            <a:srgbClr val="F7F8FC"/>
          </a:solidFill>
          <a:ln w="12700">
            <a:solidFill>
              <a:srgbClr val="D8DCE8"/>
            </a:solidFill>
            <a:prstDash val="solid"/>
          </a:ln>
        </p:spPr>
      </p:sp>
      <p:sp>
        <p:nvSpPr>
          <p:cNvPr id="40" name="Shape 32"/>
          <p:cNvSpPr/>
          <p:nvPr/>
        </p:nvSpPr>
        <p:spPr>
          <a:xfrm>
            <a:off x="4754880" y="4069080"/>
            <a:ext cx="45720" cy="822960"/>
          </a:xfrm>
          <a:prstGeom prst="rect">
            <a:avLst/>
          </a:prstGeom>
          <a:solidFill>
            <a:srgbClr val="4A72C4"/>
          </a:solidFill>
          <a:ln w="12700">
            <a:solidFill>
              <a:srgbClr val="4A72C4">
                <a:alpha val="0"/>
              </a:srgbClr>
            </a:solidFill>
            <a:prstDash val="solid"/>
          </a:ln>
        </p:spPr>
      </p:sp>
      <p:pic>
        <p:nvPicPr>
          <p:cNvPr id="41" name="Image 6" descr="preencoded.png"/>
          <p:cNvPicPr>
            <a:picLocks noChangeAspect="1"/>
          </p:cNvPicPr>
          <p:nvPr/>
        </p:nvPicPr>
        <p:blipFill>
          <a:blip r:embed="rId9"/>
          <a:stretch>
            <a:fillRect/>
          </a:stretch>
        </p:blipFill>
        <p:spPr>
          <a:xfrm>
            <a:off x="4901184" y="4270248"/>
            <a:ext cx="347472" cy="347472"/>
          </a:xfrm>
          <a:prstGeom prst="rect">
            <a:avLst/>
          </a:prstGeom>
        </p:spPr>
      </p:pic>
      <p:sp>
        <p:nvSpPr>
          <p:cNvPr id="42" name="Text 33"/>
          <p:cNvSpPr/>
          <p:nvPr/>
        </p:nvSpPr>
        <p:spPr>
          <a:xfrm>
            <a:off x="5376672" y="4142232"/>
            <a:ext cx="3364992" cy="256032"/>
          </a:xfrm>
          <a:prstGeom prst="rect">
            <a:avLst/>
          </a:prstGeom>
          <a:noFill/>
          <a:ln/>
        </p:spPr>
        <p:txBody>
          <a:bodyPr wrap="square" lIns="0" tIns="0" rIns="0" bIns="0" rtlCol="0" anchor="ctr"/>
          <a:lstStyle/>
          <a:p>
            <a:pPr marL="0" indent="0">
              <a:buNone/>
            </a:pPr>
            <a:r>
              <a:rPr lang="en-US" sz="1150" b="1" dirty="0">
                <a:solidFill>
                  <a:srgbClr val="1A2340"/>
                </a:solidFill>
                <a:latin typeface="Georgia" pitchFamily="34" charset="0"/>
                <a:ea typeface="Georgia" pitchFamily="34" charset="-122"/>
                <a:cs typeface="Georgia" pitchFamily="34" charset="-120"/>
              </a:rPr>
              <a:t>Bookmark Every Official Site You Use</a:t>
            </a:r>
            <a:endParaRPr lang="en-US" sz="1150" dirty="0"/>
          </a:p>
        </p:txBody>
      </p:sp>
      <p:sp>
        <p:nvSpPr>
          <p:cNvPr id="43" name="Text 34"/>
          <p:cNvSpPr/>
          <p:nvPr/>
        </p:nvSpPr>
        <p:spPr>
          <a:xfrm>
            <a:off x="5376672" y="4434840"/>
            <a:ext cx="3383280" cy="384048"/>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Save your bank, email, and university URLs directly — never find them via a search engine result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11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Real vs. Fake Website — Side by Side</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4"/>
          <p:cNvSpPr/>
          <p:nvPr/>
        </p:nvSpPr>
        <p:spPr>
          <a:xfrm>
            <a:off x="1115568" y="896112"/>
            <a:ext cx="3566160" cy="384048"/>
          </a:xfrm>
          <a:prstGeom prst="rect">
            <a:avLst/>
          </a:prstGeom>
          <a:solidFill>
            <a:srgbClr val="2BAE76"/>
          </a:solidFill>
          <a:ln w="12700">
            <a:solidFill>
              <a:srgbClr val="2BAE76">
                <a:alpha val="0"/>
              </a:srgbClr>
            </a:solidFill>
            <a:prstDash val="solid"/>
          </a:ln>
        </p:spPr>
      </p:sp>
      <p:sp>
        <p:nvSpPr>
          <p:cNvPr id="8" name="Text 5"/>
          <p:cNvSpPr/>
          <p:nvPr/>
        </p:nvSpPr>
        <p:spPr>
          <a:xfrm>
            <a:off x="1115568" y="896112"/>
            <a:ext cx="35661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  Real Website</a:t>
            </a:r>
            <a:endParaRPr lang="en-US" sz="1300" dirty="0"/>
          </a:p>
        </p:txBody>
      </p:sp>
      <p:sp>
        <p:nvSpPr>
          <p:cNvPr id="9" name="Shape 6"/>
          <p:cNvSpPr/>
          <p:nvPr/>
        </p:nvSpPr>
        <p:spPr>
          <a:xfrm>
            <a:off x="4800600" y="896112"/>
            <a:ext cx="3566160" cy="384048"/>
          </a:xfrm>
          <a:prstGeom prst="rect">
            <a:avLst/>
          </a:prstGeom>
          <a:solidFill>
            <a:srgbClr val="E8523A"/>
          </a:solidFill>
          <a:ln w="12700">
            <a:solidFill>
              <a:srgbClr val="E8523A">
                <a:alpha val="0"/>
              </a:srgbClr>
            </a:solidFill>
            <a:prstDash val="solid"/>
          </a:ln>
        </p:spPr>
      </p:sp>
      <p:sp>
        <p:nvSpPr>
          <p:cNvPr id="10" name="Text 7"/>
          <p:cNvSpPr/>
          <p:nvPr/>
        </p:nvSpPr>
        <p:spPr>
          <a:xfrm>
            <a:off x="4800600" y="896112"/>
            <a:ext cx="35661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  Fake Website</a:t>
            </a:r>
            <a:endParaRPr lang="en-US" sz="1300" dirty="0"/>
          </a:p>
        </p:txBody>
      </p:sp>
      <p:sp>
        <p:nvSpPr>
          <p:cNvPr id="11" name="Shape 8"/>
          <p:cNvSpPr/>
          <p:nvPr/>
        </p:nvSpPr>
        <p:spPr>
          <a:xfrm>
            <a:off x="457200" y="1335024"/>
            <a:ext cx="640080" cy="475488"/>
          </a:xfrm>
          <a:prstGeom prst="rect">
            <a:avLst/>
          </a:prstGeom>
          <a:solidFill>
            <a:srgbClr val="1A2340"/>
          </a:solidFill>
          <a:ln w="12700">
            <a:solidFill>
              <a:srgbClr val="1A2340">
                <a:alpha val="0"/>
              </a:srgbClr>
            </a:solidFill>
            <a:prstDash val="solid"/>
          </a:ln>
        </p:spPr>
      </p:sp>
      <p:sp>
        <p:nvSpPr>
          <p:cNvPr id="12" name="Text 9"/>
          <p:cNvSpPr/>
          <p:nvPr/>
        </p:nvSpPr>
        <p:spPr>
          <a:xfrm>
            <a:off x="457200" y="1335024"/>
            <a:ext cx="640080"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URL</a:t>
            </a:r>
            <a:endParaRPr lang="en-US" sz="850" dirty="0"/>
          </a:p>
        </p:txBody>
      </p:sp>
      <p:sp>
        <p:nvSpPr>
          <p:cNvPr id="13" name="Shape 10"/>
          <p:cNvSpPr/>
          <p:nvPr/>
        </p:nvSpPr>
        <p:spPr>
          <a:xfrm>
            <a:off x="1115568" y="1335024"/>
            <a:ext cx="3566160" cy="475488"/>
          </a:xfrm>
          <a:prstGeom prst="rect">
            <a:avLst/>
          </a:prstGeom>
          <a:solidFill>
            <a:srgbClr val="FFFFFF"/>
          </a:solidFill>
          <a:ln w="12700">
            <a:solidFill>
              <a:srgbClr val="D4F3E6"/>
            </a:solidFill>
            <a:prstDash val="solid"/>
          </a:ln>
        </p:spPr>
      </p:sp>
      <p:sp>
        <p:nvSpPr>
          <p:cNvPr id="14" name="Text 11"/>
          <p:cNvSpPr/>
          <p:nvPr/>
        </p:nvSpPr>
        <p:spPr>
          <a:xfrm>
            <a:off x="1207008" y="1389888"/>
            <a:ext cx="3383280" cy="384048"/>
          </a:xfrm>
          <a:prstGeom prst="rect">
            <a:avLst/>
          </a:prstGeom>
          <a:noFill/>
          <a:ln/>
        </p:spPr>
        <p:txBody>
          <a:bodyPr wrap="square" rtlCol="0" anchor="ctr"/>
          <a:lstStyle/>
          <a:p>
            <a:pPr marL="0" indent="0">
              <a:buNone/>
            </a:pPr>
            <a:r>
              <a:rPr lang="en-US" sz="1050" dirty="0">
                <a:solidFill>
                  <a:srgbClr val="2BAE76"/>
                </a:solidFill>
                <a:latin typeface="Calibri" pitchFamily="34" charset="0"/>
                <a:ea typeface="Calibri" pitchFamily="34" charset="-122"/>
                <a:cs typeface="Calibri" pitchFamily="34" charset="-120"/>
              </a:rPr>
              <a:t>paypal.com</a:t>
            </a:r>
            <a:endParaRPr lang="en-US" sz="1050" dirty="0"/>
          </a:p>
        </p:txBody>
      </p:sp>
      <p:sp>
        <p:nvSpPr>
          <p:cNvPr id="15" name="Shape 12"/>
          <p:cNvSpPr/>
          <p:nvPr/>
        </p:nvSpPr>
        <p:spPr>
          <a:xfrm>
            <a:off x="4800600" y="1335024"/>
            <a:ext cx="3566160" cy="475488"/>
          </a:xfrm>
          <a:prstGeom prst="rect">
            <a:avLst/>
          </a:prstGeom>
          <a:solidFill>
            <a:srgbClr val="FFFFFF"/>
          </a:solidFill>
          <a:ln w="12700">
            <a:solidFill>
              <a:srgbClr val="FDEAE6"/>
            </a:solidFill>
            <a:prstDash val="solid"/>
          </a:ln>
        </p:spPr>
      </p:sp>
      <p:sp>
        <p:nvSpPr>
          <p:cNvPr id="16" name="Text 13"/>
          <p:cNvSpPr/>
          <p:nvPr/>
        </p:nvSpPr>
        <p:spPr>
          <a:xfrm>
            <a:off x="4892040" y="1389888"/>
            <a:ext cx="3383280" cy="384048"/>
          </a:xfrm>
          <a:prstGeom prst="rect">
            <a:avLst/>
          </a:prstGeom>
          <a:noFill/>
          <a:ln/>
        </p:spPr>
        <p:txBody>
          <a:bodyPr wrap="square" rtlCol="0" anchor="ctr"/>
          <a:lstStyle/>
          <a:p>
            <a:pPr marL="0" indent="0">
              <a:buNone/>
            </a:pPr>
            <a:r>
              <a:rPr lang="en-US" sz="1050" dirty="0">
                <a:solidFill>
                  <a:srgbClr val="E8523A"/>
                </a:solidFill>
                <a:latin typeface="Calibri" pitchFamily="34" charset="0"/>
                <a:ea typeface="Calibri" pitchFamily="34" charset="-122"/>
                <a:cs typeface="Calibri" pitchFamily="34" charset="-120"/>
              </a:rPr>
              <a:t>paypa1-secure.net</a:t>
            </a:r>
            <a:endParaRPr lang="en-US" sz="1050" dirty="0"/>
          </a:p>
        </p:txBody>
      </p:sp>
      <p:sp>
        <p:nvSpPr>
          <p:cNvPr id="17" name="Shape 14"/>
          <p:cNvSpPr/>
          <p:nvPr/>
        </p:nvSpPr>
        <p:spPr>
          <a:xfrm>
            <a:off x="457200" y="1865376"/>
            <a:ext cx="640080" cy="475488"/>
          </a:xfrm>
          <a:prstGeom prst="rect">
            <a:avLst/>
          </a:prstGeom>
          <a:solidFill>
            <a:srgbClr val="1A2340"/>
          </a:solidFill>
          <a:ln w="12700">
            <a:solidFill>
              <a:srgbClr val="1A2340">
                <a:alpha val="0"/>
              </a:srgbClr>
            </a:solidFill>
            <a:prstDash val="solid"/>
          </a:ln>
        </p:spPr>
      </p:sp>
      <p:sp>
        <p:nvSpPr>
          <p:cNvPr id="18" name="Text 15"/>
          <p:cNvSpPr/>
          <p:nvPr/>
        </p:nvSpPr>
        <p:spPr>
          <a:xfrm>
            <a:off x="457200" y="1865376"/>
            <a:ext cx="640080"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Protocol</a:t>
            </a:r>
            <a:endParaRPr lang="en-US" sz="850" dirty="0"/>
          </a:p>
        </p:txBody>
      </p:sp>
      <p:sp>
        <p:nvSpPr>
          <p:cNvPr id="19" name="Shape 16"/>
          <p:cNvSpPr/>
          <p:nvPr/>
        </p:nvSpPr>
        <p:spPr>
          <a:xfrm>
            <a:off x="1115568" y="1865376"/>
            <a:ext cx="3566160" cy="475488"/>
          </a:xfrm>
          <a:prstGeom prst="rect">
            <a:avLst/>
          </a:prstGeom>
          <a:solidFill>
            <a:srgbClr val="F7F8FC"/>
          </a:solidFill>
          <a:ln w="12700">
            <a:solidFill>
              <a:srgbClr val="D4F3E6"/>
            </a:solidFill>
            <a:prstDash val="solid"/>
          </a:ln>
        </p:spPr>
      </p:sp>
      <p:sp>
        <p:nvSpPr>
          <p:cNvPr id="20" name="Text 17"/>
          <p:cNvSpPr/>
          <p:nvPr/>
        </p:nvSpPr>
        <p:spPr>
          <a:xfrm>
            <a:off x="1207008" y="1920240"/>
            <a:ext cx="3383280" cy="384048"/>
          </a:xfrm>
          <a:prstGeom prst="rect">
            <a:avLst/>
          </a:prstGeom>
          <a:noFill/>
          <a:ln/>
        </p:spPr>
        <p:txBody>
          <a:bodyPr wrap="square" rtlCol="0" anchor="ctr"/>
          <a:lstStyle/>
          <a:p>
            <a:pPr marL="0" indent="0">
              <a:buNone/>
            </a:pPr>
            <a:r>
              <a:rPr lang="en-US" sz="1050" dirty="0">
                <a:solidFill>
                  <a:srgbClr val="2BAE76"/>
                </a:solidFill>
                <a:latin typeface="Calibri" pitchFamily="34" charset="0"/>
                <a:ea typeface="Calibri" pitchFamily="34" charset="-122"/>
                <a:cs typeface="Calibri" pitchFamily="34" charset="-120"/>
              </a:rPr>
              <a:t>https:// with verified certificate</a:t>
            </a:r>
            <a:endParaRPr lang="en-US" sz="1050" dirty="0"/>
          </a:p>
        </p:txBody>
      </p:sp>
      <p:sp>
        <p:nvSpPr>
          <p:cNvPr id="21" name="Shape 18"/>
          <p:cNvSpPr/>
          <p:nvPr/>
        </p:nvSpPr>
        <p:spPr>
          <a:xfrm>
            <a:off x="4800600" y="1865376"/>
            <a:ext cx="3566160" cy="475488"/>
          </a:xfrm>
          <a:prstGeom prst="rect">
            <a:avLst/>
          </a:prstGeom>
          <a:solidFill>
            <a:srgbClr val="F7F8FC"/>
          </a:solidFill>
          <a:ln w="12700">
            <a:solidFill>
              <a:srgbClr val="FDEAE6"/>
            </a:solidFill>
            <a:prstDash val="solid"/>
          </a:ln>
        </p:spPr>
      </p:sp>
      <p:sp>
        <p:nvSpPr>
          <p:cNvPr id="22" name="Text 19"/>
          <p:cNvSpPr/>
          <p:nvPr/>
        </p:nvSpPr>
        <p:spPr>
          <a:xfrm>
            <a:off x="4892040" y="1920240"/>
            <a:ext cx="3383280" cy="384048"/>
          </a:xfrm>
          <a:prstGeom prst="rect">
            <a:avLst/>
          </a:prstGeom>
          <a:noFill/>
          <a:ln/>
        </p:spPr>
        <p:txBody>
          <a:bodyPr wrap="square" rtlCol="0" anchor="ctr"/>
          <a:lstStyle/>
          <a:p>
            <a:pPr marL="0" indent="0">
              <a:buNone/>
            </a:pPr>
            <a:r>
              <a:rPr lang="en-US" sz="1050" dirty="0">
                <a:solidFill>
                  <a:srgbClr val="E8523A"/>
                </a:solidFill>
                <a:latin typeface="Calibri" pitchFamily="34" charset="0"/>
                <a:ea typeface="Calibri" pitchFamily="34" charset="-122"/>
                <a:cs typeface="Calibri" pitchFamily="34" charset="-120"/>
              </a:rPr>
              <a:t>https:// with self-signed cert or http://</a:t>
            </a:r>
            <a:endParaRPr lang="en-US" sz="1050" dirty="0"/>
          </a:p>
        </p:txBody>
      </p:sp>
      <p:sp>
        <p:nvSpPr>
          <p:cNvPr id="23" name="Shape 20"/>
          <p:cNvSpPr/>
          <p:nvPr/>
        </p:nvSpPr>
        <p:spPr>
          <a:xfrm>
            <a:off x="457200" y="2395728"/>
            <a:ext cx="640080" cy="475488"/>
          </a:xfrm>
          <a:prstGeom prst="rect">
            <a:avLst/>
          </a:prstGeom>
          <a:solidFill>
            <a:srgbClr val="1A2340"/>
          </a:solidFill>
          <a:ln w="12700">
            <a:solidFill>
              <a:srgbClr val="1A2340">
                <a:alpha val="0"/>
              </a:srgbClr>
            </a:solidFill>
            <a:prstDash val="solid"/>
          </a:ln>
        </p:spPr>
      </p:sp>
      <p:sp>
        <p:nvSpPr>
          <p:cNvPr id="24" name="Text 21"/>
          <p:cNvSpPr/>
          <p:nvPr/>
        </p:nvSpPr>
        <p:spPr>
          <a:xfrm>
            <a:off x="457200" y="2395728"/>
            <a:ext cx="640080"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SSL Owner</a:t>
            </a:r>
            <a:endParaRPr lang="en-US" sz="850" dirty="0"/>
          </a:p>
        </p:txBody>
      </p:sp>
      <p:sp>
        <p:nvSpPr>
          <p:cNvPr id="25" name="Shape 22"/>
          <p:cNvSpPr/>
          <p:nvPr/>
        </p:nvSpPr>
        <p:spPr>
          <a:xfrm>
            <a:off x="1115568" y="2395728"/>
            <a:ext cx="3566160" cy="475488"/>
          </a:xfrm>
          <a:prstGeom prst="rect">
            <a:avLst/>
          </a:prstGeom>
          <a:solidFill>
            <a:srgbClr val="FFFFFF"/>
          </a:solidFill>
          <a:ln w="12700">
            <a:solidFill>
              <a:srgbClr val="D4F3E6"/>
            </a:solidFill>
            <a:prstDash val="solid"/>
          </a:ln>
        </p:spPr>
      </p:sp>
      <p:sp>
        <p:nvSpPr>
          <p:cNvPr id="26" name="Text 23"/>
          <p:cNvSpPr/>
          <p:nvPr/>
        </p:nvSpPr>
        <p:spPr>
          <a:xfrm>
            <a:off x="1207008" y="2450592"/>
            <a:ext cx="3383280" cy="384048"/>
          </a:xfrm>
          <a:prstGeom prst="rect">
            <a:avLst/>
          </a:prstGeom>
          <a:noFill/>
          <a:ln/>
        </p:spPr>
        <p:txBody>
          <a:bodyPr wrap="square" rtlCol="0" anchor="ctr"/>
          <a:lstStyle/>
          <a:p>
            <a:pPr marL="0" indent="0">
              <a:buNone/>
            </a:pPr>
            <a:r>
              <a:rPr lang="en-US" sz="1050" dirty="0">
                <a:solidFill>
                  <a:srgbClr val="2BAE76"/>
                </a:solidFill>
                <a:latin typeface="Calibri" pitchFamily="34" charset="0"/>
                <a:ea typeface="Calibri" pitchFamily="34" charset="-122"/>
                <a:cs typeface="Calibri" pitchFamily="34" charset="-120"/>
              </a:rPr>
              <a:t>PayPal, Inc. (verified)</a:t>
            </a:r>
            <a:endParaRPr lang="en-US" sz="1050" dirty="0"/>
          </a:p>
        </p:txBody>
      </p:sp>
      <p:sp>
        <p:nvSpPr>
          <p:cNvPr id="27" name="Shape 24"/>
          <p:cNvSpPr/>
          <p:nvPr/>
        </p:nvSpPr>
        <p:spPr>
          <a:xfrm>
            <a:off x="4800600" y="2395728"/>
            <a:ext cx="3566160" cy="475488"/>
          </a:xfrm>
          <a:prstGeom prst="rect">
            <a:avLst/>
          </a:prstGeom>
          <a:solidFill>
            <a:srgbClr val="FFFFFF"/>
          </a:solidFill>
          <a:ln w="12700">
            <a:solidFill>
              <a:srgbClr val="FDEAE6"/>
            </a:solidFill>
            <a:prstDash val="solid"/>
          </a:ln>
        </p:spPr>
      </p:sp>
      <p:sp>
        <p:nvSpPr>
          <p:cNvPr id="28" name="Text 25"/>
          <p:cNvSpPr/>
          <p:nvPr/>
        </p:nvSpPr>
        <p:spPr>
          <a:xfrm>
            <a:off x="4892040" y="2450592"/>
            <a:ext cx="3383280" cy="384048"/>
          </a:xfrm>
          <a:prstGeom prst="rect">
            <a:avLst/>
          </a:prstGeom>
          <a:noFill/>
          <a:ln/>
        </p:spPr>
        <p:txBody>
          <a:bodyPr wrap="square" rtlCol="0" anchor="ctr"/>
          <a:lstStyle/>
          <a:p>
            <a:pPr marL="0" indent="0">
              <a:buNone/>
            </a:pPr>
            <a:r>
              <a:rPr lang="en-US" sz="1050" dirty="0">
                <a:solidFill>
                  <a:srgbClr val="E8523A"/>
                </a:solidFill>
                <a:latin typeface="Calibri" pitchFamily="34" charset="0"/>
                <a:ea typeface="Calibri" pitchFamily="34" charset="-122"/>
                <a:cs typeface="Calibri" pitchFamily="34" charset="-120"/>
              </a:rPr>
              <a:t>Unknown registrar or proxy provider</a:t>
            </a:r>
            <a:endParaRPr lang="en-US" sz="1050" dirty="0"/>
          </a:p>
        </p:txBody>
      </p:sp>
      <p:sp>
        <p:nvSpPr>
          <p:cNvPr id="29" name="Shape 26"/>
          <p:cNvSpPr/>
          <p:nvPr/>
        </p:nvSpPr>
        <p:spPr>
          <a:xfrm>
            <a:off x="457200" y="2926080"/>
            <a:ext cx="640080" cy="475488"/>
          </a:xfrm>
          <a:prstGeom prst="rect">
            <a:avLst/>
          </a:prstGeom>
          <a:solidFill>
            <a:srgbClr val="1A2340"/>
          </a:solidFill>
          <a:ln w="12700">
            <a:solidFill>
              <a:srgbClr val="1A2340">
                <a:alpha val="0"/>
              </a:srgbClr>
            </a:solidFill>
            <a:prstDash val="solid"/>
          </a:ln>
        </p:spPr>
      </p:sp>
      <p:sp>
        <p:nvSpPr>
          <p:cNvPr id="30" name="Text 27"/>
          <p:cNvSpPr/>
          <p:nvPr/>
        </p:nvSpPr>
        <p:spPr>
          <a:xfrm>
            <a:off x="457200" y="2926080"/>
            <a:ext cx="640080"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Design</a:t>
            </a:r>
            <a:endParaRPr lang="en-US" sz="850" dirty="0"/>
          </a:p>
        </p:txBody>
      </p:sp>
      <p:sp>
        <p:nvSpPr>
          <p:cNvPr id="31" name="Shape 28"/>
          <p:cNvSpPr/>
          <p:nvPr/>
        </p:nvSpPr>
        <p:spPr>
          <a:xfrm>
            <a:off x="1115568" y="2926080"/>
            <a:ext cx="3566160" cy="475488"/>
          </a:xfrm>
          <a:prstGeom prst="rect">
            <a:avLst/>
          </a:prstGeom>
          <a:solidFill>
            <a:srgbClr val="F7F8FC"/>
          </a:solidFill>
          <a:ln w="12700">
            <a:solidFill>
              <a:srgbClr val="D4F3E6"/>
            </a:solidFill>
            <a:prstDash val="solid"/>
          </a:ln>
        </p:spPr>
      </p:sp>
      <p:sp>
        <p:nvSpPr>
          <p:cNvPr id="32" name="Text 29"/>
          <p:cNvSpPr/>
          <p:nvPr/>
        </p:nvSpPr>
        <p:spPr>
          <a:xfrm>
            <a:off x="1207008" y="2980944"/>
            <a:ext cx="3383280" cy="384048"/>
          </a:xfrm>
          <a:prstGeom prst="rect">
            <a:avLst/>
          </a:prstGeom>
          <a:noFill/>
          <a:ln/>
        </p:spPr>
        <p:txBody>
          <a:bodyPr wrap="square" rtlCol="0" anchor="ctr"/>
          <a:lstStyle/>
          <a:p>
            <a:pPr marL="0" indent="0">
              <a:buNone/>
            </a:pPr>
            <a:r>
              <a:rPr lang="en-US" sz="1050" dirty="0">
                <a:solidFill>
                  <a:srgbClr val="2BAE76"/>
                </a:solidFill>
                <a:latin typeface="Calibri" pitchFamily="34" charset="0"/>
                <a:ea typeface="Calibri" pitchFamily="34" charset="-122"/>
                <a:cs typeface="Calibri" pitchFamily="34" charset="-120"/>
              </a:rPr>
              <a:t>Professional, pixel-consistent</a:t>
            </a:r>
            <a:endParaRPr lang="en-US" sz="1050" dirty="0"/>
          </a:p>
        </p:txBody>
      </p:sp>
      <p:sp>
        <p:nvSpPr>
          <p:cNvPr id="33" name="Shape 30"/>
          <p:cNvSpPr/>
          <p:nvPr/>
        </p:nvSpPr>
        <p:spPr>
          <a:xfrm>
            <a:off x="4800600" y="2926080"/>
            <a:ext cx="3566160" cy="475488"/>
          </a:xfrm>
          <a:prstGeom prst="rect">
            <a:avLst/>
          </a:prstGeom>
          <a:solidFill>
            <a:srgbClr val="F7F8FC"/>
          </a:solidFill>
          <a:ln w="12700">
            <a:solidFill>
              <a:srgbClr val="FDEAE6"/>
            </a:solidFill>
            <a:prstDash val="solid"/>
          </a:ln>
        </p:spPr>
      </p:sp>
      <p:sp>
        <p:nvSpPr>
          <p:cNvPr id="34" name="Text 31"/>
          <p:cNvSpPr/>
          <p:nvPr/>
        </p:nvSpPr>
        <p:spPr>
          <a:xfrm>
            <a:off x="4892040" y="2980944"/>
            <a:ext cx="3383280" cy="384048"/>
          </a:xfrm>
          <a:prstGeom prst="rect">
            <a:avLst/>
          </a:prstGeom>
          <a:noFill/>
          <a:ln/>
        </p:spPr>
        <p:txBody>
          <a:bodyPr wrap="square" rtlCol="0" anchor="ctr"/>
          <a:lstStyle/>
          <a:p>
            <a:pPr marL="0" indent="0">
              <a:buNone/>
            </a:pPr>
            <a:r>
              <a:rPr lang="en-US" sz="1050" dirty="0">
                <a:solidFill>
                  <a:srgbClr val="E8523A"/>
                </a:solidFill>
                <a:latin typeface="Calibri" pitchFamily="34" charset="0"/>
                <a:ea typeface="Calibri" pitchFamily="34" charset="-122"/>
                <a:cs typeface="Calibri" pitchFamily="34" charset="-120"/>
              </a:rPr>
              <a:t>Slightly off — stretched images, wrong fonts</a:t>
            </a:r>
            <a:endParaRPr lang="en-US" sz="1050" dirty="0"/>
          </a:p>
        </p:txBody>
      </p:sp>
      <p:sp>
        <p:nvSpPr>
          <p:cNvPr id="35" name="Shape 32"/>
          <p:cNvSpPr/>
          <p:nvPr/>
        </p:nvSpPr>
        <p:spPr>
          <a:xfrm>
            <a:off x="457200" y="3456432"/>
            <a:ext cx="640080" cy="475488"/>
          </a:xfrm>
          <a:prstGeom prst="rect">
            <a:avLst/>
          </a:prstGeom>
          <a:solidFill>
            <a:srgbClr val="1A2340"/>
          </a:solidFill>
          <a:ln w="12700">
            <a:solidFill>
              <a:srgbClr val="1A2340">
                <a:alpha val="0"/>
              </a:srgbClr>
            </a:solidFill>
            <a:prstDash val="solid"/>
          </a:ln>
        </p:spPr>
      </p:sp>
      <p:sp>
        <p:nvSpPr>
          <p:cNvPr id="36" name="Text 33"/>
          <p:cNvSpPr/>
          <p:nvPr/>
        </p:nvSpPr>
        <p:spPr>
          <a:xfrm>
            <a:off x="457200" y="3456432"/>
            <a:ext cx="640080"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Contact</a:t>
            </a:r>
            <a:endParaRPr lang="en-US" sz="850" dirty="0"/>
          </a:p>
        </p:txBody>
      </p:sp>
      <p:sp>
        <p:nvSpPr>
          <p:cNvPr id="37" name="Shape 34"/>
          <p:cNvSpPr/>
          <p:nvPr/>
        </p:nvSpPr>
        <p:spPr>
          <a:xfrm>
            <a:off x="1115568" y="3456432"/>
            <a:ext cx="3566160" cy="475488"/>
          </a:xfrm>
          <a:prstGeom prst="rect">
            <a:avLst/>
          </a:prstGeom>
          <a:solidFill>
            <a:srgbClr val="FFFFFF"/>
          </a:solidFill>
          <a:ln w="12700">
            <a:solidFill>
              <a:srgbClr val="D4F3E6"/>
            </a:solidFill>
            <a:prstDash val="solid"/>
          </a:ln>
        </p:spPr>
      </p:sp>
      <p:sp>
        <p:nvSpPr>
          <p:cNvPr id="38" name="Text 35"/>
          <p:cNvSpPr/>
          <p:nvPr/>
        </p:nvSpPr>
        <p:spPr>
          <a:xfrm>
            <a:off x="1207008" y="3511296"/>
            <a:ext cx="3383280" cy="384048"/>
          </a:xfrm>
          <a:prstGeom prst="rect">
            <a:avLst/>
          </a:prstGeom>
          <a:noFill/>
          <a:ln/>
        </p:spPr>
        <p:txBody>
          <a:bodyPr wrap="square" rtlCol="0" anchor="ctr"/>
          <a:lstStyle/>
          <a:p>
            <a:pPr marL="0" indent="0">
              <a:buNone/>
            </a:pPr>
            <a:r>
              <a:rPr lang="en-US" sz="1050" dirty="0">
                <a:solidFill>
                  <a:srgbClr val="2BAE76"/>
                </a:solidFill>
                <a:latin typeface="Calibri" pitchFamily="34" charset="0"/>
                <a:ea typeface="Calibri" pitchFamily="34" charset="-122"/>
                <a:cs typeface="Calibri" pitchFamily="34" charset="-120"/>
              </a:rPr>
              <a:t>Real address, phone, live support</a:t>
            </a:r>
            <a:endParaRPr lang="en-US" sz="1050" dirty="0"/>
          </a:p>
        </p:txBody>
      </p:sp>
      <p:sp>
        <p:nvSpPr>
          <p:cNvPr id="39" name="Shape 36"/>
          <p:cNvSpPr/>
          <p:nvPr/>
        </p:nvSpPr>
        <p:spPr>
          <a:xfrm>
            <a:off x="4800600" y="3456432"/>
            <a:ext cx="3566160" cy="475488"/>
          </a:xfrm>
          <a:prstGeom prst="rect">
            <a:avLst/>
          </a:prstGeom>
          <a:solidFill>
            <a:srgbClr val="FFFFFF"/>
          </a:solidFill>
          <a:ln w="12700">
            <a:solidFill>
              <a:srgbClr val="FDEAE6"/>
            </a:solidFill>
            <a:prstDash val="solid"/>
          </a:ln>
        </p:spPr>
      </p:sp>
      <p:sp>
        <p:nvSpPr>
          <p:cNvPr id="40" name="Text 37"/>
          <p:cNvSpPr/>
          <p:nvPr/>
        </p:nvSpPr>
        <p:spPr>
          <a:xfrm>
            <a:off x="4892040" y="3511296"/>
            <a:ext cx="3383280" cy="384048"/>
          </a:xfrm>
          <a:prstGeom prst="rect">
            <a:avLst/>
          </a:prstGeom>
          <a:noFill/>
          <a:ln/>
        </p:spPr>
        <p:txBody>
          <a:bodyPr wrap="square" rtlCol="0" anchor="ctr"/>
          <a:lstStyle/>
          <a:p>
            <a:pPr marL="0" indent="0">
              <a:buNone/>
            </a:pPr>
            <a:r>
              <a:rPr lang="en-US" sz="1050" dirty="0">
                <a:solidFill>
                  <a:srgbClr val="E8523A"/>
                </a:solidFill>
                <a:latin typeface="Calibri" pitchFamily="34" charset="0"/>
                <a:ea typeface="Calibri" pitchFamily="34" charset="-122"/>
                <a:cs typeface="Calibri" pitchFamily="34" charset="-120"/>
              </a:rPr>
              <a:t>Missing, generic, or copy-pasted placeholder</a:t>
            </a:r>
            <a:endParaRPr lang="en-US" sz="1050" dirty="0"/>
          </a:p>
        </p:txBody>
      </p:sp>
      <p:sp>
        <p:nvSpPr>
          <p:cNvPr id="41" name="Shape 38"/>
          <p:cNvSpPr/>
          <p:nvPr/>
        </p:nvSpPr>
        <p:spPr>
          <a:xfrm>
            <a:off x="457200" y="3986784"/>
            <a:ext cx="640080" cy="475488"/>
          </a:xfrm>
          <a:prstGeom prst="rect">
            <a:avLst/>
          </a:prstGeom>
          <a:solidFill>
            <a:srgbClr val="1A2340"/>
          </a:solidFill>
          <a:ln w="12700">
            <a:solidFill>
              <a:srgbClr val="1A2340">
                <a:alpha val="0"/>
              </a:srgbClr>
            </a:solidFill>
            <a:prstDash val="solid"/>
          </a:ln>
        </p:spPr>
      </p:sp>
      <p:sp>
        <p:nvSpPr>
          <p:cNvPr id="42" name="Text 39"/>
          <p:cNvSpPr/>
          <p:nvPr/>
        </p:nvSpPr>
        <p:spPr>
          <a:xfrm>
            <a:off x="457200" y="3986784"/>
            <a:ext cx="640080"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Asks For</a:t>
            </a:r>
            <a:endParaRPr lang="en-US" sz="850" dirty="0"/>
          </a:p>
        </p:txBody>
      </p:sp>
      <p:sp>
        <p:nvSpPr>
          <p:cNvPr id="43" name="Shape 40"/>
          <p:cNvSpPr/>
          <p:nvPr/>
        </p:nvSpPr>
        <p:spPr>
          <a:xfrm>
            <a:off x="1115568" y="3986784"/>
            <a:ext cx="3566160" cy="475488"/>
          </a:xfrm>
          <a:prstGeom prst="rect">
            <a:avLst/>
          </a:prstGeom>
          <a:solidFill>
            <a:srgbClr val="F7F8FC"/>
          </a:solidFill>
          <a:ln w="12700">
            <a:solidFill>
              <a:srgbClr val="D4F3E6"/>
            </a:solidFill>
            <a:prstDash val="solid"/>
          </a:ln>
        </p:spPr>
      </p:sp>
      <p:sp>
        <p:nvSpPr>
          <p:cNvPr id="44" name="Text 41"/>
          <p:cNvSpPr/>
          <p:nvPr/>
        </p:nvSpPr>
        <p:spPr>
          <a:xfrm>
            <a:off x="1207008" y="4041648"/>
            <a:ext cx="3383280" cy="384048"/>
          </a:xfrm>
          <a:prstGeom prst="rect">
            <a:avLst/>
          </a:prstGeom>
          <a:noFill/>
          <a:ln/>
        </p:spPr>
        <p:txBody>
          <a:bodyPr wrap="square" rtlCol="0" anchor="ctr"/>
          <a:lstStyle/>
          <a:p>
            <a:pPr marL="0" indent="0">
              <a:buNone/>
            </a:pPr>
            <a:r>
              <a:rPr lang="en-US" sz="1050" dirty="0">
                <a:solidFill>
                  <a:srgbClr val="2BAE76"/>
                </a:solidFill>
                <a:latin typeface="Calibri" pitchFamily="34" charset="0"/>
                <a:ea typeface="Calibri" pitchFamily="34" charset="-122"/>
                <a:cs typeface="Calibri" pitchFamily="34" charset="-120"/>
              </a:rPr>
              <a:t>Email and password only</a:t>
            </a:r>
            <a:endParaRPr lang="en-US" sz="1050" dirty="0"/>
          </a:p>
        </p:txBody>
      </p:sp>
      <p:sp>
        <p:nvSpPr>
          <p:cNvPr id="45" name="Shape 42"/>
          <p:cNvSpPr/>
          <p:nvPr/>
        </p:nvSpPr>
        <p:spPr>
          <a:xfrm>
            <a:off x="4800600" y="3986784"/>
            <a:ext cx="3566160" cy="475488"/>
          </a:xfrm>
          <a:prstGeom prst="rect">
            <a:avLst/>
          </a:prstGeom>
          <a:solidFill>
            <a:srgbClr val="F7F8FC"/>
          </a:solidFill>
          <a:ln w="12700">
            <a:solidFill>
              <a:srgbClr val="FDEAE6"/>
            </a:solidFill>
            <a:prstDash val="solid"/>
          </a:ln>
        </p:spPr>
      </p:sp>
      <p:sp>
        <p:nvSpPr>
          <p:cNvPr id="46" name="Text 43"/>
          <p:cNvSpPr/>
          <p:nvPr/>
        </p:nvSpPr>
        <p:spPr>
          <a:xfrm>
            <a:off x="4892040" y="4041648"/>
            <a:ext cx="3383280" cy="384048"/>
          </a:xfrm>
          <a:prstGeom prst="rect">
            <a:avLst/>
          </a:prstGeom>
          <a:noFill/>
          <a:ln/>
        </p:spPr>
        <p:txBody>
          <a:bodyPr wrap="square" rtlCol="0" anchor="ctr"/>
          <a:lstStyle/>
          <a:p>
            <a:pPr marL="0" indent="0">
              <a:buNone/>
            </a:pPr>
            <a:r>
              <a:rPr lang="en-US" sz="1050" dirty="0">
                <a:solidFill>
                  <a:srgbClr val="E8523A"/>
                </a:solidFill>
                <a:latin typeface="Calibri" pitchFamily="34" charset="0"/>
                <a:ea typeface="Calibri" pitchFamily="34" charset="-122"/>
                <a:cs typeface="Calibri" pitchFamily="34" charset="-120"/>
              </a:rPr>
              <a:t>SSN, card number, CVV, security answers</a:t>
            </a:r>
            <a:endParaRPr lang="en-US" sz="1050" dirty="0"/>
          </a:p>
        </p:txBody>
      </p:sp>
      <p:sp>
        <p:nvSpPr>
          <p:cNvPr id="47" name="Shape 44"/>
          <p:cNvSpPr/>
          <p:nvPr/>
        </p:nvSpPr>
        <p:spPr>
          <a:xfrm>
            <a:off x="457200" y="4517136"/>
            <a:ext cx="640080" cy="475488"/>
          </a:xfrm>
          <a:prstGeom prst="rect">
            <a:avLst/>
          </a:prstGeom>
          <a:solidFill>
            <a:srgbClr val="1A2340"/>
          </a:solidFill>
          <a:ln w="12700">
            <a:solidFill>
              <a:srgbClr val="1A2340">
                <a:alpha val="0"/>
              </a:srgbClr>
            </a:solidFill>
            <a:prstDash val="solid"/>
          </a:ln>
        </p:spPr>
      </p:sp>
      <p:sp>
        <p:nvSpPr>
          <p:cNvPr id="48" name="Text 45"/>
          <p:cNvSpPr/>
          <p:nvPr/>
        </p:nvSpPr>
        <p:spPr>
          <a:xfrm>
            <a:off x="457200" y="4517136"/>
            <a:ext cx="640080" cy="4754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Errors</a:t>
            </a:r>
            <a:endParaRPr lang="en-US" sz="850" dirty="0"/>
          </a:p>
        </p:txBody>
      </p:sp>
      <p:sp>
        <p:nvSpPr>
          <p:cNvPr id="49" name="Shape 46"/>
          <p:cNvSpPr/>
          <p:nvPr/>
        </p:nvSpPr>
        <p:spPr>
          <a:xfrm>
            <a:off x="1115568" y="4517136"/>
            <a:ext cx="3566160" cy="475488"/>
          </a:xfrm>
          <a:prstGeom prst="rect">
            <a:avLst/>
          </a:prstGeom>
          <a:solidFill>
            <a:srgbClr val="FFFFFF"/>
          </a:solidFill>
          <a:ln w="12700">
            <a:solidFill>
              <a:srgbClr val="D4F3E6"/>
            </a:solidFill>
            <a:prstDash val="solid"/>
          </a:ln>
        </p:spPr>
      </p:sp>
      <p:sp>
        <p:nvSpPr>
          <p:cNvPr id="50" name="Text 47"/>
          <p:cNvSpPr/>
          <p:nvPr/>
        </p:nvSpPr>
        <p:spPr>
          <a:xfrm>
            <a:off x="1207008" y="4572000"/>
            <a:ext cx="3383280" cy="384048"/>
          </a:xfrm>
          <a:prstGeom prst="rect">
            <a:avLst/>
          </a:prstGeom>
          <a:noFill/>
          <a:ln/>
        </p:spPr>
        <p:txBody>
          <a:bodyPr wrap="square" rtlCol="0" anchor="ctr"/>
          <a:lstStyle/>
          <a:p>
            <a:pPr marL="0" indent="0">
              <a:buNone/>
            </a:pPr>
            <a:r>
              <a:rPr lang="en-US" sz="1050" dirty="0">
                <a:solidFill>
                  <a:srgbClr val="2BAE76"/>
                </a:solidFill>
                <a:latin typeface="Calibri" pitchFamily="34" charset="0"/>
                <a:ea typeface="Calibri" pitchFamily="34" charset="-122"/>
                <a:cs typeface="Calibri" pitchFamily="34" charset="-120"/>
              </a:rPr>
              <a:t>No typos, clear and coherent</a:t>
            </a:r>
            <a:endParaRPr lang="en-US" sz="1050" dirty="0"/>
          </a:p>
        </p:txBody>
      </p:sp>
      <p:sp>
        <p:nvSpPr>
          <p:cNvPr id="51" name="Shape 48"/>
          <p:cNvSpPr/>
          <p:nvPr/>
        </p:nvSpPr>
        <p:spPr>
          <a:xfrm>
            <a:off x="4800600" y="4517136"/>
            <a:ext cx="3566160" cy="475488"/>
          </a:xfrm>
          <a:prstGeom prst="rect">
            <a:avLst/>
          </a:prstGeom>
          <a:solidFill>
            <a:srgbClr val="FFFFFF"/>
          </a:solidFill>
          <a:ln w="12700">
            <a:solidFill>
              <a:srgbClr val="FDEAE6"/>
            </a:solidFill>
            <a:prstDash val="solid"/>
          </a:ln>
        </p:spPr>
      </p:sp>
      <p:sp>
        <p:nvSpPr>
          <p:cNvPr id="52" name="Text 49"/>
          <p:cNvSpPr/>
          <p:nvPr/>
        </p:nvSpPr>
        <p:spPr>
          <a:xfrm>
            <a:off x="4892040" y="4572000"/>
            <a:ext cx="3383280" cy="384048"/>
          </a:xfrm>
          <a:prstGeom prst="rect">
            <a:avLst/>
          </a:prstGeom>
          <a:noFill/>
          <a:ln/>
        </p:spPr>
        <p:txBody>
          <a:bodyPr wrap="square" rtlCol="0" anchor="ctr"/>
          <a:lstStyle/>
          <a:p>
            <a:pPr marL="0" indent="0">
              <a:buNone/>
            </a:pPr>
            <a:r>
              <a:rPr lang="en-US" sz="1050" dirty="0">
                <a:solidFill>
                  <a:srgbClr val="E8523A"/>
                </a:solidFill>
                <a:latin typeface="Calibri" pitchFamily="34" charset="0"/>
                <a:ea typeface="Calibri" pitchFamily="34" charset="-122"/>
                <a:cs typeface="Calibri" pitchFamily="34" charset="-120"/>
              </a:rPr>
              <a:t>Grammar errors, broken links, odd phrasing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12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Social Engineering Explained</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pic>
        <p:nvPicPr>
          <p:cNvPr id="6" name="Image 0" descr="preencoded.png"/>
          <p:cNvPicPr>
            <a:picLocks noChangeAspect="1"/>
          </p:cNvPicPr>
          <p:nvPr/>
        </p:nvPicPr>
        <p:blipFill>
          <a:blip r:embed="rId3"/>
          <a:stretch>
            <a:fillRect/>
          </a:stretch>
        </p:blipFill>
        <p:spPr>
          <a:xfrm>
            <a:off x="7517957" y="836132"/>
            <a:ext cx="1087341" cy="1362801"/>
          </a:xfrm>
          <a:prstGeom prst="rect">
            <a:avLst/>
          </a:prstGeom>
        </p:spPr>
      </p:pic>
      <p:sp>
        <p:nvSpPr>
          <p:cNvPr id="7" name="Shape 4"/>
          <p:cNvSpPr/>
          <p:nvPr/>
        </p:nvSpPr>
        <p:spPr>
          <a:xfrm>
            <a:off x="457200" y="896112"/>
            <a:ext cx="6766560" cy="1188720"/>
          </a:xfrm>
          <a:prstGeom prst="rect">
            <a:avLst/>
          </a:prstGeom>
          <a:solidFill>
            <a:srgbClr val="1A2340"/>
          </a:solidFill>
          <a:ln w="12700">
            <a:solidFill>
              <a:srgbClr val="1A2340">
                <a:alpha val="0"/>
              </a:srgbClr>
            </a:solidFill>
            <a:prstDash val="solid"/>
          </a:ln>
        </p:spPr>
      </p:sp>
      <p:pic>
        <p:nvPicPr>
          <p:cNvPr id="8" name="Image 1" descr="preencoded.png"/>
          <p:cNvPicPr>
            <a:picLocks noChangeAspect="1"/>
          </p:cNvPicPr>
          <p:nvPr/>
        </p:nvPicPr>
        <p:blipFill>
          <a:blip r:embed="rId4"/>
          <a:stretch>
            <a:fillRect/>
          </a:stretch>
        </p:blipFill>
        <p:spPr>
          <a:xfrm>
            <a:off x="621792" y="1024128"/>
            <a:ext cx="438912" cy="438912"/>
          </a:xfrm>
          <a:prstGeom prst="rect">
            <a:avLst/>
          </a:prstGeom>
        </p:spPr>
      </p:pic>
      <p:sp>
        <p:nvSpPr>
          <p:cNvPr id="9" name="Text 5"/>
          <p:cNvSpPr/>
          <p:nvPr/>
        </p:nvSpPr>
        <p:spPr>
          <a:xfrm>
            <a:off x="1188720" y="969264"/>
            <a:ext cx="5897880" cy="1024128"/>
          </a:xfrm>
          <a:prstGeom prst="rect">
            <a:avLst/>
          </a:prstGeom>
          <a:noFill/>
          <a:ln/>
        </p:spPr>
        <p:txBody>
          <a:bodyPr wrap="square" rtlCol="0" anchor="ctr"/>
          <a:lstStyle/>
          <a:p>
            <a:pPr marL="0" indent="0">
              <a:buNone/>
            </a:pPr>
            <a:r>
              <a:rPr lang="en-US" sz="1250" b="1" dirty="0">
                <a:solidFill>
                  <a:srgbClr val="F5C518"/>
                </a:solidFill>
                <a:latin typeface="Calibri" pitchFamily="34" charset="0"/>
                <a:ea typeface="Calibri" pitchFamily="34" charset="-122"/>
                <a:cs typeface="Calibri" pitchFamily="34" charset="-120"/>
              </a:rPr>
              <a:t>Social Engineering </a:t>
            </a:r>
            <a:r>
              <a:rPr lang="en-US" sz="1250" dirty="0">
                <a:solidFill>
                  <a:srgbClr val="FFFFFF"/>
                </a:solidFill>
                <a:latin typeface="Calibri" pitchFamily="34" charset="0"/>
                <a:ea typeface="Calibri" pitchFamily="34" charset="-122"/>
                <a:cs typeface="Calibri" pitchFamily="34" charset="-120"/>
              </a:rPr>
              <a:t>is the psychological manipulation of people into performing actions or surrendering confidential information. It exploits human nature — not software vulnerabilities.</a:t>
            </a:r>
            <a:endParaRPr lang="en-US" sz="1250" dirty="0"/>
          </a:p>
        </p:txBody>
      </p:sp>
      <p:sp>
        <p:nvSpPr>
          <p:cNvPr id="10" name="Text 6"/>
          <p:cNvSpPr/>
          <p:nvPr/>
        </p:nvSpPr>
        <p:spPr>
          <a:xfrm>
            <a:off x="457200" y="2212848"/>
            <a:ext cx="7315200" cy="274320"/>
          </a:xfrm>
          <a:prstGeom prst="rect">
            <a:avLst/>
          </a:prstGeom>
          <a:noFill/>
          <a:ln/>
        </p:spPr>
        <p:txBody>
          <a:bodyPr wrap="square"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Six psychological levers attackers exploit:</a:t>
            </a:r>
            <a:endParaRPr lang="en-US" sz="1200" dirty="0"/>
          </a:p>
        </p:txBody>
      </p:sp>
      <p:sp>
        <p:nvSpPr>
          <p:cNvPr id="11" name="Shape 7"/>
          <p:cNvSpPr/>
          <p:nvPr/>
        </p:nvSpPr>
        <p:spPr>
          <a:xfrm>
            <a:off x="457200" y="2578608"/>
            <a:ext cx="2633472" cy="1115568"/>
          </a:xfrm>
          <a:prstGeom prst="rect">
            <a:avLst/>
          </a:prstGeom>
          <a:solidFill>
            <a:srgbClr val="FDEAE6"/>
          </a:solidFill>
          <a:ln w="12700">
            <a:solidFill>
              <a:srgbClr val="E8523A"/>
            </a:solidFill>
            <a:prstDash val="solid"/>
          </a:ln>
        </p:spPr>
      </p:sp>
      <p:sp>
        <p:nvSpPr>
          <p:cNvPr id="12" name="Shape 8"/>
          <p:cNvSpPr/>
          <p:nvPr/>
        </p:nvSpPr>
        <p:spPr>
          <a:xfrm>
            <a:off x="457200" y="2578608"/>
            <a:ext cx="2633472" cy="45720"/>
          </a:xfrm>
          <a:prstGeom prst="rect">
            <a:avLst/>
          </a:prstGeom>
          <a:solidFill>
            <a:srgbClr val="E8523A"/>
          </a:solidFill>
          <a:ln w="12700">
            <a:solidFill>
              <a:srgbClr val="E8523A">
                <a:alpha val="0"/>
              </a:srgbClr>
            </a:solidFill>
            <a:prstDash val="solid"/>
          </a:ln>
        </p:spPr>
      </p:sp>
      <p:pic>
        <p:nvPicPr>
          <p:cNvPr id="13" name="Image 2" descr="preencoded.png"/>
          <p:cNvPicPr>
            <a:picLocks noChangeAspect="1"/>
          </p:cNvPicPr>
          <p:nvPr/>
        </p:nvPicPr>
        <p:blipFill>
          <a:blip r:embed="rId5"/>
          <a:stretch>
            <a:fillRect/>
          </a:stretch>
        </p:blipFill>
        <p:spPr>
          <a:xfrm>
            <a:off x="603504" y="2834640"/>
            <a:ext cx="365760" cy="365760"/>
          </a:xfrm>
          <a:prstGeom prst="rect">
            <a:avLst/>
          </a:prstGeom>
        </p:spPr>
      </p:pic>
      <p:sp>
        <p:nvSpPr>
          <p:cNvPr id="14" name="Text 9"/>
          <p:cNvSpPr/>
          <p:nvPr/>
        </p:nvSpPr>
        <p:spPr>
          <a:xfrm>
            <a:off x="1097280" y="2715768"/>
            <a:ext cx="1865376" cy="292608"/>
          </a:xfrm>
          <a:prstGeom prst="rect">
            <a:avLst/>
          </a:prstGeom>
          <a:noFill/>
          <a:ln/>
        </p:spPr>
        <p:txBody>
          <a:bodyPr wrap="square" lIns="0" tIns="0" rIns="0" bIns="0" rtlCol="0" anchor="ctr"/>
          <a:lstStyle/>
          <a:p>
            <a:pPr marL="0" indent="0">
              <a:buNone/>
            </a:pPr>
            <a:r>
              <a:rPr lang="en-US" sz="1400" b="1" dirty="0">
                <a:solidFill>
                  <a:srgbClr val="1A2340"/>
                </a:solidFill>
                <a:latin typeface="Georgia" pitchFamily="34" charset="0"/>
                <a:ea typeface="Georgia" pitchFamily="34" charset="-122"/>
                <a:cs typeface="Georgia" pitchFamily="34" charset="-120"/>
              </a:rPr>
              <a:t>Fear</a:t>
            </a:r>
            <a:endParaRPr lang="en-US" sz="1400" dirty="0"/>
          </a:p>
        </p:txBody>
      </p:sp>
      <p:sp>
        <p:nvSpPr>
          <p:cNvPr id="15" name="Text 10"/>
          <p:cNvSpPr/>
          <p:nvPr/>
        </p:nvSpPr>
        <p:spPr>
          <a:xfrm>
            <a:off x="1097280" y="3054096"/>
            <a:ext cx="1865376" cy="548640"/>
          </a:xfrm>
          <a:prstGeom prst="rect">
            <a:avLst/>
          </a:prstGeom>
          <a:noFill/>
          <a:ln/>
        </p:spPr>
        <p:txBody>
          <a:bodyPr wrap="square"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"Your account has been compromised."</a:t>
            </a:r>
            <a:endParaRPr lang="en-US" sz="1000" dirty="0"/>
          </a:p>
        </p:txBody>
      </p:sp>
      <p:sp>
        <p:nvSpPr>
          <p:cNvPr id="16" name="Shape 11"/>
          <p:cNvSpPr/>
          <p:nvPr/>
        </p:nvSpPr>
        <p:spPr>
          <a:xfrm>
            <a:off x="3246120" y="2578608"/>
            <a:ext cx="2633472" cy="1115568"/>
          </a:xfrm>
          <a:prstGeom prst="rect">
            <a:avLst/>
          </a:prstGeom>
          <a:solidFill>
            <a:srgbClr val="FEF3B0"/>
          </a:solidFill>
          <a:ln w="12700">
            <a:solidFill>
              <a:srgbClr val="F5C518"/>
            </a:solidFill>
            <a:prstDash val="solid"/>
          </a:ln>
        </p:spPr>
      </p:sp>
      <p:sp>
        <p:nvSpPr>
          <p:cNvPr id="17" name="Shape 12"/>
          <p:cNvSpPr/>
          <p:nvPr/>
        </p:nvSpPr>
        <p:spPr>
          <a:xfrm>
            <a:off x="3246120" y="2578608"/>
            <a:ext cx="2633472" cy="45720"/>
          </a:xfrm>
          <a:prstGeom prst="rect">
            <a:avLst/>
          </a:prstGeom>
          <a:solidFill>
            <a:srgbClr val="F5C518"/>
          </a:solidFill>
          <a:ln w="12700">
            <a:solidFill>
              <a:srgbClr val="F5C518">
                <a:alpha val="0"/>
              </a:srgbClr>
            </a:solidFill>
            <a:prstDash val="solid"/>
          </a:ln>
        </p:spPr>
      </p:sp>
      <p:pic>
        <p:nvPicPr>
          <p:cNvPr id="18" name="Image 3" descr="preencoded.png"/>
          <p:cNvPicPr>
            <a:picLocks noChangeAspect="1"/>
          </p:cNvPicPr>
          <p:nvPr/>
        </p:nvPicPr>
        <p:blipFill>
          <a:blip r:embed="rId6"/>
          <a:stretch>
            <a:fillRect/>
          </a:stretch>
        </p:blipFill>
        <p:spPr>
          <a:xfrm>
            <a:off x="3392424" y="2834640"/>
            <a:ext cx="365760" cy="365760"/>
          </a:xfrm>
          <a:prstGeom prst="rect">
            <a:avLst/>
          </a:prstGeom>
        </p:spPr>
      </p:pic>
      <p:sp>
        <p:nvSpPr>
          <p:cNvPr id="19" name="Text 13"/>
          <p:cNvSpPr/>
          <p:nvPr/>
        </p:nvSpPr>
        <p:spPr>
          <a:xfrm>
            <a:off x="3886200" y="2715768"/>
            <a:ext cx="1865376" cy="292608"/>
          </a:xfrm>
          <a:prstGeom prst="rect">
            <a:avLst/>
          </a:prstGeom>
          <a:noFill/>
          <a:ln/>
        </p:spPr>
        <p:txBody>
          <a:bodyPr wrap="square" lIns="0" tIns="0" rIns="0" bIns="0" rtlCol="0" anchor="ctr"/>
          <a:lstStyle/>
          <a:p>
            <a:pPr marL="0" indent="0">
              <a:buNone/>
            </a:pPr>
            <a:r>
              <a:rPr lang="en-US" sz="1400" b="1" dirty="0">
                <a:solidFill>
                  <a:srgbClr val="1A2340"/>
                </a:solidFill>
                <a:latin typeface="Georgia" pitchFamily="34" charset="0"/>
                <a:ea typeface="Georgia" pitchFamily="34" charset="-122"/>
                <a:cs typeface="Georgia" pitchFamily="34" charset="-120"/>
              </a:rPr>
              <a:t>Urgency</a:t>
            </a:r>
            <a:endParaRPr lang="en-US" sz="1400" dirty="0"/>
          </a:p>
        </p:txBody>
      </p:sp>
      <p:sp>
        <p:nvSpPr>
          <p:cNvPr id="20" name="Text 14"/>
          <p:cNvSpPr/>
          <p:nvPr/>
        </p:nvSpPr>
        <p:spPr>
          <a:xfrm>
            <a:off x="3886200" y="3054096"/>
            <a:ext cx="1865376" cy="548640"/>
          </a:xfrm>
          <a:prstGeom prst="rect">
            <a:avLst/>
          </a:prstGeom>
          <a:noFill/>
          <a:ln/>
        </p:spPr>
        <p:txBody>
          <a:bodyPr wrap="square"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"Act within the next 30 minutes!"</a:t>
            </a:r>
            <a:endParaRPr lang="en-US" sz="1000" dirty="0"/>
          </a:p>
        </p:txBody>
      </p:sp>
      <p:sp>
        <p:nvSpPr>
          <p:cNvPr id="21" name="Shape 15"/>
          <p:cNvSpPr/>
          <p:nvPr/>
        </p:nvSpPr>
        <p:spPr>
          <a:xfrm>
            <a:off x="6035040" y="2578608"/>
            <a:ext cx="2633472" cy="1115568"/>
          </a:xfrm>
          <a:prstGeom prst="rect">
            <a:avLst/>
          </a:prstGeom>
          <a:solidFill>
            <a:srgbClr val="E8EDF8"/>
          </a:solidFill>
          <a:ln w="12700">
            <a:solidFill>
              <a:srgbClr val="4A72C4"/>
            </a:solidFill>
            <a:prstDash val="solid"/>
          </a:ln>
        </p:spPr>
      </p:sp>
      <p:sp>
        <p:nvSpPr>
          <p:cNvPr id="22" name="Shape 16"/>
          <p:cNvSpPr/>
          <p:nvPr/>
        </p:nvSpPr>
        <p:spPr>
          <a:xfrm>
            <a:off x="6035040" y="2578608"/>
            <a:ext cx="2633472" cy="45720"/>
          </a:xfrm>
          <a:prstGeom prst="rect">
            <a:avLst/>
          </a:prstGeom>
          <a:solidFill>
            <a:srgbClr val="4A72C4"/>
          </a:solidFill>
          <a:ln w="12700">
            <a:solidFill>
              <a:srgbClr val="4A72C4">
                <a:alpha val="0"/>
              </a:srgbClr>
            </a:solidFill>
            <a:prstDash val="solid"/>
          </a:ln>
        </p:spPr>
      </p:sp>
      <p:pic>
        <p:nvPicPr>
          <p:cNvPr id="23" name="Image 4" descr="preencoded.png"/>
          <p:cNvPicPr>
            <a:picLocks noChangeAspect="1"/>
          </p:cNvPicPr>
          <p:nvPr/>
        </p:nvPicPr>
        <p:blipFill>
          <a:blip r:embed="rId7"/>
          <a:stretch>
            <a:fillRect/>
          </a:stretch>
        </p:blipFill>
        <p:spPr>
          <a:xfrm>
            <a:off x="6181344" y="2834640"/>
            <a:ext cx="365760" cy="365760"/>
          </a:xfrm>
          <a:prstGeom prst="rect">
            <a:avLst/>
          </a:prstGeom>
        </p:spPr>
      </p:pic>
      <p:sp>
        <p:nvSpPr>
          <p:cNvPr id="24" name="Text 17"/>
          <p:cNvSpPr/>
          <p:nvPr/>
        </p:nvSpPr>
        <p:spPr>
          <a:xfrm>
            <a:off x="6675120" y="2715768"/>
            <a:ext cx="1865376" cy="292608"/>
          </a:xfrm>
          <a:prstGeom prst="rect">
            <a:avLst/>
          </a:prstGeom>
          <a:noFill/>
          <a:ln/>
        </p:spPr>
        <p:txBody>
          <a:bodyPr wrap="square" lIns="0" tIns="0" rIns="0" bIns="0" rtlCol="0" anchor="ctr"/>
          <a:lstStyle/>
          <a:p>
            <a:pPr marL="0" indent="0">
              <a:buNone/>
            </a:pPr>
            <a:r>
              <a:rPr lang="en-US" sz="1400" b="1" dirty="0">
                <a:solidFill>
                  <a:srgbClr val="1A2340"/>
                </a:solidFill>
                <a:latin typeface="Georgia" pitchFamily="34" charset="0"/>
                <a:ea typeface="Georgia" pitchFamily="34" charset="-122"/>
                <a:cs typeface="Georgia" pitchFamily="34" charset="-120"/>
              </a:rPr>
              <a:t>Authority</a:t>
            </a:r>
            <a:endParaRPr lang="en-US" sz="1400" dirty="0"/>
          </a:p>
        </p:txBody>
      </p:sp>
      <p:sp>
        <p:nvSpPr>
          <p:cNvPr id="25" name="Text 18"/>
          <p:cNvSpPr/>
          <p:nvPr/>
        </p:nvSpPr>
        <p:spPr>
          <a:xfrm>
            <a:off x="6675120" y="3054096"/>
            <a:ext cx="1865376" cy="548640"/>
          </a:xfrm>
          <a:prstGeom prst="rect">
            <a:avLst/>
          </a:prstGeom>
          <a:noFill/>
          <a:ln/>
        </p:spPr>
        <p:txBody>
          <a:bodyPr wrap="square"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"This is your IT security team."</a:t>
            </a:r>
            <a:endParaRPr lang="en-US" sz="1000" dirty="0"/>
          </a:p>
        </p:txBody>
      </p:sp>
      <p:sp>
        <p:nvSpPr>
          <p:cNvPr id="26" name="Shape 19"/>
          <p:cNvSpPr/>
          <p:nvPr/>
        </p:nvSpPr>
        <p:spPr>
          <a:xfrm>
            <a:off x="457200" y="3858768"/>
            <a:ext cx="2633472" cy="1115568"/>
          </a:xfrm>
          <a:prstGeom prst="rect">
            <a:avLst/>
          </a:prstGeom>
          <a:solidFill>
            <a:srgbClr val="D4F3E6"/>
          </a:solidFill>
          <a:ln w="12700">
            <a:solidFill>
              <a:srgbClr val="2BAE76"/>
            </a:solidFill>
            <a:prstDash val="solid"/>
          </a:ln>
        </p:spPr>
      </p:sp>
      <p:sp>
        <p:nvSpPr>
          <p:cNvPr id="27" name="Shape 20"/>
          <p:cNvSpPr/>
          <p:nvPr/>
        </p:nvSpPr>
        <p:spPr>
          <a:xfrm>
            <a:off x="457200" y="3858768"/>
            <a:ext cx="2633472" cy="45720"/>
          </a:xfrm>
          <a:prstGeom prst="rect">
            <a:avLst/>
          </a:prstGeom>
          <a:solidFill>
            <a:srgbClr val="2BAE76"/>
          </a:solidFill>
          <a:ln w="12700">
            <a:solidFill>
              <a:srgbClr val="2BAE76">
                <a:alpha val="0"/>
              </a:srgbClr>
            </a:solidFill>
            <a:prstDash val="solid"/>
          </a:ln>
        </p:spPr>
      </p:sp>
      <p:pic>
        <p:nvPicPr>
          <p:cNvPr id="28" name="Image 5" descr="preencoded.png"/>
          <p:cNvPicPr>
            <a:picLocks noChangeAspect="1"/>
          </p:cNvPicPr>
          <p:nvPr/>
        </p:nvPicPr>
        <p:blipFill>
          <a:blip r:embed="rId8"/>
          <a:stretch>
            <a:fillRect/>
          </a:stretch>
        </p:blipFill>
        <p:spPr>
          <a:xfrm>
            <a:off x="603504" y="4114800"/>
            <a:ext cx="365760" cy="365760"/>
          </a:xfrm>
          <a:prstGeom prst="rect">
            <a:avLst/>
          </a:prstGeom>
        </p:spPr>
      </p:pic>
      <p:sp>
        <p:nvSpPr>
          <p:cNvPr id="29" name="Text 21"/>
          <p:cNvSpPr/>
          <p:nvPr/>
        </p:nvSpPr>
        <p:spPr>
          <a:xfrm>
            <a:off x="1097280" y="3995928"/>
            <a:ext cx="1865376" cy="292608"/>
          </a:xfrm>
          <a:prstGeom prst="rect">
            <a:avLst/>
          </a:prstGeom>
          <a:noFill/>
          <a:ln/>
        </p:spPr>
        <p:txBody>
          <a:bodyPr wrap="square" lIns="0" tIns="0" rIns="0" bIns="0" rtlCol="0" anchor="ctr"/>
          <a:lstStyle/>
          <a:p>
            <a:pPr marL="0" indent="0">
              <a:buNone/>
            </a:pPr>
            <a:r>
              <a:rPr lang="en-US" sz="1400" b="1" dirty="0">
                <a:solidFill>
                  <a:srgbClr val="1A2340"/>
                </a:solidFill>
                <a:latin typeface="Georgia" pitchFamily="34" charset="0"/>
                <a:ea typeface="Georgia" pitchFamily="34" charset="-122"/>
                <a:cs typeface="Georgia" pitchFamily="34" charset="-120"/>
              </a:rPr>
              <a:t>Trust</a:t>
            </a:r>
            <a:endParaRPr lang="en-US" sz="1400" dirty="0"/>
          </a:p>
        </p:txBody>
      </p:sp>
      <p:sp>
        <p:nvSpPr>
          <p:cNvPr id="30" name="Text 22"/>
          <p:cNvSpPr/>
          <p:nvPr/>
        </p:nvSpPr>
        <p:spPr>
          <a:xfrm>
            <a:off x="1097280" y="4334256"/>
            <a:ext cx="1865376" cy="548640"/>
          </a:xfrm>
          <a:prstGeom prst="rect">
            <a:avLst/>
          </a:prstGeom>
          <a:noFill/>
          <a:ln/>
        </p:spPr>
        <p:txBody>
          <a:bodyPr wrap="square"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"Your colleague shared this file."</a:t>
            </a:r>
            <a:endParaRPr lang="en-US" sz="1000" dirty="0"/>
          </a:p>
        </p:txBody>
      </p:sp>
      <p:sp>
        <p:nvSpPr>
          <p:cNvPr id="31" name="Shape 23"/>
          <p:cNvSpPr/>
          <p:nvPr/>
        </p:nvSpPr>
        <p:spPr>
          <a:xfrm>
            <a:off x="3246120" y="3858768"/>
            <a:ext cx="2633472" cy="1115568"/>
          </a:xfrm>
          <a:prstGeom prst="rect">
            <a:avLst/>
          </a:prstGeom>
          <a:solidFill>
            <a:srgbClr val="E8EDF8"/>
          </a:solidFill>
          <a:ln w="12700">
            <a:solidFill>
              <a:srgbClr val="1A2340"/>
            </a:solidFill>
            <a:prstDash val="solid"/>
          </a:ln>
        </p:spPr>
      </p:sp>
      <p:sp>
        <p:nvSpPr>
          <p:cNvPr id="32" name="Shape 24"/>
          <p:cNvSpPr/>
          <p:nvPr/>
        </p:nvSpPr>
        <p:spPr>
          <a:xfrm>
            <a:off x="3246120" y="3858768"/>
            <a:ext cx="2633472" cy="45720"/>
          </a:xfrm>
          <a:prstGeom prst="rect">
            <a:avLst/>
          </a:prstGeom>
          <a:solidFill>
            <a:srgbClr val="1A2340"/>
          </a:solidFill>
          <a:ln w="12700">
            <a:solidFill>
              <a:srgbClr val="1A2340">
                <a:alpha val="0"/>
              </a:srgbClr>
            </a:solidFill>
            <a:prstDash val="solid"/>
          </a:ln>
        </p:spPr>
      </p:sp>
      <p:pic>
        <p:nvPicPr>
          <p:cNvPr id="33" name="Image 6" descr="preencoded.png"/>
          <p:cNvPicPr>
            <a:picLocks noChangeAspect="1"/>
          </p:cNvPicPr>
          <p:nvPr/>
        </p:nvPicPr>
        <p:blipFill>
          <a:blip r:embed="rId9"/>
          <a:stretch>
            <a:fillRect/>
          </a:stretch>
        </p:blipFill>
        <p:spPr>
          <a:xfrm>
            <a:off x="3392424" y="4114800"/>
            <a:ext cx="365760" cy="365760"/>
          </a:xfrm>
          <a:prstGeom prst="rect">
            <a:avLst/>
          </a:prstGeom>
        </p:spPr>
      </p:pic>
      <p:sp>
        <p:nvSpPr>
          <p:cNvPr id="34" name="Text 25"/>
          <p:cNvSpPr/>
          <p:nvPr/>
        </p:nvSpPr>
        <p:spPr>
          <a:xfrm>
            <a:off x="3886200" y="3995928"/>
            <a:ext cx="1865376" cy="292608"/>
          </a:xfrm>
          <a:prstGeom prst="rect">
            <a:avLst/>
          </a:prstGeom>
          <a:noFill/>
          <a:ln/>
        </p:spPr>
        <p:txBody>
          <a:bodyPr wrap="square" lIns="0" tIns="0" rIns="0" bIns="0" rtlCol="0" anchor="ctr"/>
          <a:lstStyle/>
          <a:p>
            <a:pPr marL="0" indent="0">
              <a:buNone/>
            </a:pPr>
            <a:r>
              <a:rPr lang="en-US" sz="1400" b="1" dirty="0">
                <a:solidFill>
                  <a:srgbClr val="1A2340"/>
                </a:solidFill>
                <a:latin typeface="Georgia" pitchFamily="34" charset="0"/>
                <a:ea typeface="Georgia" pitchFamily="34" charset="-122"/>
                <a:cs typeface="Georgia" pitchFamily="34" charset="-120"/>
              </a:rPr>
              <a:t>Curiosity</a:t>
            </a:r>
            <a:endParaRPr lang="en-US" sz="1400" dirty="0"/>
          </a:p>
        </p:txBody>
      </p:sp>
      <p:sp>
        <p:nvSpPr>
          <p:cNvPr id="35" name="Text 26"/>
          <p:cNvSpPr/>
          <p:nvPr/>
        </p:nvSpPr>
        <p:spPr>
          <a:xfrm>
            <a:off x="3886200" y="4334256"/>
            <a:ext cx="1865376" cy="548640"/>
          </a:xfrm>
          <a:prstGeom prst="rect">
            <a:avLst/>
          </a:prstGeom>
          <a:noFill/>
          <a:ln/>
        </p:spPr>
        <p:txBody>
          <a:bodyPr wrap="square"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"You won't believe what this shows."</a:t>
            </a:r>
            <a:endParaRPr lang="en-US" sz="1000" dirty="0"/>
          </a:p>
        </p:txBody>
      </p:sp>
      <p:sp>
        <p:nvSpPr>
          <p:cNvPr id="36" name="Shape 27"/>
          <p:cNvSpPr/>
          <p:nvPr/>
        </p:nvSpPr>
        <p:spPr>
          <a:xfrm>
            <a:off x="6035040" y="3858768"/>
            <a:ext cx="2633472" cy="1115568"/>
          </a:xfrm>
          <a:prstGeom prst="rect">
            <a:avLst/>
          </a:prstGeom>
          <a:solidFill>
            <a:srgbClr val="FEF3B0"/>
          </a:solidFill>
          <a:ln w="12700">
            <a:solidFill>
              <a:srgbClr val="1A2340"/>
            </a:solidFill>
            <a:prstDash val="solid"/>
          </a:ln>
        </p:spPr>
      </p:sp>
      <p:sp>
        <p:nvSpPr>
          <p:cNvPr id="37" name="Shape 28"/>
          <p:cNvSpPr/>
          <p:nvPr/>
        </p:nvSpPr>
        <p:spPr>
          <a:xfrm>
            <a:off x="6035040" y="3858768"/>
            <a:ext cx="2633472" cy="45720"/>
          </a:xfrm>
          <a:prstGeom prst="rect">
            <a:avLst/>
          </a:prstGeom>
          <a:solidFill>
            <a:srgbClr val="1A2340"/>
          </a:solidFill>
          <a:ln w="12700">
            <a:solidFill>
              <a:srgbClr val="1A2340">
                <a:alpha val="0"/>
              </a:srgbClr>
            </a:solidFill>
            <a:prstDash val="solid"/>
          </a:ln>
        </p:spPr>
      </p:sp>
      <p:pic>
        <p:nvPicPr>
          <p:cNvPr id="38" name="Image 7" descr="preencoded.png"/>
          <p:cNvPicPr>
            <a:picLocks noChangeAspect="1"/>
          </p:cNvPicPr>
          <p:nvPr/>
        </p:nvPicPr>
        <p:blipFill>
          <a:blip r:embed="rId10"/>
          <a:stretch>
            <a:fillRect/>
          </a:stretch>
        </p:blipFill>
        <p:spPr>
          <a:xfrm>
            <a:off x="6181344" y="4114800"/>
            <a:ext cx="365760" cy="365760"/>
          </a:xfrm>
          <a:prstGeom prst="rect">
            <a:avLst/>
          </a:prstGeom>
        </p:spPr>
      </p:pic>
      <p:sp>
        <p:nvSpPr>
          <p:cNvPr id="39" name="Text 29"/>
          <p:cNvSpPr/>
          <p:nvPr/>
        </p:nvSpPr>
        <p:spPr>
          <a:xfrm>
            <a:off x="6675120" y="3995928"/>
            <a:ext cx="1865376" cy="292608"/>
          </a:xfrm>
          <a:prstGeom prst="rect">
            <a:avLst/>
          </a:prstGeom>
          <a:noFill/>
          <a:ln/>
        </p:spPr>
        <p:txBody>
          <a:bodyPr wrap="square" lIns="0" tIns="0" rIns="0" bIns="0" rtlCol="0" anchor="ctr"/>
          <a:lstStyle/>
          <a:p>
            <a:pPr marL="0" indent="0">
              <a:buNone/>
            </a:pPr>
            <a:r>
              <a:rPr lang="en-US" sz="1400" b="1" dirty="0">
                <a:solidFill>
                  <a:srgbClr val="1A2340"/>
                </a:solidFill>
                <a:latin typeface="Georgia" pitchFamily="34" charset="0"/>
                <a:ea typeface="Georgia" pitchFamily="34" charset="-122"/>
                <a:cs typeface="Georgia" pitchFamily="34" charset="-120"/>
              </a:rPr>
              <a:t>Scarcity</a:t>
            </a:r>
            <a:endParaRPr lang="en-US" sz="1400" dirty="0"/>
          </a:p>
        </p:txBody>
      </p:sp>
      <p:sp>
        <p:nvSpPr>
          <p:cNvPr id="40" name="Text 30"/>
          <p:cNvSpPr/>
          <p:nvPr/>
        </p:nvSpPr>
        <p:spPr>
          <a:xfrm>
            <a:off x="6675120" y="4334256"/>
            <a:ext cx="1865376" cy="548640"/>
          </a:xfrm>
          <a:prstGeom prst="rect">
            <a:avLst/>
          </a:prstGeom>
          <a:noFill/>
          <a:ln/>
        </p:spPr>
        <p:txBody>
          <a:bodyPr wrap="square"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"Only one spot left — claim now!"</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13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Common Manipulation Techniques</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4"/>
          <p:cNvSpPr/>
          <p:nvPr/>
        </p:nvSpPr>
        <p:spPr>
          <a:xfrm>
            <a:off x="457200" y="960120"/>
            <a:ext cx="4114800" cy="1234440"/>
          </a:xfrm>
          <a:prstGeom prst="rect">
            <a:avLst/>
          </a:prstGeom>
          <a:solidFill>
            <a:srgbClr val="F7F8FC"/>
          </a:solidFill>
          <a:ln w="12700">
            <a:solidFill>
              <a:srgbClr val="D8DCE8"/>
            </a:solidFill>
            <a:prstDash val="solid"/>
          </a:ln>
        </p:spPr>
      </p:sp>
      <p:sp>
        <p:nvSpPr>
          <p:cNvPr id="8" name="Shape 5"/>
          <p:cNvSpPr/>
          <p:nvPr/>
        </p:nvSpPr>
        <p:spPr>
          <a:xfrm>
            <a:off x="457200" y="960120"/>
            <a:ext cx="45720" cy="1234440"/>
          </a:xfrm>
          <a:prstGeom prst="rect">
            <a:avLst/>
          </a:prstGeom>
          <a:solidFill>
            <a:srgbClr val="1A2340"/>
          </a:solidFill>
          <a:ln w="12700">
            <a:solidFill>
              <a:srgbClr val="1A2340">
                <a:alpha val="0"/>
              </a:srgbClr>
            </a:solidFill>
            <a:prstDash val="solid"/>
          </a:ln>
        </p:spPr>
      </p:sp>
      <p:pic>
        <p:nvPicPr>
          <p:cNvPr id="9" name="Image 1" descr="preencoded.png"/>
          <p:cNvPicPr>
            <a:picLocks noChangeAspect="1"/>
          </p:cNvPicPr>
          <p:nvPr/>
        </p:nvPicPr>
        <p:blipFill>
          <a:blip r:embed="rId3"/>
          <a:stretch>
            <a:fillRect/>
          </a:stretch>
        </p:blipFill>
        <p:spPr>
          <a:xfrm>
            <a:off x="621792" y="1234440"/>
            <a:ext cx="384048" cy="384048"/>
          </a:xfrm>
          <a:prstGeom prst="rect">
            <a:avLst/>
          </a:prstGeom>
        </p:spPr>
      </p:pic>
      <p:sp>
        <p:nvSpPr>
          <p:cNvPr id="10" name="Text 6"/>
          <p:cNvSpPr/>
          <p:nvPr/>
        </p:nvSpPr>
        <p:spPr>
          <a:xfrm>
            <a:off x="1143000" y="1069848"/>
            <a:ext cx="3291840"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Pretexting</a:t>
            </a:r>
            <a:endParaRPr lang="en-US" sz="1300" dirty="0"/>
          </a:p>
        </p:txBody>
      </p:sp>
      <p:sp>
        <p:nvSpPr>
          <p:cNvPr id="11" name="Text 7"/>
          <p:cNvSpPr/>
          <p:nvPr/>
        </p:nvSpPr>
        <p:spPr>
          <a:xfrm>
            <a:off x="1143000" y="1399032"/>
            <a:ext cx="3310128" cy="694944"/>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Attacker creates a fabricated scenario to extract information. Example: 'I'm from HR updating payroll — confirm your account number.'</a:t>
            </a:r>
            <a:endParaRPr lang="en-US" sz="1000" dirty="0"/>
          </a:p>
        </p:txBody>
      </p:sp>
      <p:sp>
        <p:nvSpPr>
          <p:cNvPr id="12" name="Shape 8"/>
          <p:cNvSpPr/>
          <p:nvPr/>
        </p:nvSpPr>
        <p:spPr>
          <a:xfrm>
            <a:off x="4754880" y="960120"/>
            <a:ext cx="4114800" cy="1234440"/>
          </a:xfrm>
          <a:prstGeom prst="rect">
            <a:avLst/>
          </a:prstGeom>
          <a:solidFill>
            <a:srgbClr val="F7F8FC"/>
          </a:solidFill>
          <a:ln w="12700">
            <a:solidFill>
              <a:srgbClr val="D8DCE8"/>
            </a:solidFill>
            <a:prstDash val="solid"/>
          </a:ln>
        </p:spPr>
      </p:sp>
      <p:sp>
        <p:nvSpPr>
          <p:cNvPr id="13" name="Shape 9"/>
          <p:cNvSpPr/>
          <p:nvPr/>
        </p:nvSpPr>
        <p:spPr>
          <a:xfrm>
            <a:off x="4754880" y="960120"/>
            <a:ext cx="45720" cy="1234440"/>
          </a:xfrm>
          <a:prstGeom prst="rect">
            <a:avLst/>
          </a:prstGeom>
          <a:solidFill>
            <a:srgbClr val="E8523A"/>
          </a:solidFill>
          <a:ln w="12700">
            <a:solidFill>
              <a:srgbClr val="E8523A">
                <a:alpha val="0"/>
              </a:srgbClr>
            </a:solidFill>
            <a:prstDash val="solid"/>
          </a:ln>
        </p:spPr>
      </p:sp>
      <p:pic>
        <p:nvPicPr>
          <p:cNvPr id="14" name="Image 2" descr="preencoded.png"/>
          <p:cNvPicPr>
            <a:picLocks noChangeAspect="1"/>
          </p:cNvPicPr>
          <p:nvPr/>
        </p:nvPicPr>
        <p:blipFill>
          <a:blip r:embed="rId4"/>
          <a:stretch>
            <a:fillRect/>
          </a:stretch>
        </p:blipFill>
        <p:spPr>
          <a:xfrm>
            <a:off x="4919472" y="1234440"/>
            <a:ext cx="384048" cy="384048"/>
          </a:xfrm>
          <a:prstGeom prst="rect">
            <a:avLst/>
          </a:prstGeom>
        </p:spPr>
      </p:pic>
      <p:sp>
        <p:nvSpPr>
          <p:cNvPr id="15" name="Text 10"/>
          <p:cNvSpPr/>
          <p:nvPr/>
        </p:nvSpPr>
        <p:spPr>
          <a:xfrm>
            <a:off x="5440680" y="1069848"/>
            <a:ext cx="3291840"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Baiting</a:t>
            </a:r>
            <a:endParaRPr lang="en-US" sz="1300" dirty="0"/>
          </a:p>
        </p:txBody>
      </p:sp>
      <p:sp>
        <p:nvSpPr>
          <p:cNvPr id="16" name="Text 11"/>
          <p:cNvSpPr/>
          <p:nvPr/>
        </p:nvSpPr>
        <p:spPr>
          <a:xfrm>
            <a:off x="5440680" y="1399032"/>
            <a:ext cx="3310128" cy="694944"/>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Dangles tempting bait — infected USB drives left in parking lots, or 'Free Netflix Premium' downloads laced with malware.</a:t>
            </a:r>
            <a:endParaRPr lang="en-US" sz="1000" dirty="0"/>
          </a:p>
        </p:txBody>
      </p:sp>
      <p:sp>
        <p:nvSpPr>
          <p:cNvPr id="17" name="Shape 12"/>
          <p:cNvSpPr/>
          <p:nvPr/>
        </p:nvSpPr>
        <p:spPr>
          <a:xfrm>
            <a:off x="457200" y="2350008"/>
            <a:ext cx="4114800" cy="1234440"/>
          </a:xfrm>
          <a:prstGeom prst="rect">
            <a:avLst/>
          </a:prstGeom>
          <a:solidFill>
            <a:srgbClr val="F7F8FC"/>
          </a:solidFill>
          <a:ln w="12700">
            <a:solidFill>
              <a:srgbClr val="D8DCE8"/>
            </a:solidFill>
            <a:prstDash val="solid"/>
          </a:ln>
        </p:spPr>
      </p:sp>
      <p:sp>
        <p:nvSpPr>
          <p:cNvPr id="18" name="Shape 13"/>
          <p:cNvSpPr/>
          <p:nvPr/>
        </p:nvSpPr>
        <p:spPr>
          <a:xfrm>
            <a:off x="457200" y="2350008"/>
            <a:ext cx="45720" cy="1234440"/>
          </a:xfrm>
          <a:prstGeom prst="rect">
            <a:avLst/>
          </a:prstGeom>
          <a:solidFill>
            <a:srgbClr val="4A72C4"/>
          </a:solidFill>
          <a:ln w="12700">
            <a:solidFill>
              <a:srgbClr val="4A72C4">
                <a:alpha val="0"/>
              </a:srgbClr>
            </a:solidFill>
            <a:prstDash val="solid"/>
          </a:ln>
        </p:spPr>
      </p:sp>
      <p:pic>
        <p:nvPicPr>
          <p:cNvPr id="19" name="Image 3" descr="preencoded.png"/>
          <p:cNvPicPr>
            <a:picLocks noChangeAspect="1"/>
          </p:cNvPicPr>
          <p:nvPr/>
        </p:nvPicPr>
        <p:blipFill>
          <a:blip r:embed="rId5"/>
          <a:stretch>
            <a:fillRect/>
          </a:stretch>
        </p:blipFill>
        <p:spPr>
          <a:xfrm>
            <a:off x="621792" y="2624328"/>
            <a:ext cx="384048" cy="384048"/>
          </a:xfrm>
          <a:prstGeom prst="rect">
            <a:avLst/>
          </a:prstGeom>
        </p:spPr>
      </p:pic>
      <p:sp>
        <p:nvSpPr>
          <p:cNvPr id="20" name="Text 14"/>
          <p:cNvSpPr/>
          <p:nvPr/>
        </p:nvSpPr>
        <p:spPr>
          <a:xfrm>
            <a:off x="1143000" y="2459736"/>
            <a:ext cx="3291840"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Quid Pro Quo</a:t>
            </a:r>
            <a:endParaRPr lang="en-US" sz="1300" dirty="0"/>
          </a:p>
        </p:txBody>
      </p:sp>
      <p:sp>
        <p:nvSpPr>
          <p:cNvPr id="21" name="Text 15"/>
          <p:cNvSpPr/>
          <p:nvPr/>
        </p:nvSpPr>
        <p:spPr>
          <a:xfrm>
            <a:off x="1143000" y="2788920"/>
            <a:ext cx="3310128" cy="694944"/>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'We detected an issue on your PC — give us remote access to fix it.' Then a backdoor is installed during the fake support session.</a:t>
            </a:r>
            <a:endParaRPr lang="en-US" sz="1000" dirty="0"/>
          </a:p>
        </p:txBody>
      </p:sp>
      <p:sp>
        <p:nvSpPr>
          <p:cNvPr id="22" name="Shape 16"/>
          <p:cNvSpPr/>
          <p:nvPr/>
        </p:nvSpPr>
        <p:spPr>
          <a:xfrm>
            <a:off x="4754880" y="2350008"/>
            <a:ext cx="4114800" cy="1234440"/>
          </a:xfrm>
          <a:prstGeom prst="rect">
            <a:avLst/>
          </a:prstGeom>
          <a:solidFill>
            <a:srgbClr val="F7F8FC"/>
          </a:solidFill>
          <a:ln w="12700">
            <a:solidFill>
              <a:srgbClr val="D8DCE8"/>
            </a:solidFill>
            <a:prstDash val="solid"/>
          </a:ln>
        </p:spPr>
      </p:sp>
      <p:sp>
        <p:nvSpPr>
          <p:cNvPr id="23" name="Shape 17"/>
          <p:cNvSpPr/>
          <p:nvPr/>
        </p:nvSpPr>
        <p:spPr>
          <a:xfrm>
            <a:off x="4754880" y="2350008"/>
            <a:ext cx="45720" cy="1234440"/>
          </a:xfrm>
          <a:prstGeom prst="rect">
            <a:avLst/>
          </a:prstGeom>
          <a:solidFill>
            <a:srgbClr val="1A2340"/>
          </a:solidFill>
          <a:ln w="12700">
            <a:solidFill>
              <a:srgbClr val="1A2340">
                <a:alpha val="0"/>
              </a:srgbClr>
            </a:solidFill>
            <a:prstDash val="solid"/>
          </a:ln>
        </p:spPr>
      </p:sp>
      <p:pic>
        <p:nvPicPr>
          <p:cNvPr id="24" name="Image 4" descr="preencoded.png"/>
          <p:cNvPicPr>
            <a:picLocks noChangeAspect="1"/>
          </p:cNvPicPr>
          <p:nvPr/>
        </p:nvPicPr>
        <p:blipFill>
          <a:blip r:embed="rId6"/>
          <a:stretch>
            <a:fillRect/>
          </a:stretch>
        </p:blipFill>
        <p:spPr>
          <a:xfrm>
            <a:off x="4919472" y="2624328"/>
            <a:ext cx="384048" cy="384048"/>
          </a:xfrm>
          <a:prstGeom prst="rect">
            <a:avLst/>
          </a:prstGeom>
        </p:spPr>
      </p:pic>
      <p:sp>
        <p:nvSpPr>
          <p:cNvPr id="25" name="Text 18"/>
          <p:cNvSpPr/>
          <p:nvPr/>
        </p:nvSpPr>
        <p:spPr>
          <a:xfrm>
            <a:off x="5440680" y="2459736"/>
            <a:ext cx="3291840"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Tailgating</a:t>
            </a:r>
            <a:endParaRPr lang="en-US" sz="1300" dirty="0"/>
          </a:p>
        </p:txBody>
      </p:sp>
      <p:sp>
        <p:nvSpPr>
          <p:cNvPr id="26" name="Text 19"/>
          <p:cNvSpPr/>
          <p:nvPr/>
        </p:nvSpPr>
        <p:spPr>
          <a:xfrm>
            <a:off x="5440680" y="2788920"/>
            <a:ext cx="3310128" cy="694944"/>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Physically follows an authorized person through a secure door. Digitally, piggybacks on your active session or reused credentials.</a:t>
            </a:r>
            <a:endParaRPr lang="en-US" sz="1000" dirty="0"/>
          </a:p>
        </p:txBody>
      </p:sp>
      <p:sp>
        <p:nvSpPr>
          <p:cNvPr id="27" name="Shape 20"/>
          <p:cNvSpPr/>
          <p:nvPr/>
        </p:nvSpPr>
        <p:spPr>
          <a:xfrm>
            <a:off x="457200" y="3739896"/>
            <a:ext cx="4114800" cy="1234440"/>
          </a:xfrm>
          <a:prstGeom prst="rect">
            <a:avLst/>
          </a:prstGeom>
          <a:solidFill>
            <a:srgbClr val="F7F8FC"/>
          </a:solidFill>
          <a:ln w="12700">
            <a:solidFill>
              <a:srgbClr val="D8DCE8"/>
            </a:solidFill>
            <a:prstDash val="solid"/>
          </a:ln>
        </p:spPr>
      </p:sp>
      <p:sp>
        <p:nvSpPr>
          <p:cNvPr id="28" name="Shape 21"/>
          <p:cNvSpPr/>
          <p:nvPr/>
        </p:nvSpPr>
        <p:spPr>
          <a:xfrm>
            <a:off x="457200" y="3739896"/>
            <a:ext cx="45720" cy="1234440"/>
          </a:xfrm>
          <a:prstGeom prst="rect">
            <a:avLst/>
          </a:prstGeom>
          <a:solidFill>
            <a:srgbClr val="E8523A"/>
          </a:solidFill>
          <a:ln w="12700">
            <a:solidFill>
              <a:srgbClr val="E8523A">
                <a:alpha val="0"/>
              </a:srgbClr>
            </a:solidFill>
            <a:prstDash val="solid"/>
          </a:ln>
        </p:spPr>
      </p:sp>
      <p:pic>
        <p:nvPicPr>
          <p:cNvPr id="29" name="Image 5" descr="preencoded.png"/>
          <p:cNvPicPr>
            <a:picLocks noChangeAspect="1"/>
          </p:cNvPicPr>
          <p:nvPr/>
        </p:nvPicPr>
        <p:blipFill>
          <a:blip r:embed="rId7"/>
          <a:stretch>
            <a:fillRect/>
          </a:stretch>
        </p:blipFill>
        <p:spPr>
          <a:xfrm>
            <a:off x="621792" y="4014216"/>
            <a:ext cx="384048" cy="384048"/>
          </a:xfrm>
          <a:prstGeom prst="rect">
            <a:avLst/>
          </a:prstGeom>
        </p:spPr>
      </p:pic>
      <p:sp>
        <p:nvSpPr>
          <p:cNvPr id="30" name="Text 22"/>
          <p:cNvSpPr/>
          <p:nvPr/>
        </p:nvSpPr>
        <p:spPr>
          <a:xfrm>
            <a:off x="1143000" y="3849624"/>
            <a:ext cx="3291840"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CEO Fraud / BEC</a:t>
            </a:r>
            <a:endParaRPr lang="en-US" sz="1300" dirty="0"/>
          </a:p>
        </p:txBody>
      </p:sp>
      <p:sp>
        <p:nvSpPr>
          <p:cNvPr id="31" name="Text 23"/>
          <p:cNvSpPr/>
          <p:nvPr/>
        </p:nvSpPr>
        <p:spPr>
          <a:xfrm>
            <a:off x="1143000" y="4178808"/>
            <a:ext cx="3310128" cy="694944"/>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Impersonates an executive to authorize wire transfers. Business Email Compromise costs organizations $26 billion annually worldwide.</a:t>
            </a:r>
            <a:endParaRPr lang="en-US" sz="1000" dirty="0"/>
          </a:p>
        </p:txBody>
      </p:sp>
      <p:sp>
        <p:nvSpPr>
          <p:cNvPr id="32" name="Shape 24"/>
          <p:cNvSpPr/>
          <p:nvPr/>
        </p:nvSpPr>
        <p:spPr>
          <a:xfrm>
            <a:off x="4754880" y="3739896"/>
            <a:ext cx="4114800" cy="1234440"/>
          </a:xfrm>
          <a:prstGeom prst="rect">
            <a:avLst/>
          </a:prstGeom>
          <a:solidFill>
            <a:srgbClr val="F7F8FC"/>
          </a:solidFill>
          <a:ln w="12700">
            <a:solidFill>
              <a:srgbClr val="D8DCE8"/>
            </a:solidFill>
            <a:prstDash val="solid"/>
          </a:ln>
        </p:spPr>
      </p:sp>
      <p:sp>
        <p:nvSpPr>
          <p:cNvPr id="33" name="Shape 25"/>
          <p:cNvSpPr/>
          <p:nvPr/>
        </p:nvSpPr>
        <p:spPr>
          <a:xfrm>
            <a:off x="4754880" y="3739896"/>
            <a:ext cx="45720" cy="1234440"/>
          </a:xfrm>
          <a:prstGeom prst="rect">
            <a:avLst/>
          </a:prstGeom>
          <a:solidFill>
            <a:srgbClr val="4A72C4"/>
          </a:solidFill>
          <a:ln w="12700">
            <a:solidFill>
              <a:srgbClr val="4A72C4">
                <a:alpha val="0"/>
              </a:srgbClr>
            </a:solidFill>
            <a:prstDash val="solid"/>
          </a:ln>
        </p:spPr>
      </p:sp>
      <p:pic>
        <p:nvPicPr>
          <p:cNvPr id="34" name="Image 6" descr="preencoded.png"/>
          <p:cNvPicPr>
            <a:picLocks noChangeAspect="1"/>
          </p:cNvPicPr>
          <p:nvPr/>
        </p:nvPicPr>
        <p:blipFill>
          <a:blip r:embed="rId8"/>
          <a:stretch>
            <a:fillRect/>
          </a:stretch>
        </p:blipFill>
        <p:spPr>
          <a:xfrm>
            <a:off x="4919472" y="4014216"/>
            <a:ext cx="384048" cy="384048"/>
          </a:xfrm>
          <a:prstGeom prst="rect">
            <a:avLst/>
          </a:prstGeom>
        </p:spPr>
      </p:pic>
      <p:sp>
        <p:nvSpPr>
          <p:cNvPr id="35" name="Text 26"/>
          <p:cNvSpPr/>
          <p:nvPr/>
        </p:nvSpPr>
        <p:spPr>
          <a:xfrm>
            <a:off x="5440680" y="3849624"/>
            <a:ext cx="3291840" cy="274320"/>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Watering Hole</a:t>
            </a:r>
            <a:endParaRPr lang="en-US" sz="1300" dirty="0"/>
          </a:p>
        </p:txBody>
      </p:sp>
      <p:sp>
        <p:nvSpPr>
          <p:cNvPr id="36" name="Text 27"/>
          <p:cNvSpPr/>
          <p:nvPr/>
        </p:nvSpPr>
        <p:spPr>
          <a:xfrm>
            <a:off x="5440680" y="4178808"/>
            <a:ext cx="3310128" cy="694944"/>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Compromises websites your target frequently visits. Students visiting academic journal sites can be silently infected.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14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Real-World Case Studies</a:t>
            </a:r>
            <a:endParaRPr lang="en-US" sz="3000" dirty="0"/>
          </a:p>
        </p:txBody>
      </p:sp>
      <p:sp>
        <p:nvSpPr>
          <p:cNvPr id="6" name="Shape 4"/>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5"/>
          <p:cNvSpPr/>
          <p:nvPr/>
        </p:nvSpPr>
        <p:spPr>
          <a:xfrm>
            <a:off x="457200" y="960120"/>
            <a:ext cx="4114800" cy="384048"/>
          </a:xfrm>
          <a:prstGeom prst="rect">
            <a:avLst/>
          </a:prstGeom>
          <a:solidFill>
            <a:srgbClr val="1A2340"/>
          </a:solidFill>
          <a:ln w="12700">
            <a:solidFill>
              <a:srgbClr val="1A2340">
                <a:alpha val="0"/>
              </a:srgbClr>
            </a:solidFill>
            <a:prstDash val="solid"/>
          </a:ln>
        </p:spPr>
      </p:sp>
      <p:sp>
        <p:nvSpPr>
          <p:cNvPr id="8" name="Text 6"/>
          <p:cNvSpPr/>
          <p:nvPr/>
        </p:nvSpPr>
        <p:spPr>
          <a:xfrm>
            <a:off x="566928" y="960120"/>
            <a:ext cx="3913632" cy="384048"/>
          </a:xfrm>
          <a:prstGeom prst="rect">
            <a:avLst/>
          </a:prstGeom>
          <a:noFill/>
          <a:ln/>
        </p:spPr>
        <p:txBody>
          <a:bodyPr wrap="square" lIns="0" tIns="0" rIns="0" bIns="0" rtlCol="0" anchor="ctr"/>
          <a:lstStyle/>
          <a:p>
            <a:pPr marL="0" indent="0">
              <a:buNone/>
            </a:pPr>
            <a:r>
              <a:rPr lang="en-US" sz="1050" b="1" dirty="0">
                <a:solidFill>
                  <a:srgbClr val="F5C518"/>
                </a:solidFill>
                <a:latin typeface="Georgia" pitchFamily="34" charset="0"/>
                <a:ea typeface="Georgia" pitchFamily="34" charset="-122"/>
                <a:cs typeface="Georgia" pitchFamily="34" charset="-120"/>
              </a:rPr>
              <a:t>2016  ·  GOOGLE &amp; FACEBOOK</a:t>
            </a:r>
            <a:endParaRPr lang="en-US" sz="1050" dirty="0"/>
          </a:p>
        </p:txBody>
      </p:sp>
      <p:sp>
        <p:nvSpPr>
          <p:cNvPr id="9" name="Shape 7"/>
          <p:cNvSpPr/>
          <p:nvPr/>
        </p:nvSpPr>
        <p:spPr>
          <a:xfrm>
            <a:off x="457200" y="1344168"/>
            <a:ext cx="4114800" cy="1600200"/>
          </a:xfrm>
          <a:prstGeom prst="rect">
            <a:avLst/>
          </a:prstGeom>
          <a:solidFill>
            <a:srgbClr val="F7F8FC"/>
          </a:solidFill>
          <a:ln w="12700">
            <a:solidFill>
              <a:srgbClr val="D8DCE8"/>
            </a:solidFill>
            <a:prstDash val="solid"/>
          </a:ln>
        </p:spPr>
      </p:sp>
      <p:sp>
        <p:nvSpPr>
          <p:cNvPr id="10" name="Text 8"/>
          <p:cNvSpPr/>
          <p:nvPr/>
        </p:nvSpPr>
        <p:spPr>
          <a:xfrm>
            <a:off x="594360" y="1435608"/>
            <a:ext cx="3840480" cy="320040"/>
          </a:xfrm>
          <a:prstGeom prst="rect">
            <a:avLst/>
          </a:prstGeom>
          <a:noFill/>
          <a:ln/>
        </p:spPr>
        <p:txBody>
          <a:bodyPr wrap="square" lIns="0" tIns="0" rIns="0" bIns="0" rtlCol="0" anchor="ctr"/>
          <a:lstStyle/>
          <a:p>
            <a:pPr marL="0" indent="0">
              <a:buNone/>
            </a:pPr>
            <a:r>
              <a:rPr lang="en-US" sz="1350" b="1" dirty="0">
                <a:solidFill>
                  <a:srgbClr val="1A2340"/>
                </a:solidFill>
                <a:latin typeface="Georgia" pitchFamily="34" charset="0"/>
                <a:ea typeface="Georgia" pitchFamily="34" charset="-122"/>
                <a:cs typeface="Georgia" pitchFamily="34" charset="-120"/>
              </a:rPr>
              <a:t>$100 Million Stolen</a:t>
            </a:r>
            <a:endParaRPr lang="en-US" sz="1350" dirty="0"/>
          </a:p>
        </p:txBody>
      </p:sp>
      <p:sp>
        <p:nvSpPr>
          <p:cNvPr id="11" name="Text 9"/>
          <p:cNvSpPr/>
          <p:nvPr/>
        </p:nvSpPr>
        <p:spPr>
          <a:xfrm>
            <a:off x="594360" y="1783080"/>
            <a:ext cx="3840480" cy="5943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Fake invoices impersonating hardware supplier Quanta Computer were sent over two full years</a:t>
            </a:r>
            <a:endParaRPr lang="en-US" sz="1000" dirty="0"/>
          </a:p>
        </p:txBody>
      </p:sp>
      <p:sp>
        <p:nvSpPr>
          <p:cNvPr id="12" name="Shape 10"/>
          <p:cNvSpPr/>
          <p:nvPr/>
        </p:nvSpPr>
        <p:spPr>
          <a:xfrm>
            <a:off x="566928" y="2423160"/>
            <a:ext cx="54864" cy="411480"/>
          </a:xfrm>
          <a:prstGeom prst="rect">
            <a:avLst/>
          </a:prstGeom>
          <a:solidFill>
            <a:srgbClr val="F5C518"/>
          </a:solidFill>
          <a:ln w="12700">
            <a:solidFill>
              <a:srgbClr val="F5C518">
                <a:alpha val="0"/>
              </a:srgbClr>
            </a:solidFill>
            <a:prstDash val="solid"/>
          </a:ln>
        </p:spPr>
      </p:sp>
      <p:sp>
        <p:nvSpPr>
          <p:cNvPr id="13" name="Text 11"/>
          <p:cNvSpPr/>
          <p:nvPr/>
        </p:nvSpPr>
        <p:spPr>
          <a:xfrm>
            <a:off x="694944" y="2404872"/>
            <a:ext cx="3749040" cy="411480"/>
          </a:xfrm>
          <a:prstGeom prst="rect">
            <a:avLst/>
          </a:prstGeom>
          <a:noFill/>
          <a:ln/>
        </p:spPr>
        <p:txBody>
          <a:bodyPr wrap="square" rtlCol="0" anchor="ctr"/>
          <a:lstStyle/>
          <a:p>
            <a:pPr marL="0" indent="0">
              <a:buNone/>
            </a:pPr>
            <a:r>
              <a:rPr lang="en-US" sz="900" i="1" dirty="0">
                <a:solidFill>
                  <a:srgbClr val="4A72C4"/>
                </a:solidFill>
                <a:latin typeface="Calibri" pitchFamily="34" charset="0"/>
                <a:ea typeface="Calibri" pitchFamily="34" charset="-122"/>
                <a:cs typeface="Calibri" pitchFamily="34" charset="-120"/>
              </a:rPr>
              <a:t>Lesson: Always verify vendor payment changes via a direct phone call to a known number</a:t>
            </a:r>
            <a:endParaRPr lang="en-US" sz="900" dirty="0"/>
          </a:p>
        </p:txBody>
      </p:sp>
      <p:sp>
        <p:nvSpPr>
          <p:cNvPr id="14" name="Shape 12"/>
          <p:cNvSpPr/>
          <p:nvPr/>
        </p:nvSpPr>
        <p:spPr>
          <a:xfrm>
            <a:off x="4754880" y="960120"/>
            <a:ext cx="4114800" cy="384048"/>
          </a:xfrm>
          <a:prstGeom prst="rect">
            <a:avLst/>
          </a:prstGeom>
          <a:solidFill>
            <a:srgbClr val="4A72C4"/>
          </a:solidFill>
          <a:ln w="12700">
            <a:solidFill>
              <a:srgbClr val="4A72C4">
                <a:alpha val="0"/>
              </a:srgbClr>
            </a:solidFill>
            <a:prstDash val="solid"/>
          </a:ln>
        </p:spPr>
      </p:sp>
      <p:sp>
        <p:nvSpPr>
          <p:cNvPr id="15" name="Text 13"/>
          <p:cNvSpPr/>
          <p:nvPr/>
        </p:nvSpPr>
        <p:spPr>
          <a:xfrm>
            <a:off x="4864608" y="960120"/>
            <a:ext cx="3913632" cy="384048"/>
          </a:xfrm>
          <a:prstGeom prst="rect">
            <a:avLst/>
          </a:prstGeom>
          <a:noFill/>
          <a:ln/>
        </p:spPr>
        <p:txBody>
          <a:bodyPr wrap="square" lIns="0" tIns="0" rIns="0" bIns="0" rtlCol="0" anchor="ctr"/>
          <a:lstStyle/>
          <a:p>
            <a:pPr marL="0" indent="0">
              <a:buNone/>
            </a:pPr>
            <a:r>
              <a:rPr lang="en-US" sz="1050" b="1" dirty="0">
                <a:solidFill>
                  <a:srgbClr val="FFFFFF"/>
                </a:solidFill>
                <a:latin typeface="Georgia" pitchFamily="34" charset="0"/>
                <a:ea typeface="Georgia" pitchFamily="34" charset="-122"/>
                <a:cs typeface="Georgia" pitchFamily="34" charset="-120"/>
              </a:rPr>
              <a:t>2020  ·  TWITTER HACK</a:t>
            </a:r>
            <a:endParaRPr lang="en-US" sz="1050" dirty="0"/>
          </a:p>
        </p:txBody>
      </p:sp>
      <p:sp>
        <p:nvSpPr>
          <p:cNvPr id="16" name="Shape 14"/>
          <p:cNvSpPr/>
          <p:nvPr/>
        </p:nvSpPr>
        <p:spPr>
          <a:xfrm>
            <a:off x="4754880" y="1344168"/>
            <a:ext cx="4114800" cy="1600200"/>
          </a:xfrm>
          <a:prstGeom prst="rect">
            <a:avLst/>
          </a:prstGeom>
          <a:solidFill>
            <a:srgbClr val="F7F8FC"/>
          </a:solidFill>
          <a:ln w="12700">
            <a:solidFill>
              <a:srgbClr val="D8DCE8"/>
            </a:solidFill>
            <a:prstDash val="solid"/>
          </a:ln>
        </p:spPr>
      </p:sp>
      <p:sp>
        <p:nvSpPr>
          <p:cNvPr id="17" name="Text 15"/>
          <p:cNvSpPr/>
          <p:nvPr/>
        </p:nvSpPr>
        <p:spPr>
          <a:xfrm>
            <a:off x="4892040" y="1435608"/>
            <a:ext cx="3840480" cy="320040"/>
          </a:xfrm>
          <a:prstGeom prst="rect">
            <a:avLst/>
          </a:prstGeom>
          <a:noFill/>
          <a:ln/>
        </p:spPr>
        <p:txBody>
          <a:bodyPr wrap="square" lIns="0" tIns="0" rIns="0" bIns="0" rtlCol="0" anchor="ctr"/>
          <a:lstStyle/>
          <a:p>
            <a:pPr marL="0" indent="0">
              <a:buNone/>
            </a:pPr>
            <a:r>
              <a:rPr lang="en-US" sz="1350" b="1" dirty="0">
                <a:solidFill>
                  <a:srgbClr val="1A2340"/>
                </a:solidFill>
                <a:latin typeface="Georgia" pitchFamily="34" charset="0"/>
                <a:ea typeface="Georgia" pitchFamily="34" charset="-122"/>
                <a:cs typeface="Georgia" pitchFamily="34" charset="-120"/>
              </a:rPr>
              <a:t>130 VIP Accounts Breached</a:t>
            </a:r>
            <a:endParaRPr lang="en-US" sz="1350" dirty="0"/>
          </a:p>
        </p:txBody>
      </p:sp>
      <p:sp>
        <p:nvSpPr>
          <p:cNvPr id="18" name="Text 16"/>
          <p:cNvSpPr/>
          <p:nvPr/>
        </p:nvSpPr>
        <p:spPr>
          <a:xfrm>
            <a:off x="4892040" y="1783080"/>
            <a:ext cx="3840480" cy="5943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Phone-based spear phishing targeted Twitter employees to access internal admin tools</a:t>
            </a:r>
            <a:endParaRPr lang="en-US" sz="1000" dirty="0"/>
          </a:p>
        </p:txBody>
      </p:sp>
      <p:sp>
        <p:nvSpPr>
          <p:cNvPr id="19" name="Shape 17"/>
          <p:cNvSpPr/>
          <p:nvPr/>
        </p:nvSpPr>
        <p:spPr>
          <a:xfrm>
            <a:off x="4864608" y="2423160"/>
            <a:ext cx="54864" cy="411480"/>
          </a:xfrm>
          <a:prstGeom prst="rect">
            <a:avLst/>
          </a:prstGeom>
          <a:solidFill>
            <a:srgbClr val="F5C518"/>
          </a:solidFill>
          <a:ln w="12700">
            <a:solidFill>
              <a:srgbClr val="F5C518">
                <a:alpha val="0"/>
              </a:srgbClr>
            </a:solidFill>
            <a:prstDash val="solid"/>
          </a:ln>
        </p:spPr>
      </p:sp>
      <p:sp>
        <p:nvSpPr>
          <p:cNvPr id="20" name="Text 18"/>
          <p:cNvSpPr/>
          <p:nvPr/>
        </p:nvSpPr>
        <p:spPr>
          <a:xfrm>
            <a:off x="4992624" y="2404872"/>
            <a:ext cx="3749040" cy="411480"/>
          </a:xfrm>
          <a:prstGeom prst="rect">
            <a:avLst/>
          </a:prstGeom>
          <a:noFill/>
          <a:ln/>
        </p:spPr>
        <p:txBody>
          <a:bodyPr wrap="square" rtlCol="0" anchor="ctr"/>
          <a:lstStyle/>
          <a:p>
            <a:pPr marL="0" indent="0">
              <a:buNone/>
            </a:pPr>
            <a:r>
              <a:rPr lang="en-US" sz="900" i="1" dirty="0">
                <a:solidFill>
                  <a:srgbClr val="4A72C4"/>
                </a:solidFill>
                <a:latin typeface="Calibri" pitchFamily="34" charset="0"/>
                <a:ea typeface="Calibri" pitchFamily="34" charset="-122"/>
                <a:cs typeface="Calibri" pitchFamily="34" charset="-120"/>
              </a:rPr>
              <a:t>Lesson: Employee social engineering is the easiest entry point into any organization</a:t>
            </a:r>
            <a:endParaRPr lang="en-US" sz="900" dirty="0"/>
          </a:p>
        </p:txBody>
      </p:sp>
      <p:sp>
        <p:nvSpPr>
          <p:cNvPr id="21" name="Shape 19"/>
          <p:cNvSpPr/>
          <p:nvPr/>
        </p:nvSpPr>
        <p:spPr>
          <a:xfrm>
            <a:off x="457200" y="3017520"/>
            <a:ext cx="4114800" cy="384048"/>
          </a:xfrm>
          <a:prstGeom prst="rect">
            <a:avLst/>
          </a:prstGeom>
          <a:solidFill>
            <a:srgbClr val="E8523A"/>
          </a:solidFill>
          <a:ln w="12700">
            <a:solidFill>
              <a:srgbClr val="E8523A">
                <a:alpha val="0"/>
              </a:srgbClr>
            </a:solidFill>
            <a:prstDash val="solid"/>
          </a:ln>
        </p:spPr>
      </p:sp>
      <p:sp>
        <p:nvSpPr>
          <p:cNvPr id="22" name="Text 20"/>
          <p:cNvSpPr/>
          <p:nvPr/>
        </p:nvSpPr>
        <p:spPr>
          <a:xfrm>
            <a:off x="566928" y="3017520"/>
            <a:ext cx="3913632" cy="384048"/>
          </a:xfrm>
          <a:prstGeom prst="rect">
            <a:avLst/>
          </a:prstGeom>
          <a:noFill/>
          <a:ln/>
        </p:spPr>
        <p:txBody>
          <a:bodyPr wrap="square" lIns="0" tIns="0" rIns="0" bIns="0" rtlCol="0" anchor="ctr"/>
          <a:lstStyle/>
          <a:p>
            <a:pPr marL="0" indent="0">
              <a:buNone/>
            </a:pPr>
            <a:r>
              <a:rPr lang="en-US" sz="1050" b="1" dirty="0">
                <a:solidFill>
                  <a:srgbClr val="FFFFFF"/>
                </a:solidFill>
                <a:latin typeface="Georgia" pitchFamily="34" charset="0"/>
                <a:ea typeface="Georgia" pitchFamily="34" charset="-122"/>
                <a:cs typeface="Georgia" pitchFamily="34" charset="-120"/>
              </a:rPr>
              <a:t>2022  ·  UBER DATA BREACH</a:t>
            </a:r>
            <a:endParaRPr lang="en-US" sz="1050" dirty="0"/>
          </a:p>
        </p:txBody>
      </p:sp>
      <p:sp>
        <p:nvSpPr>
          <p:cNvPr id="23" name="Shape 21"/>
          <p:cNvSpPr/>
          <p:nvPr/>
        </p:nvSpPr>
        <p:spPr>
          <a:xfrm>
            <a:off x="457200" y="3401568"/>
            <a:ext cx="4114800" cy="1600200"/>
          </a:xfrm>
          <a:prstGeom prst="rect">
            <a:avLst/>
          </a:prstGeom>
          <a:solidFill>
            <a:srgbClr val="F7F8FC"/>
          </a:solidFill>
          <a:ln w="12700">
            <a:solidFill>
              <a:srgbClr val="D8DCE8"/>
            </a:solidFill>
            <a:prstDash val="solid"/>
          </a:ln>
        </p:spPr>
      </p:sp>
      <p:sp>
        <p:nvSpPr>
          <p:cNvPr id="24" name="Text 22"/>
          <p:cNvSpPr/>
          <p:nvPr/>
        </p:nvSpPr>
        <p:spPr>
          <a:xfrm>
            <a:off x="594360" y="3493008"/>
            <a:ext cx="3840480" cy="320040"/>
          </a:xfrm>
          <a:prstGeom prst="rect">
            <a:avLst/>
          </a:prstGeom>
          <a:noFill/>
          <a:ln/>
        </p:spPr>
        <p:txBody>
          <a:bodyPr wrap="square" lIns="0" tIns="0" rIns="0" bIns="0" rtlCol="0" anchor="ctr"/>
          <a:lstStyle/>
          <a:p>
            <a:pPr marL="0" indent="0">
              <a:buNone/>
            </a:pPr>
            <a:r>
              <a:rPr lang="en-US" sz="1350" b="1" dirty="0">
                <a:solidFill>
                  <a:srgbClr val="1A2340"/>
                </a:solidFill>
                <a:latin typeface="Georgia" pitchFamily="34" charset="0"/>
                <a:ea typeface="Georgia" pitchFamily="34" charset="-122"/>
                <a:cs typeface="Georgia" pitchFamily="34" charset="-120"/>
              </a:rPr>
              <a:t>All Systems Exposed</a:t>
            </a:r>
            <a:endParaRPr lang="en-US" sz="1350" dirty="0"/>
          </a:p>
        </p:txBody>
      </p:sp>
      <p:sp>
        <p:nvSpPr>
          <p:cNvPr id="25" name="Text 23"/>
          <p:cNvSpPr/>
          <p:nvPr/>
        </p:nvSpPr>
        <p:spPr>
          <a:xfrm>
            <a:off x="594360" y="3840480"/>
            <a:ext cx="3840480" cy="5943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 teenager texted an Uber contractor posing as IT, exploiting MFA fatigue until access was granted</a:t>
            </a:r>
            <a:endParaRPr lang="en-US" sz="1000" dirty="0"/>
          </a:p>
        </p:txBody>
      </p:sp>
      <p:sp>
        <p:nvSpPr>
          <p:cNvPr id="26" name="Shape 24"/>
          <p:cNvSpPr/>
          <p:nvPr/>
        </p:nvSpPr>
        <p:spPr>
          <a:xfrm>
            <a:off x="566928" y="4480560"/>
            <a:ext cx="54864" cy="411480"/>
          </a:xfrm>
          <a:prstGeom prst="rect">
            <a:avLst/>
          </a:prstGeom>
          <a:solidFill>
            <a:srgbClr val="F5C518"/>
          </a:solidFill>
          <a:ln w="12700">
            <a:solidFill>
              <a:srgbClr val="F5C518">
                <a:alpha val="0"/>
              </a:srgbClr>
            </a:solidFill>
            <a:prstDash val="solid"/>
          </a:ln>
        </p:spPr>
      </p:sp>
      <p:sp>
        <p:nvSpPr>
          <p:cNvPr id="27" name="Text 25"/>
          <p:cNvSpPr/>
          <p:nvPr/>
        </p:nvSpPr>
        <p:spPr>
          <a:xfrm>
            <a:off x="694944" y="4462272"/>
            <a:ext cx="3749040" cy="411480"/>
          </a:xfrm>
          <a:prstGeom prst="rect">
            <a:avLst/>
          </a:prstGeom>
          <a:noFill/>
          <a:ln/>
        </p:spPr>
        <p:txBody>
          <a:bodyPr wrap="square" rtlCol="0" anchor="ctr"/>
          <a:lstStyle/>
          <a:p>
            <a:pPr marL="0" indent="0">
              <a:buNone/>
            </a:pPr>
            <a:r>
              <a:rPr lang="en-US" sz="900" i="1" dirty="0">
                <a:solidFill>
                  <a:srgbClr val="4A72C4"/>
                </a:solidFill>
                <a:latin typeface="Calibri" pitchFamily="34" charset="0"/>
                <a:ea typeface="Calibri" pitchFamily="34" charset="-122"/>
                <a:cs typeface="Calibri" pitchFamily="34" charset="-120"/>
              </a:rPr>
              <a:t>Lesson: Multi-factor authentication is not bulletproof — social engineering can bypass it</a:t>
            </a:r>
            <a:endParaRPr lang="en-US" sz="900" dirty="0"/>
          </a:p>
        </p:txBody>
      </p:sp>
      <p:sp>
        <p:nvSpPr>
          <p:cNvPr id="28" name="Shape 26"/>
          <p:cNvSpPr/>
          <p:nvPr/>
        </p:nvSpPr>
        <p:spPr>
          <a:xfrm>
            <a:off x="4754880" y="3017520"/>
            <a:ext cx="4114800" cy="384048"/>
          </a:xfrm>
          <a:prstGeom prst="rect">
            <a:avLst/>
          </a:prstGeom>
          <a:solidFill>
            <a:srgbClr val="F5C518"/>
          </a:solidFill>
          <a:ln w="12700">
            <a:solidFill>
              <a:srgbClr val="F5C518">
                <a:alpha val="0"/>
              </a:srgbClr>
            </a:solidFill>
            <a:prstDash val="solid"/>
          </a:ln>
        </p:spPr>
      </p:sp>
      <p:sp>
        <p:nvSpPr>
          <p:cNvPr id="29" name="Text 27"/>
          <p:cNvSpPr/>
          <p:nvPr/>
        </p:nvSpPr>
        <p:spPr>
          <a:xfrm>
            <a:off x="4864608" y="3017520"/>
            <a:ext cx="3913632" cy="384048"/>
          </a:xfrm>
          <a:prstGeom prst="rect">
            <a:avLst/>
          </a:prstGeom>
          <a:noFill/>
          <a:ln/>
        </p:spPr>
        <p:txBody>
          <a:bodyPr wrap="square" lIns="0" tIns="0" rIns="0" bIns="0" rtlCol="0" anchor="ctr"/>
          <a:lstStyle/>
          <a:p>
            <a:pPr marL="0" indent="0">
              <a:buNone/>
            </a:pPr>
            <a:r>
              <a:rPr lang="en-US" sz="1050" b="1" dirty="0">
                <a:solidFill>
                  <a:srgbClr val="1A2340"/>
                </a:solidFill>
                <a:latin typeface="Georgia" pitchFamily="34" charset="0"/>
                <a:ea typeface="Georgia" pitchFamily="34" charset="-122"/>
                <a:cs typeface="Georgia" pitchFamily="34" charset="-120"/>
              </a:rPr>
              <a:t>2023  ·  MGM RESORTS</a:t>
            </a:r>
            <a:endParaRPr lang="en-US" sz="1050" dirty="0"/>
          </a:p>
        </p:txBody>
      </p:sp>
      <p:sp>
        <p:nvSpPr>
          <p:cNvPr id="30" name="Shape 28"/>
          <p:cNvSpPr/>
          <p:nvPr/>
        </p:nvSpPr>
        <p:spPr>
          <a:xfrm>
            <a:off x="4754880" y="3401568"/>
            <a:ext cx="4114800" cy="1600200"/>
          </a:xfrm>
          <a:prstGeom prst="rect">
            <a:avLst/>
          </a:prstGeom>
          <a:solidFill>
            <a:srgbClr val="F7F8FC"/>
          </a:solidFill>
          <a:ln w="12700">
            <a:solidFill>
              <a:srgbClr val="D8DCE8"/>
            </a:solidFill>
            <a:prstDash val="solid"/>
          </a:ln>
        </p:spPr>
      </p:sp>
      <p:sp>
        <p:nvSpPr>
          <p:cNvPr id="31" name="Text 29"/>
          <p:cNvSpPr/>
          <p:nvPr/>
        </p:nvSpPr>
        <p:spPr>
          <a:xfrm>
            <a:off x="4892040" y="3493008"/>
            <a:ext cx="3840480" cy="320040"/>
          </a:xfrm>
          <a:prstGeom prst="rect">
            <a:avLst/>
          </a:prstGeom>
          <a:noFill/>
          <a:ln/>
        </p:spPr>
        <p:txBody>
          <a:bodyPr wrap="square" lIns="0" tIns="0" rIns="0" bIns="0" rtlCol="0" anchor="ctr"/>
          <a:lstStyle/>
          <a:p>
            <a:pPr marL="0" indent="0">
              <a:buNone/>
            </a:pPr>
            <a:r>
              <a:rPr lang="en-US" sz="1350" b="1" dirty="0">
                <a:solidFill>
                  <a:srgbClr val="1A2340"/>
                </a:solidFill>
                <a:latin typeface="Georgia" pitchFamily="34" charset="0"/>
                <a:ea typeface="Georgia" pitchFamily="34" charset="-122"/>
                <a:cs typeface="Georgia" pitchFamily="34" charset="-120"/>
              </a:rPr>
              <a:t>$100M + 10-Day Outage</a:t>
            </a:r>
            <a:endParaRPr lang="en-US" sz="1350" dirty="0"/>
          </a:p>
        </p:txBody>
      </p:sp>
      <p:sp>
        <p:nvSpPr>
          <p:cNvPr id="32" name="Text 30"/>
          <p:cNvSpPr/>
          <p:nvPr/>
        </p:nvSpPr>
        <p:spPr>
          <a:xfrm>
            <a:off x="4892040" y="3840480"/>
            <a:ext cx="3840480" cy="59436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Ten minutes of LinkedIn research + one IT helpdesk phone call = complete casino system lockdown</a:t>
            </a:r>
            <a:endParaRPr lang="en-US" sz="1000" dirty="0"/>
          </a:p>
        </p:txBody>
      </p:sp>
      <p:sp>
        <p:nvSpPr>
          <p:cNvPr id="33" name="Shape 31"/>
          <p:cNvSpPr/>
          <p:nvPr/>
        </p:nvSpPr>
        <p:spPr>
          <a:xfrm>
            <a:off x="4864608" y="4480560"/>
            <a:ext cx="54864" cy="411480"/>
          </a:xfrm>
          <a:prstGeom prst="rect">
            <a:avLst/>
          </a:prstGeom>
          <a:solidFill>
            <a:srgbClr val="F5C518"/>
          </a:solidFill>
          <a:ln w="12700">
            <a:solidFill>
              <a:srgbClr val="F5C518">
                <a:alpha val="0"/>
              </a:srgbClr>
            </a:solidFill>
            <a:prstDash val="solid"/>
          </a:ln>
        </p:spPr>
      </p:sp>
      <p:sp>
        <p:nvSpPr>
          <p:cNvPr id="34" name="Text 32"/>
          <p:cNvSpPr/>
          <p:nvPr/>
        </p:nvSpPr>
        <p:spPr>
          <a:xfrm>
            <a:off x="4992624" y="4462272"/>
            <a:ext cx="3749040" cy="411480"/>
          </a:xfrm>
          <a:prstGeom prst="rect">
            <a:avLst/>
          </a:prstGeom>
          <a:noFill/>
          <a:ln/>
        </p:spPr>
        <p:txBody>
          <a:bodyPr wrap="square" rtlCol="0" anchor="ctr"/>
          <a:lstStyle/>
          <a:p>
            <a:pPr marL="0" indent="0">
              <a:buNone/>
            </a:pPr>
            <a:r>
              <a:rPr lang="en-US" sz="900" i="1" dirty="0">
                <a:solidFill>
                  <a:srgbClr val="4A72C4"/>
                </a:solidFill>
                <a:latin typeface="Calibri" pitchFamily="34" charset="0"/>
                <a:ea typeface="Calibri" pitchFamily="34" charset="-122"/>
                <a:cs typeface="Calibri" pitchFamily="34" charset="-120"/>
              </a:rPr>
              <a:t>Lesson: A single convincing call impersonating an employee was all it took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15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Best Practices to Stay Safe</a:t>
            </a:r>
            <a:endParaRPr lang="en-US" sz="3000" dirty="0"/>
          </a:p>
        </p:txBody>
      </p:sp>
      <p:sp>
        <p:nvSpPr>
          <p:cNvPr id="5" name="Shape 3"/>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4"/>
          <p:cNvSpPr/>
          <p:nvPr/>
        </p:nvSpPr>
        <p:spPr>
          <a:xfrm>
            <a:off x="457200" y="960120"/>
            <a:ext cx="4114800" cy="914400"/>
          </a:xfrm>
          <a:prstGeom prst="rect">
            <a:avLst/>
          </a:prstGeom>
          <a:solidFill>
            <a:srgbClr val="F7F8FC"/>
          </a:solidFill>
          <a:ln w="12700">
            <a:solidFill>
              <a:srgbClr val="D8DCE8"/>
            </a:solidFill>
            <a:prstDash val="solid"/>
          </a:ln>
        </p:spPr>
      </p:sp>
      <p:sp>
        <p:nvSpPr>
          <p:cNvPr id="8" name="Shape 5"/>
          <p:cNvSpPr/>
          <p:nvPr/>
        </p:nvSpPr>
        <p:spPr>
          <a:xfrm>
            <a:off x="457200" y="960120"/>
            <a:ext cx="45720" cy="914400"/>
          </a:xfrm>
          <a:prstGeom prst="rect">
            <a:avLst/>
          </a:prstGeom>
          <a:solidFill>
            <a:srgbClr val="2BAE76"/>
          </a:solidFill>
          <a:ln w="12700">
            <a:solidFill>
              <a:srgbClr val="2BAE76">
                <a:alpha val="0"/>
              </a:srgbClr>
            </a:solidFill>
            <a:prstDash val="solid"/>
          </a:ln>
        </p:spPr>
      </p:sp>
      <p:pic>
        <p:nvPicPr>
          <p:cNvPr id="9" name="Image 1" descr="preencoded.png"/>
          <p:cNvPicPr>
            <a:picLocks noChangeAspect="1"/>
          </p:cNvPicPr>
          <p:nvPr/>
        </p:nvPicPr>
        <p:blipFill>
          <a:blip r:embed="rId3"/>
          <a:stretch>
            <a:fillRect/>
          </a:stretch>
        </p:blipFill>
        <p:spPr>
          <a:xfrm>
            <a:off x="603504" y="1161288"/>
            <a:ext cx="365760" cy="365760"/>
          </a:xfrm>
          <a:prstGeom prst="rect">
            <a:avLst/>
          </a:prstGeom>
        </p:spPr>
      </p:pic>
      <p:sp>
        <p:nvSpPr>
          <p:cNvPr id="10" name="Text 6"/>
          <p:cNvSpPr/>
          <p:nvPr/>
        </p:nvSpPr>
        <p:spPr>
          <a:xfrm>
            <a:off x="1097280" y="105156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Enable Multi-Factor Authentication</a:t>
            </a:r>
            <a:endParaRPr lang="en-US" sz="1200" dirty="0"/>
          </a:p>
        </p:txBody>
      </p:sp>
      <p:sp>
        <p:nvSpPr>
          <p:cNvPr id="11" name="Text 7"/>
          <p:cNvSpPr/>
          <p:nvPr/>
        </p:nvSpPr>
        <p:spPr>
          <a:xfrm>
            <a:off x="1097280" y="137160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Adds a critical second layer — even if your password is stolen, attackers are locked out</a:t>
            </a:r>
            <a:endParaRPr lang="en-US" sz="950" dirty="0"/>
          </a:p>
        </p:txBody>
      </p:sp>
      <p:sp>
        <p:nvSpPr>
          <p:cNvPr id="12" name="Shape 8"/>
          <p:cNvSpPr/>
          <p:nvPr/>
        </p:nvSpPr>
        <p:spPr>
          <a:xfrm>
            <a:off x="4754880" y="960120"/>
            <a:ext cx="4114800" cy="914400"/>
          </a:xfrm>
          <a:prstGeom prst="rect">
            <a:avLst/>
          </a:prstGeom>
          <a:solidFill>
            <a:srgbClr val="F7F8FC"/>
          </a:solidFill>
          <a:ln w="12700">
            <a:solidFill>
              <a:srgbClr val="D8DCE8"/>
            </a:solidFill>
            <a:prstDash val="solid"/>
          </a:ln>
        </p:spPr>
      </p:sp>
      <p:sp>
        <p:nvSpPr>
          <p:cNvPr id="13" name="Shape 9"/>
          <p:cNvSpPr/>
          <p:nvPr/>
        </p:nvSpPr>
        <p:spPr>
          <a:xfrm>
            <a:off x="4754880" y="960120"/>
            <a:ext cx="45720" cy="914400"/>
          </a:xfrm>
          <a:prstGeom prst="rect">
            <a:avLst/>
          </a:prstGeom>
          <a:solidFill>
            <a:srgbClr val="1A2340"/>
          </a:solidFill>
          <a:ln w="12700">
            <a:solidFill>
              <a:srgbClr val="1A2340">
                <a:alpha val="0"/>
              </a:srgbClr>
            </a:solidFill>
            <a:prstDash val="solid"/>
          </a:ln>
        </p:spPr>
      </p:sp>
      <p:pic>
        <p:nvPicPr>
          <p:cNvPr id="14" name="Image 2" descr="preencoded.png"/>
          <p:cNvPicPr>
            <a:picLocks noChangeAspect="1"/>
          </p:cNvPicPr>
          <p:nvPr/>
        </p:nvPicPr>
        <p:blipFill>
          <a:blip r:embed="rId4"/>
          <a:stretch>
            <a:fillRect/>
          </a:stretch>
        </p:blipFill>
        <p:spPr>
          <a:xfrm>
            <a:off x="4901184" y="1161288"/>
            <a:ext cx="365760" cy="365760"/>
          </a:xfrm>
          <a:prstGeom prst="rect">
            <a:avLst/>
          </a:prstGeom>
        </p:spPr>
      </p:pic>
      <p:sp>
        <p:nvSpPr>
          <p:cNvPr id="15" name="Text 10"/>
          <p:cNvSpPr/>
          <p:nvPr/>
        </p:nvSpPr>
        <p:spPr>
          <a:xfrm>
            <a:off x="5394960" y="105156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Use a Password Manager</a:t>
            </a:r>
            <a:endParaRPr lang="en-US" sz="1200" dirty="0"/>
          </a:p>
        </p:txBody>
      </p:sp>
      <p:sp>
        <p:nvSpPr>
          <p:cNvPr id="16" name="Text 11"/>
          <p:cNvSpPr/>
          <p:nvPr/>
        </p:nvSpPr>
        <p:spPr>
          <a:xfrm>
            <a:off x="5394960" y="137160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Unique, complex passwords for every account — never reuse a password across sites</a:t>
            </a:r>
            <a:endParaRPr lang="en-US" sz="950" dirty="0"/>
          </a:p>
        </p:txBody>
      </p:sp>
      <p:sp>
        <p:nvSpPr>
          <p:cNvPr id="17" name="Shape 12"/>
          <p:cNvSpPr/>
          <p:nvPr/>
        </p:nvSpPr>
        <p:spPr>
          <a:xfrm>
            <a:off x="457200" y="2011680"/>
            <a:ext cx="4114800" cy="914400"/>
          </a:xfrm>
          <a:prstGeom prst="rect">
            <a:avLst/>
          </a:prstGeom>
          <a:solidFill>
            <a:srgbClr val="F7F8FC"/>
          </a:solidFill>
          <a:ln w="12700">
            <a:solidFill>
              <a:srgbClr val="D8DCE8"/>
            </a:solidFill>
            <a:prstDash val="solid"/>
          </a:ln>
        </p:spPr>
      </p:sp>
      <p:sp>
        <p:nvSpPr>
          <p:cNvPr id="18" name="Shape 13"/>
          <p:cNvSpPr/>
          <p:nvPr/>
        </p:nvSpPr>
        <p:spPr>
          <a:xfrm>
            <a:off x="457200" y="2011680"/>
            <a:ext cx="45720" cy="914400"/>
          </a:xfrm>
          <a:prstGeom prst="rect">
            <a:avLst/>
          </a:prstGeom>
          <a:solidFill>
            <a:srgbClr val="F5C518"/>
          </a:solidFill>
          <a:ln w="12700">
            <a:solidFill>
              <a:srgbClr val="F5C518">
                <a:alpha val="0"/>
              </a:srgbClr>
            </a:solidFill>
            <a:prstDash val="solid"/>
          </a:ln>
        </p:spPr>
      </p:sp>
      <p:pic>
        <p:nvPicPr>
          <p:cNvPr id="19" name="Image 3" descr="preencoded.png"/>
          <p:cNvPicPr>
            <a:picLocks noChangeAspect="1"/>
          </p:cNvPicPr>
          <p:nvPr/>
        </p:nvPicPr>
        <p:blipFill>
          <a:blip r:embed="rId5"/>
          <a:stretch>
            <a:fillRect/>
          </a:stretch>
        </p:blipFill>
        <p:spPr>
          <a:xfrm>
            <a:off x="603504" y="2212848"/>
            <a:ext cx="365760" cy="365760"/>
          </a:xfrm>
          <a:prstGeom prst="rect">
            <a:avLst/>
          </a:prstGeom>
        </p:spPr>
      </p:pic>
      <p:sp>
        <p:nvSpPr>
          <p:cNvPr id="20" name="Text 14"/>
          <p:cNvSpPr/>
          <p:nvPr/>
        </p:nvSpPr>
        <p:spPr>
          <a:xfrm>
            <a:off x="1097280" y="210312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Pause and Verify Before Clicking</a:t>
            </a:r>
            <a:endParaRPr lang="en-US" sz="1200" dirty="0"/>
          </a:p>
        </p:txBody>
      </p:sp>
      <p:sp>
        <p:nvSpPr>
          <p:cNvPr id="21" name="Text 15"/>
          <p:cNvSpPr/>
          <p:nvPr/>
        </p:nvSpPr>
        <p:spPr>
          <a:xfrm>
            <a:off x="1097280" y="242316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Hover links, call senders on known numbers — never act out of panic or urgency</a:t>
            </a:r>
            <a:endParaRPr lang="en-US" sz="950" dirty="0"/>
          </a:p>
        </p:txBody>
      </p:sp>
      <p:sp>
        <p:nvSpPr>
          <p:cNvPr id="22" name="Shape 16"/>
          <p:cNvSpPr/>
          <p:nvPr/>
        </p:nvSpPr>
        <p:spPr>
          <a:xfrm>
            <a:off x="4754880" y="2011680"/>
            <a:ext cx="4114800" cy="914400"/>
          </a:xfrm>
          <a:prstGeom prst="rect">
            <a:avLst/>
          </a:prstGeom>
          <a:solidFill>
            <a:srgbClr val="F7F8FC"/>
          </a:solidFill>
          <a:ln w="12700">
            <a:solidFill>
              <a:srgbClr val="D8DCE8"/>
            </a:solidFill>
            <a:prstDash val="solid"/>
          </a:ln>
        </p:spPr>
      </p:sp>
      <p:sp>
        <p:nvSpPr>
          <p:cNvPr id="23" name="Shape 17"/>
          <p:cNvSpPr/>
          <p:nvPr/>
        </p:nvSpPr>
        <p:spPr>
          <a:xfrm>
            <a:off x="4754880" y="2011680"/>
            <a:ext cx="45720" cy="914400"/>
          </a:xfrm>
          <a:prstGeom prst="rect">
            <a:avLst/>
          </a:prstGeom>
          <a:solidFill>
            <a:srgbClr val="1A2340"/>
          </a:solidFill>
          <a:ln w="12700">
            <a:solidFill>
              <a:srgbClr val="1A2340">
                <a:alpha val="0"/>
              </a:srgbClr>
            </a:solidFill>
            <a:prstDash val="solid"/>
          </a:ln>
        </p:spPr>
      </p:sp>
      <p:pic>
        <p:nvPicPr>
          <p:cNvPr id="24" name="Image 4" descr="preencoded.png"/>
          <p:cNvPicPr>
            <a:picLocks noChangeAspect="1"/>
          </p:cNvPicPr>
          <p:nvPr/>
        </p:nvPicPr>
        <p:blipFill>
          <a:blip r:embed="rId6"/>
          <a:stretch>
            <a:fillRect/>
          </a:stretch>
        </p:blipFill>
        <p:spPr>
          <a:xfrm>
            <a:off x="4901184" y="2212848"/>
            <a:ext cx="365760" cy="365760"/>
          </a:xfrm>
          <a:prstGeom prst="rect">
            <a:avLst/>
          </a:prstGeom>
        </p:spPr>
      </p:pic>
      <p:sp>
        <p:nvSpPr>
          <p:cNvPr id="25" name="Text 18"/>
          <p:cNvSpPr/>
          <p:nvPr/>
        </p:nvSpPr>
        <p:spPr>
          <a:xfrm>
            <a:off x="5394960" y="210312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Keep All Software Updated</a:t>
            </a:r>
            <a:endParaRPr lang="en-US" sz="1200" dirty="0"/>
          </a:p>
        </p:txBody>
      </p:sp>
      <p:sp>
        <p:nvSpPr>
          <p:cNvPr id="26" name="Text 19"/>
          <p:cNvSpPr/>
          <p:nvPr/>
        </p:nvSpPr>
        <p:spPr>
          <a:xfrm>
            <a:off x="5394960" y="242316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Patches close the exact vulnerabilities phishing attacks are designed to exploit</a:t>
            </a:r>
            <a:endParaRPr lang="en-US" sz="950" dirty="0"/>
          </a:p>
        </p:txBody>
      </p:sp>
      <p:sp>
        <p:nvSpPr>
          <p:cNvPr id="27" name="Shape 20"/>
          <p:cNvSpPr/>
          <p:nvPr/>
        </p:nvSpPr>
        <p:spPr>
          <a:xfrm>
            <a:off x="457200" y="3063240"/>
            <a:ext cx="4114800" cy="914400"/>
          </a:xfrm>
          <a:prstGeom prst="rect">
            <a:avLst/>
          </a:prstGeom>
          <a:solidFill>
            <a:srgbClr val="F7F8FC"/>
          </a:solidFill>
          <a:ln w="12700">
            <a:solidFill>
              <a:srgbClr val="D8DCE8"/>
            </a:solidFill>
            <a:prstDash val="solid"/>
          </a:ln>
        </p:spPr>
      </p:sp>
      <p:sp>
        <p:nvSpPr>
          <p:cNvPr id="28" name="Shape 21"/>
          <p:cNvSpPr/>
          <p:nvPr/>
        </p:nvSpPr>
        <p:spPr>
          <a:xfrm>
            <a:off x="457200" y="3063240"/>
            <a:ext cx="45720" cy="914400"/>
          </a:xfrm>
          <a:prstGeom prst="rect">
            <a:avLst/>
          </a:prstGeom>
          <a:solidFill>
            <a:srgbClr val="4A72C4"/>
          </a:solidFill>
          <a:ln w="12700">
            <a:solidFill>
              <a:srgbClr val="4A72C4">
                <a:alpha val="0"/>
              </a:srgbClr>
            </a:solidFill>
            <a:prstDash val="solid"/>
          </a:ln>
        </p:spPr>
      </p:sp>
      <p:pic>
        <p:nvPicPr>
          <p:cNvPr id="29" name="Image 5" descr="preencoded.png"/>
          <p:cNvPicPr>
            <a:picLocks noChangeAspect="1"/>
          </p:cNvPicPr>
          <p:nvPr/>
        </p:nvPicPr>
        <p:blipFill>
          <a:blip r:embed="rId7"/>
          <a:stretch>
            <a:fillRect/>
          </a:stretch>
        </p:blipFill>
        <p:spPr>
          <a:xfrm>
            <a:off x="603504" y="3264408"/>
            <a:ext cx="365760" cy="365760"/>
          </a:xfrm>
          <a:prstGeom prst="rect">
            <a:avLst/>
          </a:prstGeom>
        </p:spPr>
      </p:pic>
      <p:sp>
        <p:nvSpPr>
          <p:cNvPr id="30" name="Text 22"/>
          <p:cNvSpPr/>
          <p:nvPr/>
        </p:nvSpPr>
        <p:spPr>
          <a:xfrm>
            <a:off x="1097280" y="315468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Enable Email Spam and Phishing Filters</a:t>
            </a:r>
            <a:endParaRPr lang="en-US" sz="1200" dirty="0"/>
          </a:p>
        </p:txBody>
      </p:sp>
      <p:sp>
        <p:nvSpPr>
          <p:cNvPr id="31" name="Text 23"/>
          <p:cNvSpPr/>
          <p:nvPr/>
        </p:nvSpPr>
        <p:spPr>
          <a:xfrm>
            <a:off x="1097280" y="347472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Report phishing emails — this trains AI filters and protects the entire user community</a:t>
            </a:r>
            <a:endParaRPr lang="en-US" sz="950" dirty="0"/>
          </a:p>
        </p:txBody>
      </p:sp>
      <p:sp>
        <p:nvSpPr>
          <p:cNvPr id="32" name="Shape 24"/>
          <p:cNvSpPr/>
          <p:nvPr/>
        </p:nvSpPr>
        <p:spPr>
          <a:xfrm>
            <a:off x="4754880" y="3063240"/>
            <a:ext cx="4114800" cy="914400"/>
          </a:xfrm>
          <a:prstGeom prst="rect">
            <a:avLst/>
          </a:prstGeom>
          <a:solidFill>
            <a:srgbClr val="F7F8FC"/>
          </a:solidFill>
          <a:ln w="12700">
            <a:solidFill>
              <a:srgbClr val="D8DCE8"/>
            </a:solidFill>
            <a:prstDash val="solid"/>
          </a:ln>
        </p:spPr>
      </p:sp>
      <p:sp>
        <p:nvSpPr>
          <p:cNvPr id="33" name="Shape 25"/>
          <p:cNvSpPr/>
          <p:nvPr/>
        </p:nvSpPr>
        <p:spPr>
          <a:xfrm>
            <a:off x="4754880" y="3063240"/>
            <a:ext cx="45720" cy="914400"/>
          </a:xfrm>
          <a:prstGeom prst="rect">
            <a:avLst/>
          </a:prstGeom>
          <a:solidFill>
            <a:srgbClr val="E8523A"/>
          </a:solidFill>
          <a:ln w="12700">
            <a:solidFill>
              <a:srgbClr val="E8523A">
                <a:alpha val="0"/>
              </a:srgbClr>
            </a:solidFill>
            <a:prstDash val="solid"/>
          </a:ln>
        </p:spPr>
      </p:sp>
      <p:pic>
        <p:nvPicPr>
          <p:cNvPr id="34" name="Image 6" descr="preencoded.png"/>
          <p:cNvPicPr>
            <a:picLocks noChangeAspect="1"/>
          </p:cNvPicPr>
          <p:nvPr/>
        </p:nvPicPr>
        <p:blipFill>
          <a:blip r:embed="rId8"/>
          <a:stretch>
            <a:fillRect/>
          </a:stretch>
        </p:blipFill>
        <p:spPr>
          <a:xfrm>
            <a:off x="4901184" y="3264408"/>
            <a:ext cx="365760" cy="365760"/>
          </a:xfrm>
          <a:prstGeom prst="rect">
            <a:avLst/>
          </a:prstGeom>
        </p:spPr>
      </p:pic>
      <p:sp>
        <p:nvSpPr>
          <p:cNvPr id="35" name="Text 26"/>
          <p:cNvSpPr/>
          <p:nvPr/>
        </p:nvSpPr>
        <p:spPr>
          <a:xfrm>
            <a:off x="5394960" y="315468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Use a VPN on Public Wi-Fi</a:t>
            </a:r>
            <a:endParaRPr lang="en-US" sz="1200" dirty="0"/>
          </a:p>
        </p:txBody>
      </p:sp>
      <p:sp>
        <p:nvSpPr>
          <p:cNvPr id="36" name="Text 27"/>
          <p:cNvSpPr/>
          <p:nvPr/>
        </p:nvSpPr>
        <p:spPr>
          <a:xfrm>
            <a:off x="5394960" y="347472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Prevent attackers from intercepting your traffic on open networks like cafes and airports</a:t>
            </a:r>
            <a:endParaRPr lang="en-US" sz="950" dirty="0"/>
          </a:p>
        </p:txBody>
      </p:sp>
      <p:sp>
        <p:nvSpPr>
          <p:cNvPr id="37" name="Shape 28"/>
          <p:cNvSpPr/>
          <p:nvPr/>
        </p:nvSpPr>
        <p:spPr>
          <a:xfrm>
            <a:off x="457200" y="4114800"/>
            <a:ext cx="4114800" cy="914400"/>
          </a:xfrm>
          <a:prstGeom prst="rect">
            <a:avLst/>
          </a:prstGeom>
          <a:solidFill>
            <a:srgbClr val="F7F8FC"/>
          </a:solidFill>
          <a:ln w="12700">
            <a:solidFill>
              <a:srgbClr val="D8DCE8"/>
            </a:solidFill>
            <a:prstDash val="solid"/>
          </a:ln>
        </p:spPr>
      </p:sp>
      <p:sp>
        <p:nvSpPr>
          <p:cNvPr id="38" name="Shape 29"/>
          <p:cNvSpPr/>
          <p:nvPr/>
        </p:nvSpPr>
        <p:spPr>
          <a:xfrm>
            <a:off x="457200" y="4114800"/>
            <a:ext cx="45720" cy="914400"/>
          </a:xfrm>
          <a:prstGeom prst="rect">
            <a:avLst/>
          </a:prstGeom>
          <a:solidFill>
            <a:srgbClr val="F5C518"/>
          </a:solidFill>
          <a:ln w="12700">
            <a:solidFill>
              <a:srgbClr val="F5C518">
                <a:alpha val="0"/>
              </a:srgbClr>
            </a:solidFill>
            <a:prstDash val="solid"/>
          </a:ln>
        </p:spPr>
      </p:sp>
      <p:pic>
        <p:nvPicPr>
          <p:cNvPr id="39" name="Image 7" descr="preencoded.png"/>
          <p:cNvPicPr>
            <a:picLocks noChangeAspect="1"/>
          </p:cNvPicPr>
          <p:nvPr/>
        </p:nvPicPr>
        <p:blipFill>
          <a:blip r:embed="rId9"/>
          <a:stretch>
            <a:fillRect/>
          </a:stretch>
        </p:blipFill>
        <p:spPr>
          <a:xfrm>
            <a:off x="603504" y="4315968"/>
            <a:ext cx="365760" cy="365760"/>
          </a:xfrm>
          <a:prstGeom prst="rect">
            <a:avLst/>
          </a:prstGeom>
        </p:spPr>
      </p:pic>
      <p:sp>
        <p:nvSpPr>
          <p:cNvPr id="40" name="Text 30"/>
          <p:cNvSpPr/>
          <p:nvPr/>
        </p:nvSpPr>
        <p:spPr>
          <a:xfrm>
            <a:off x="1097280" y="420624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Limit What You Share Online</a:t>
            </a:r>
            <a:endParaRPr lang="en-US" sz="1200" dirty="0"/>
          </a:p>
        </p:txBody>
      </p:sp>
      <p:sp>
        <p:nvSpPr>
          <p:cNvPr id="41" name="Text 31"/>
          <p:cNvSpPr/>
          <p:nvPr/>
        </p:nvSpPr>
        <p:spPr>
          <a:xfrm>
            <a:off x="1097280" y="452628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Less public information makes it far harder for attackers to craft convincing spear phishing</a:t>
            </a:r>
            <a:endParaRPr lang="en-US" sz="950" dirty="0"/>
          </a:p>
        </p:txBody>
      </p:sp>
      <p:sp>
        <p:nvSpPr>
          <p:cNvPr id="42" name="Shape 32"/>
          <p:cNvSpPr/>
          <p:nvPr/>
        </p:nvSpPr>
        <p:spPr>
          <a:xfrm>
            <a:off x="4754880" y="4114800"/>
            <a:ext cx="4114800" cy="914400"/>
          </a:xfrm>
          <a:prstGeom prst="rect">
            <a:avLst/>
          </a:prstGeom>
          <a:solidFill>
            <a:srgbClr val="F7F8FC"/>
          </a:solidFill>
          <a:ln w="12700">
            <a:solidFill>
              <a:srgbClr val="D8DCE8"/>
            </a:solidFill>
            <a:prstDash val="solid"/>
          </a:ln>
        </p:spPr>
      </p:sp>
      <p:sp>
        <p:nvSpPr>
          <p:cNvPr id="43" name="Shape 33"/>
          <p:cNvSpPr/>
          <p:nvPr/>
        </p:nvSpPr>
        <p:spPr>
          <a:xfrm>
            <a:off x="4754880" y="4114800"/>
            <a:ext cx="45720" cy="914400"/>
          </a:xfrm>
          <a:prstGeom prst="rect">
            <a:avLst/>
          </a:prstGeom>
          <a:solidFill>
            <a:srgbClr val="2BAE76"/>
          </a:solidFill>
          <a:ln w="12700">
            <a:solidFill>
              <a:srgbClr val="2BAE76">
                <a:alpha val="0"/>
              </a:srgbClr>
            </a:solidFill>
            <a:prstDash val="solid"/>
          </a:ln>
        </p:spPr>
      </p:sp>
      <p:pic>
        <p:nvPicPr>
          <p:cNvPr id="44" name="Image 8" descr="preencoded.png"/>
          <p:cNvPicPr>
            <a:picLocks noChangeAspect="1"/>
          </p:cNvPicPr>
          <p:nvPr/>
        </p:nvPicPr>
        <p:blipFill>
          <a:blip r:embed="rId10"/>
          <a:stretch>
            <a:fillRect/>
          </a:stretch>
        </p:blipFill>
        <p:spPr>
          <a:xfrm>
            <a:off x="4901184" y="4315968"/>
            <a:ext cx="365760" cy="365760"/>
          </a:xfrm>
          <a:prstGeom prst="rect">
            <a:avLst/>
          </a:prstGeom>
        </p:spPr>
      </p:pic>
      <p:sp>
        <p:nvSpPr>
          <p:cNvPr id="45" name="Text 34"/>
          <p:cNvSpPr/>
          <p:nvPr/>
        </p:nvSpPr>
        <p:spPr>
          <a:xfrm>
            <a:off x="5394960" y="4206240"/>
            <a:ext cx="3346704"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Monitor Accounts Regularly</a:t>
            </a:r>
            <a:endParaRPr lang="en-US" sz="1200" dirty="0"/>
          </a:p>
        </p:txBody>
      </p:sp>
      <p:sp>
        <p:nvSpPr>
          <p:cNvPr id="46" name="Text 35"/>
          <p:cNvSpPr/>
          <p:nvPr/>
        </p:nvSpPr>
        <p:spPr>
          <a:xfrm>
            <a:off x="5394960" y="4526280"/>
            <a:ext cx="3364992" cy="411480"/>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Check haveibeenpwned.com, review login activity weekly, set Google Alerts for your name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16 / 18</a:t>
            </a:r>
            <a:endParaRPr lang="en-US" sz="750" dirty="0"/>
          </a:p>
        </p:txBody>
      </p:sp>
      <p:sp>
        <p:nvSpPr>
          <p:cNvPr id="4" name="Text 2"/>
          <p:cNvSpPr/>
          <p:nvPr/>
        </p:nvSpPr>
        <p:spPr>
          <a:xfrm>
            <a:off x="457200" y="201168"/>
            <a:ext cx="8046720" cy="493776"/>
          </a:xfrm>
          <a:prstGeom prst="rect">
            <a:avLst/>
          </a:prstGeom>
          <a:noFill/>
          <a:ln/>
        </p:spPr>
        <p:txBody>
          <a:bodyPr wrap="square" lIns="0" tIns="0" rIns="0" bIns="0" rtlCol="0" anchor="ctr"/>
          <a:lstStyle/>
          <a:p>
            <a:pPr marL="0" indent="0">
              <a:buNone/>
            </a:pPr>
            <a:r>
              <a:rPr lang="en-US" sz="3000" b="1" dirty="0">
                <a:solidFill>
                  <a:srgbClr val="1A2340"/>
                </a:solidFill>
                <a:latin typeface="Georgia" pitchFamily="34" charset="0"/>
                <a:ea typeface="Georgia" pitchFamily="34" charset="-122"/>
                <a:cs typeface="Georgia" pitchFamily="34" charset="-120"/>
              </a:rPr>
              <a:t>If You Become a Victim...</a:t>
            </a:r>
            <a:endParaRPr lang="en-US" sz="3000" dirty="0"/>
          </a:p>
        </p:txBody>
      </p:sp>
      <p:sp>
        <p:nvSpPr>
          <p:cNvPr id="5" name="Text 3"/>
          <p:cNvSpPr/>
          <p:nvPr/>
        </p:nvSpPr>
        <p:spPr>
          <a:xfrm>
            <a:off x="457200" y="749808"/>
            <a:ext cx="6858000" cy="256032"/>
          </a:xfrm>
          <a:prstGeom prst="rect">
            <a:avLst/>
          </a:prstGeom>
          <a:noFill/>
          <a:ln/>
        </p:spPr>
        <p:txBody>
          <a:bodyPr wrap="square" rtlCol="0" anchor="ctr"/>
          <a:lstStyle/>
          <a:p>
            <a:pPr marL="0" indent="0">
              <a:buNone/>
            </a:pPr>
            <a:r>
              <a:rPr lang="en-US" sz="1200" i="1" dirty="0">
                <a:solidFill>
                  <a:srgbClr val="7A8394"/>
                </a:solidFill>
                <a:latin typeface="Calibri" pitchFamily="34" charset="0"/>
                <a:ea typeface="Calibri" pitchFamily="34" charset="-122"/>
                <a:cs typeface="Calibri" pitchFamily="34" charset="-120"/>
              </a:rPr>
              <a:t>Don't panic — act quickly and methodically. Speed is your greatest asset.</a:t>
            </a:r>
            <a:endParaRPr lang="en-US" sz="1200" dirty="0"/>
          </a:p>
        </p:txBody>
      </p:sp>
      <p:sp>
        <p:nvSpPr>
          <p:cNvPr id="6" name="Shape 4"/>
          <p:cNvSpPr/>
          <p:nvPr/>
        </p:nvSpPr>
        <p:spPr>
          <a:xfrm>
            <a:off x="457200" y="722376"/>
            <a:ext cx="8229600" cy="16459"/>
          </a:xfrm>
          <a:prstGeom prst="rect">
            <a:avLst/>
          </a:prstGeom>
          <a:solidFill>
            <a:srgbClr val="D8DCE8"/>
          </a:solidFill>
          <a:ln w="12700">
            <a:solidFill>
              <a:srgbClr val="D8DCE8">
                <a:alpha val="0"/>
              </a:srgbClr>
            </a:solidFill>
            <a:prstDash val="solid"/>
          </a:ln>
        </p:spPr>
      </p:sp>
      <p:sp>
        <p:nvSpPr>
          <p:cNvPr id="7" name="Shape 5"/>
          <p:cNvSpPr/>
          <p:nvPr/>
        </p:nvSpPr>
        <p:spPr>
          <a:xfrm>
            <a:off x="457200" y="1078992"/>
            <a:ext cx="4114800" cy="1143000"/>
          </a:xfrm>
          <a:prstGeom prst="rect">
            <a:avLst/>
          </a:prstGeom>
          <a:solidFill>
            <a:srgbClr val="F7F8FC"/>
          </a:solidFill>
          <a:ln w="12700">
            <a:solidFill>
              <a:srgbClr val="D8DCE8"/>
            </a:solidFill>
            <a:prstDash val="solid"/>
          </a:ln>
        </p:spPr>
      </p:sp>
      <p:sp>
        <p:nvSpPr>
          <p:cNvPr id="8" name="Shape 6"/>
          <p:cNvSpPr/>
          <p:nvPr/>
        </p:nvSpPr>
        <p:spPr>
          <a:xfrm>
            <a:off x="457200" y="1078992"/>
            <a:ext cx="45720" cy="1143000"/>
          </a:xfrm>
          <a:prstGeom prst="rect">
            <a:avLst/>
          </a:prstGeom>
          <a:solidFill>
            <a:srgbClr val="E8523A"/>
          </a:solidFill>
          <a:ln w="12700">
            <a:solidFill>
              <a:srgbClr val="E8523A">
                <a:alpha val="0"/>
              </a:srgbClr>
            </a:solidFill>
            <a:prstDash val="solid"/>
          </a:ln>
        </p:spPr>
      </p:sp>
      <p:sp>
        <p:nvSpPr>
          <p:cNvPr id="9" name="Shape 7"/>
          <p:cNvSpPr/>
          <p:nvPr/>
        </p:nvSpPr>
        <p:spPr>
          <a:xfrm>
            <a:off x="566928" y="1207008"/>
            <a:ext cx="502920" cy="502920"/>
          </a:xfrm>
          <a:prstGeom prst="ellipse">
            <a:avLst/>
          </a:prstGeom>
          <a:solidFill>
            <a:srgbClr val="1A2340"/>
          </a:solidFill>
          <a:ln w="12700">
            <a:solidFill>
              <a:srgbClr val="1A2340">
                <a:alpha val="0"/>
              </a:srgbClr>
            </a:solidFill>
            <a:prstDash val="solid"/>
          </a:ln>
        </p:spPr>
      </p:sp>
      <p:sp>
        <p:nvSpPr>
          <p:cNvPr id="10" name="Text 8"/>
          <p:cNvSpPr/>
          <p:nvPr/>
        </p:nvSpPr>
        <p:spPr>
          <a:xfrm>
            <a:off x="566928" y="1207008"/>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11" name="Text 9"/>
          <p:cNvSpPr/>
          <p:nvPr/>
        </p:nvSpPr>
        <p:spPr>
          <a:xfrm>
            <a:off x="1207008" y="1170432"/>
            <a:ext cx="3218688"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Disconnect Immediately</a:t>
            </a:r>
            <a:endParaRPr lang="en-US" sz="1200" dirty="0"/>
          </a:p>
        </p:txBody>
      </p:sp>
      <p:sp>
        <p:nvSpPr>
          <p:cNvPr id="12" name="Text 10"/>
          <p:cNvSpPr/>
          <p:nvPr/>
        </p:nvSpPr>
        <p:spPr>
          <a:xfrm>
            <a:off x="1207008" y="1499616"/>
            <a:ext cx="3246120" cy="62179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Disconnect from internet right away to stop active data exfiltration and prevent malware from spreading</a:t>
            </a:r>
            <a:endParaRPr lang="en-US" sz="1000" dirty="0"/>
          </a:p>
        </p:txBody>
      </p:sp>
      <p:sp>
        <p:nvSpPr>
          <p:cNvPr id="13" name="Shape 11"/>
          <p:cNvSpPr/>
          <p:nvPr/>
        </p:nvSpPr>
        <p:spPr>
          <a:xfrm>
            <a:off x="4754880" y="1078992"/>
            <a:ext cx="4114800" cy="1143000"/>
          </a:xfrm>
          <a:prstGeom prst="rect">
            <a:avLst/>
          </a:prstGeom>
          <a:solidFill>
            <a:srgbClr val="F7F8FC"/>
          </a:solidFill>
          <a:ln w="12700">
            <a:solidFill>
              <a:srgbClr val="D8DCE8"/>
            </a:solidFill>
            <a:prstDash val="solid"/>
          </a:ln>
        </p:spPr>
      </p:sp>
      <p:sp>
        <p:nvSpPr>
          <p:cNvPr id="14" name="Shape 12"/>
          <p:cNvSpPr/>
          <p:nvPr/>
        </p:nvSpPr>
        <p:spPr>
          <a:xfrm>
            <a:off x="4754880" y="1078992"/>
            <a:ext cx="45720" cy="1143000"/>
          </a:xfrm>
          <a:prstGeom prst="rect">
            <a:avLst/>
          </a:prstGeom>
          <a:solidFill>
            <a:srgbClr val="1A2340"/>
          </a:solidFill>
          <a:ln w="12700">
            <a:solidFill>
              <a:srgbClr val="1A2340">
                <a:alpha val="0"/>
              </a:srgbClr>
            </a:solidFill>
            <a:prstDash val="solid"/>
          </a:ln>
        </p:spPr>
      </p:sp>
      <p:sp>
        <p:nvSpPr>
          <p:cNvPr id="15" name="Shape 13"/>
          <p:cNvSpPr/>
          <p:nvPr/>
        </p:nvSpPr>
        <p:spPr>
          <a:xfrm>
            <a:off x="4864608" y="1207008"/>
            <a:ext cx="502920" cy="502920"/>
          </a:xfrm>
          <a:prstGeom prst="ellipse">
            <a:avLst/>
          </a:prstGeom>
          <a:solidFill>
            <a:srgbClr val="1A2340"/>
          </a:solidFill>
          <a:ln w="12700">
            <a:solidFill>
              <a:srgbClr val="1A2340">
                <a:alpha val="0"/>
              </a:srgbClr>
            </a:solidFill>
            <a:prstDash val="solid"/>
          </a:ln>
        </p:spPr>
      </p:sp>
      <p:sp>
        <p:nvSpPr>
          <p:cNvPr id="16" name="Text 14"/>
          <p:cNvSpPr/>
          <p:nvPr/>
        </p:nvSpPr>
        <p:spPr>
          <a:xfrm>
            <a:off x="4864608" y="1207008"/>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7" name="Text 15"/>
          <p:cNvSpPr/>
          <p:nvPr/>
        </p:nvSpPr>
        <p:spPr>
          <a:xfrm>
            <a:off x="5504688" y="1170432"/>
            <a:ext cx="3218688"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Change Compromised Passwords</a:t>
            </a:r>
            <a:endParaRPr lang="en-US" sz="1200" dirty="0"/>
          </a:p>
        </p:txBody>
      </p:sp>
      <p:sp>
        <p:nvSpPr>
          <p:cNvPr id="18" name="Text 16"/>
          <p:cNvSpPr/>
          <p:nvPr/>
        </p:nvSpPr>
        <p:spPr>
          <a:xfrm>
            <a:off x="5504688" y="1499616"/>
            <a:ext cx="3246120" cy="62179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Start with email (your master key), then banking, then social media — always use a device you know is clean</a:t>
            </a:r>
            <a:endParaRPr lang="en-US" sz="1000" dirty="0"/>
          </a:p>
        </p:txBody>
      </p:sp>
      <p:sp>
        <p:nvSpPr>
          <p:cNvPr id="19" name="Shape 17"/>
          <p:cNvSpPr/>
          <p:nvPr/>
        </p:nvSpPr>
        <p:spPr>
          <a:xfrm>
            <a:off x="457200" y="2377440"/>
            <a:ext cx="4114800" cy="1143000"/>
          </a:xfrm>
          <a:prstGeom prst="rect">
            <a:avLst/>
          </a:prstGeom>
          <a:solidFill>
            <a:srgbClr val="F7F8FC"/>
          </a:solidFill>
          <a:ln w="12700">
            <a:solidFill>
              <a:srgbClr val="D8DCE8"/>
            </a:solidFill>
            <a:prstDash val="solid"/>
          </a:ln>
        </p:spPr>
      </p:sp>
      <p:sp>
        <p:nvSpPr>
          <p:cNvPr id="20" name="Shape 18"/>
          <p:cNvSpPr/>
          <p:nvPr/>
        </p:nvSpPr>
        <p:spPr>
          <a:xfrm>
            <a:off x="457200" y="2377440"/>
            <a:ext cx="45720" cy="1143000"/>
          </a:xfrm>
          <a:prstGeom prst="rect">
            <a:avLst/>
          </a:prstGeom>
          <a:solidFill>
            <a:srgbClr val="1A2340"/>
          </a:solidFill>
          <a:ln w="12700">
            <a:solidFill>
              <a:srgbClr val="1A2340">
                <a:alpha val="0"/>
              </a:srgbClr>
            </a:solidFill>
            <a:prstDash val="solid"/>
          </a:ln>
        </p:spPr>
      </p:sp>
      <p:sp>
        <p:nvSpPr>
          <p:cNvPr id="21" name="Shape 19"/>
          <p:cNvSpPr/>
          <p:nvPr/>
        </p:nvSpPr>
        <p:spPr>
          <a:xfrm>
            <a:off x="566928" y="2505456"/>
            <a:ext cx="502920" cy="502920"/>
          </a:xfrm>
          <a:prstGeom prst="ellipse">
            <a:avLst/>
          </a:prstGeom>
          <a:solidFill>
            <a:srgbClr val="1A2340"/>
          </a:solidFill>
          <a:ln w="12700">
            <a:solidFill>
              <a:srgbClr val="1A2340">
                <a:alpha val="0"/>
              </a:srgbClr>
            </a:solidFill>
            <a:prstDash val="solid"/>
          </a:ln>
        </p:spPr>
      </p:sp>
      <p:sp>
        <p:nvSpPr>
          <p:cNvPr id="22" name="Text 20"/>
          <p:cNvSpPr/>
          <p:nvPr/>
        </p:nvSpPr>
        <p:spPr>
          <a:xfrm>
            <a:off x="566928" y="2505456"/>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23" name="Text 21"/>
          <p:cNvSpPr/>
          <p:nvPr/>
        </p:nvSpPr>
        <p:spPr>
          <a:xfrm>
            <a:off x="1207008" y="2468880"/>
            <a:ext cx="3218688"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Enable MFA on Every Account</a:t>
            </a:r>
            <a:endParaRPr lang="en-US" sz="1200" dirty="0"/>
          </a:p>
        </p:txBody>
      </p:sp>
      <p:sp>
        <p:nvSpPr>
          <p:cNvPr id="24" name="Text 22"/>
          <p:cNvSpPr/>
          <p:nvPr/>
        </p:nvSpPr>
        <p:spPr>
          <a:xfrm>
            <a:off x="1207008" y="2798064"/>
            <a:ext cx="3246120" cy="62179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Add multi-factor authentication immediately if not already active on all your critical accounts</a:t>
            </a:r>
            <a:endParaRPr lang="en-US" sz="1000" dirty="0"/>
          </a:p>
        </p:txBody>
      </p:sp>
      <p:sp>
        <p:nvSpPr>
          <p:cNvPr id="25" name="Shape 23"/>
          <p:cNvSpPr/>
          <p:nvPr/>
        </p:nvSpPr>
        <p:spPr>
          <a:xfrm>
            <a:off x="4754880" y="2377440"/>
            <a:ext cx="4114800" cy="1143000"/>
          </a:xfrm>
          <a:prstGeom prst="rect">
            <a:avLst/>
          </a:prstGeom>
          <a:solidFill>
            <a:srgbClr val="F7F8FC"/>
          </a:solidFill>
          <a:ln w="12700">
            <a:solidFill>
              <a:srgbClr val="D8DCE8"/>
            </a:solidFill>
            <a:prstDash val="solid"/>
          </a:ln>
        </p:spPr>
      </p:sp>
      <p:sp>
        <p:nvSpPr>
          <p:cNvPr id="26" name="Shape 24"/>
          <p:cNvSpPr/>
          <p:nvPr/>
        </p:nvSpPr>
        <p:spPr>
          <a:xfrm>
            <a:off x="4754880" y="2377440"/>
            <a:ext cx="45720" cy="1143000"/>
          </a:xfrm>
          <a:prstGeom prst="rect">
            <a:avLst/>
          </a:prstGeom>
          <a:solidFill>
            <a:srgbClr val="4A72C4"/>
          </a:solidFill>
          <a:ln w="12700">
            <a:solidFill>
              <a:srgbClr val="4A72C4">
                <a:alpha val="0"/>
              </a:srgbClr>
            </a:solidFill>
            <a:prstDash val="solid"/>
          </a:ln>
        </p:spPr>
      </p:sp>
      <p:sp>
        <p:nvSpPr>
          <p:cNvPr id="27" name="Shape 25"/>
          <p:cNvSpPr/>
          <p:nvPr/>
        </p:nvSpPr>
        <p:spPr>
          <a:xfrm>
            <a:off x="4864608" y="2505456"/>
            <a:ext cx="502920" cy="502920"/>
          </a:xfrm>
          <a:prstGeom prst="ellipse">
            <a:avLst/>
          </a:prstGeom>
          <a:solidFill>
            <a:srgbClr val="1A2340"/>
          </a:solidFill>
          <a:ln w="12700">
            <a:solidFill>
              <a:srgbClr val="1A2340">
                <a:alpha val="0"/>
              </a:srgbClr>
            </a:solidFill>
            <a:prstDash val="solid"/>
          </a:ln>
        </p:spPr>
      </p:sp>
      <p:sp>
        <p:nvSpPr>
          <p:cNvPr id="28" name="Text 26"/>
          <p:cNvSpPr/>
          <p:nvPr/>
        </p:nvSpPr>
        <p:spPr>
          <a:xfrm>
            <a:off x="4864608" y="2505456"/>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04</a:t>
            </a:r>
            <a:endParaRPr lang="en-US" sz="1200" dirty="0"/>
          </a:p>
        </p:txBody>
      </p:sp>
      <p:sp>
        <p:nvSpPr>
          <p:cNvPr id="29" name="Text 27"/>
          <p:cNvSpPr/>
          <p:nvPr/>
        </p:nvSpPr>
        <p:spPr>
          <a:xfrm>
            <a:off x="5504688" y="2468880"/>
            <a:ext cx="3218688"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Scan Your Device</a:t>
            </a:r>
            <a:endParaRPr lang="en-US" sz="1200" dirty="0"/>
          </a:p>
        </p:txBody>
      </p:sp>
      <p:sp>
        <p:nvSpPr>
          <p:cNvPr id="30" name="Text 28"/>
          <p:cNvSpPr/>
          <p:nvPr/>
        </p:nvSpPr>
        <p:spPr>
          <a:xfrm>
            <a:off x="5504688" y="2798064"/>
            <a:ext cx="3246120" cy="62179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Run a full antivirus and antimalware scan — Malwarebytes free version is excellent for a first response</a:t>
            </a:r>
            <a:endParaRPr lang="en-US" sz="1000" dirty="0"/>
          </a:p>
        </p:txBody>
      </p:sp>
      <p:sp>
        <p:nvSpPr>
          <p:cNvPr id="31" name="Shape 29"/>
          <p:cNvSpPr/>
          <p:nvPr/>
        </p:nvSpPr>
        <p:spPr>
          <a:xfrm>
            <a:off x="457200" y="3675888"/>
            <a:ext cx="4114800" cy="1143000"/>
          </a:xfrm>
          <a:prstGeom prst="rect">
            <a:avLst/>
          </a:prstGeom>
          <a:solidFill>
            <a:srgbClr val="F7F8FC"/>
          </a:solidFill>
          <a:ln w="12700">
            <a:solidFill>
              <a:srgbClr val="D8DCE8"/>
            </a:solidFill>
            <a:prstDash val="solid"/>
          </a:ln>
        </p:spPr>
      </p:sp>
      <p:sp>
        <p:nvSpPr>
          <p:cNvPr id="32" name="Shape 30"/>
          <p:cNvSpPr/>
          <p:nvPr/>
        </p:nvSpPr>
        <p:spPr>
          <a:xfrm>
            <a:off x="457200" y="3675888"/>
            <a:ext cx="45720" cy="1143000"/>
          </a:xfrm>
          <a:prstGeom prst="rect">
            <a:avLst/>
          </a:prstGeom>
          <a:solidFill>
            <a:srgbClr val="2BAE76"/>
          </a:solidFill>
          <a:ln w="12700">
            <a:solidFill>
              <a:srgbClr val="2BAE76">
                <a:alpha val="0"/>
              </a:srgbClr>
            </a:solidFill>
            <a:prstDash val="solid"/>
          </a:ln>
        </p:spPr>
      </p:sp>
      <p:sp>
        <p:nvSpPr>
          <p:cNvPr id="33" name="Shape 31"/>
          <p:cNvSpPr/>
          <p:nvPr/>
        </p:nvSpPr>
        <p:spPr>
          <a:xfrm>
            <a:off x="566928" y="3803904"/>
            <a:ext cx="502920" cy="502920"/>
          </a:xfrm>
          <a:prstGeom prst="ellipse">
            <a:avLst/>
          </a:prstGeom>
          <a:solidFill>
            <a:srgbClr val="1A2340"/>
          </a:solidFill>
          <a:ln w="12700">
            <a:solidFill>
              <a:srgbClr val="1A2340">
                <a:alpha val="0"/>
              </a:srgbClr>
            </a:solidFill>
            <a:prstDash val="solid"/>
          </a:ln>
        </p:spPr>
      </p:sp>
      <p:sp>
        <p:nvSpPr>
          <p:cNvPr id="34" name="Text 32"/>
          <p:cNvSpPr/>
          <p:nvPr/>
        </p:nvSpPr>
        <p:spPr>
          <a:xfrm>
            <a:off x="566928" y="3803904"/>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05</a:t>
            </a:r>
            <a:endParaRPr lang="en-US" sz="1200" dirty="0"/>
          </a:p>
        </p:txBody>
      </p:sp>
      <p:sp>
        <p:nvSpPr>
          <p:cNvPr id="35" name="Text 33"/>
          <p:cNvSpPr/>
          <p:nvPr/>
        </p:nvSpPr>
        <p:spPr>
          <a:xfrm>
            <a:off x="1207008" y="3767328"/>
            <a:ext cx="3218688"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Notify All Affected Parties</a:t>
            </a:r>
            <a:endParaRPr lang="en-US" sz="1200" dirty="0"/>
          </a:p>
        </p:txBody>
      </p:sp>
      <p:sp>
        <p:nvSpPr>
          <p:cNvPr id="36" name="Text 34"/>
          <p:cNvSpPr/>
          <p:nvPr/>
        </p:nvSpPr>
        <p:spPr>
          <a:xfrm>
            <a:off x="1207008" y="4096512"/>
            <a:ext cx="3246120" cy="62179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Alert your bank, employer, university IT, and contacts if your email account was accessed</a:t>
            </a:r>
            <a:endParaRPr lang="en-US" sz="1000" dirty="0"/>
          </a:p>
        </p:txBody>
      </p:sp>
      <p:sp>
        <p:nvSpPr>
          <p:cNvPr id="37" name="Shape 35"/>
          <p:cNvSpPr/>
          <p:nvPr/>
        </p:nvSpPr>
        <p:spPr>
          <a:xfrm>
            <a:off x="4754880" y="3675888"/>
            <a:ext cx="4114800" cy="1143000"/>
          </a:xfrm>
          <a:prstGeom prst="rect">
            <a:avLst/>
          </a:prstGeom>
          <a:solidFill>
            <a:srgbClr val="F7F8FC"/>
          </a:solidFill>
          <a:ln w="12700">
            <a:solidFill>
              <a:srgbClr val="D8DCE8"/>
            </a:solidFill>
            <a:prstDash val="solid"/>
          </a:ln>
        </p:spPr>
      </p:sp>
      <p:sp>
        <p:nvSpPr>
          <p:cNvPr id="38" name="Shape 36"/>
          <p:cNvSpPr/>
          <p:nvPr/>
        </p:nvSpPr>
        <p:spPr>
          <a:xfrm>
            <a:off x="4754880" y="3675888"/>
            <a:ext cx="45720" cy="1143000"/>
          </a:xfrm>
          <a:prstGeom prst="rect">
            <a:avLst/>
          </a:prstGeom>
          <a:solidFill>
            <a:srgbClr val="F5C518"/>
          </a:solidFill>
          <a:ln w="12700">
            <a:solidFill>
              <a:srgbClr val="F5C518">
                <a:alpha val="0"/>
              </a:srgbClr>
            </a:solidFill>
            <a:prstDash val="solid"/>
          </a:ln>
        </p:spPr>
      </p:sp>
      <p:sp>
        <p:nvSpPr>
          <p:cNvPr id="39" name="Shape 37"/>
          <p:cNvSpPr/>
          <p:nvPr/>
        </p:nvSpPr>
        <p:spPr>
          <a:xfrm>
            <a:off x="4864608" y="3803904"/>
            <a:ext cx="502920" cy="502920"/>
          </a:xfrm>
          <a:prstGeom prst="ellipse">
            <a:avLst/>
          </a:prstGeom>
          <a:solidFill>
            <a:srgbClr val="1A2340"/>
          </a:solidFill>
          <a:ln w="12700">
            <a:solidFill>
              <a:srgbClr val="1A2340">
                <a:alpha val="0"/>
              </a:srgbClr>
            </a:solidFill>
            <a:prstDash val="solid"/>
          </a:ln>
        </p:spPr>
      </p:sp>
      <p:sp>
        <p:nvSpPr>
          <p:cNvPr id="40" name="Text 38"/>
          <p:cNvSpPr/>
          <p:nvPr/>
        </p:nvSpPr>
        <p:spPr>
          <a:xfrm>
            <a:off x="4864608" y="3803904"/>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06</a:t>
            </a:r>
            <a:endParaRPr lang="en-US" sz="1200" dirty="0"/>
          </a:p>
        </p:txBody>
      </p:sp>
      <p:sp>
        <p:nvSpPr>
          <p:cNvPr id="41" name="Text 39"/>
          <p:cNvSpPr/>
          <p:nvPr/>
        </p:nvSpPr>
        <p:spPr>
          <a:xfrm>
            <a:off x="5504688" y="3767328"/>
            <a:ext cx="3218688" cy="274320"/>
          </a:xfrm>
          <a:prstGeom prst="rect">
            <a:avLst/>
          </a:prstGeom>
          <a:noFill/>
          <a:ln/>
        </p:spPr>
        <p:txBody>
          <a:bodyPr wrap="square" lIns="0" tIns="0" rIns="0" bIns="0"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Report the Attack</a:t>
            </a:r>
            <a:endParaRPr lang="en-US" sz="1200" dirty="0"/>
          </a:p>
        </p:txBody>
      </p:sp>
      <p:sp>
        <p:nvSpPr>
          <p:cNvPr id="42" name="Text 40"/>
          <p:cNvSpPr/>
          <p:nvPr/>
        </p:nvSpPr>
        <p:spPr>
          <a:xfrm>
            <a:off x="5504688" y="4096512"/>
            <a:ext cx="3246120" cy="621792"/>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FTC: reportfraud.ftc.gov  ·  FBI: ic3.gov  ·  Your university IT  ·  Your national cybercrime unit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1A2340"/>
          </a:solidFill>
          <a:ln w="12700">
            <a:solidFill>
              <a:srgbClr val="1A2340">
                <a:alpha val="0"/>
              </a:srgbClr>
            </a:solidFill>
            <a:prstDash val="solid"/>
          </a:ln>
        </p:spPr>
      </p:sp>
      <p:sp>
        <p:nvSpPr>
          <p:cNvPr id="3" name="Text 1"/>
          <p:cNvSpPr/>
          <p:nvPr/>
        </p:nvSpPr>
        <p:spPr>
          <a:xfrm>
            <a:off x="8321040" y="4919472"/>
            <a:ext cx="731520" cy="164592"/>
          </a:xfrm>
          <a:prstGeom prst="rect">
            <a:avLst/>
          </a:prstGeom>
          <a:noFill/>
          <a:ln/>
        </p:spPr>
        <p:txBody>
          <a:bodyPr wrap="square" rtlCol="0" anchor="ctr"/>
          <a:lstStyle/>
          <a:p>
            <a:pPr marL="0" indent="0" algn="r">
              <a:buNone/>
            </a:pPr>
            <a:r>
              <a:rPr lang="en-US" sz="750" dirty="0">
                <a:solidFill>
                  <a:srgbClr val="7A8394"/>
                </a:solidFill>
                <a:latin typeface="Calibri" pitchFamily="34" charset="0"/>
                <a:ea typeface="Calibri" pitchFamily="34" charset="-122"/>
                <a:cs typeface="Calibri" pitchFamily="34" charset="-120"/>
              </a:rPr>
              <a:t>17 / 18</a:t>
            </a:r>
            <a:endParaRPr lang="en-US" sz="750" dirty="0"/>
          </a:p>
        </p:txBody>
      </p:sp>
      <p:sp>
        <p:nvSpPr>
          <p:cNvPr id="4" name="Shape 2"/>
          <p:cNvSpPr/>
          <p:nvPr/>
        </p:nvSpPr>
        <p:spPr>
          <a:xfrm>
            <a:off x="457200" y="164592"/>
            <a:ext cx="8321040" cy="658368"/>
          </a:xfrm>
          <a:prstGeom prst="rect">
            <a:avLst/>
          </a:prstGeom>
          <a:solidFill>
            <a:srgbClr val="1A2340"/>
          </a:solidFill>
          <a:ln w="12700">
            <a:solidFill>
              <a:srgbClr val="1A2340">
                <a:alpha val="0"/>
              </a:srgbClr>
            </a:solidFill>
            <a:prstDash val="solid"/>
          </a:ln>
        </p:spPr>
      </p:sp>
      <p:sp>
        <p:nvSpPr>
          <p:cNvPr id="5" name="Text 3"/>
          <p:cNvSpPr/>
          <p:nvPr/>
        </p:nvSpPr>
        <p:spPr>
          <a:xfrm>
            <a:off x="566928" y="201168"/>
            <a:ext cx="50292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Interactive Quiz</a:t>
            </a:r>
            <a:endParaRPr lang="en-US" sz="2600" dirty="0"/>
          </a:p>
        </p:txBody>
      </p:sp>
      <p:sp>
        <p:nvSpPr>
          <p:cNvPr id="6" name="Text 4"/>
          <p:cNvSpPr/>
          <p:nvPr/>
        </p:nvSpPr>
        <p:spPr>
          <a:xfrm>
            <a:off x="5669280" y="320040"/>
            <a:ext cx="2926080" cy="347472"/>
          </a:xfrm>
          <a:prstGeom prst="rect">
            <a:avLst/>
          </a:prstGeom>
          <a:noFill/>
          <a:ln/>
        </p:spPr>
        <p:txBody>
          <a:bodyPr wrap="square" rtlCol="0" anchor="ctr"/>
          <a:lstStyle/>
          <a:p>
            <a:pPr marL="0" indent="0">
              <a:buNone/>
            </a:pPr>
            <a:r>
              <a:rPr lang="en-US" sz="950" i="1" dirty="0">
                <a:solidFill>
                  <a:srgbClr val="F5C518"/>
                </a:solidFill>
                <a:latin typeface="Calibri" pitchFamily="34" charset="0"/>
                <a:ea typeface="Calibri" pitchFamily="34" charset="-122"/>
                <a:cs typeface="Calibri" pitchFamily="34" charset="-120"/>
              </a:rPr>
              <a:t>Test what you've learned today — 5 questions!</a:t>
            </a:r>
            <a:endParaRPr lang="en-US" sz="950" dirty="0"/>
          </a:p>
        </p:txBody>
      </p:sp>
      <p:sp>
        <p:nvSpPr>
          <p:cNvPr id="7" name="Shape 5"/>
          <p:cNvSpPr/>
          <p:nvPr/>
        </p:nvSpPr>
        <p:spPr>
          <a:xfrm>
            <a:off x="457200" y="960120"/>
            <a:ext cx="8321040" cy="731520"/>
          </a:xfrm>
          <a:prstGeom prst="rect">
            <a:avLst/>
          </a:prstGeom>
          <a:solidFill>
            <a:srgbClr val="F7F8FC"/>
          </a:solidFill>
          <a:ln w="12700">
            <a:solidFill>
              <a:srgbClr val="D8DCE8"/>
            </a:solidFill>
            <a:prstDash val="solid"/>
          </a:ln>
        </p:spPr>
      </p:sp>
      <p:sp>
        <p:nvSpPr>
          <p:cNvPr id="8" name="Shape 6"/>
          <p:cNvSpPr/>
          <p:nvPr/>
        </p:nvSpPr>
        <p:spPr>
          <a:xfrm>
            <a:off x="457200" y="960120"/>
            <a:ext cx="45720" cy="731520"/>
          </a:xfrm>
          <a:prstGeom prst="rect">
            <a:avLst/>
          </a:prstGeom>
          <a:solidFill>
            <a:srgbClr val="1A2340"/>
          </a:solidFill>
          <a:ln w="12700">
            <a:solidFill>
              <a:srgbClr val="1A2340">
                <a:alpha val="0"/>
              </a:srgbClr>
            </a:solidFill>
            <a:prstDash val="solid"/>
          </a:ln>
        </p:spPr>
      </p:sp>
      <p:sp>
        <p:nvSpPr>
          <p:cNvPr id="9" name="Text 7"/>
          <p:cNvSpPr/>
          <p:nvPr/>
        </p:nvSpPr>
        <p:spPr>
          <a:xfrm>
            <a:off x="594360" y="1014984"/>
            <a:ext cx="4846320" cy="292608"/>
          </a:xfrm>
          <a:prstGeom prst="rect">
            <a:avLst/>
          </a:prstGeom>
          <a:noFill/>
          <a:ln/>
        </p:spPr>
        <p:txBody>
          <a:bodyPr wrap="square" rtlCol="0" anchor="ctr"/>
          <a:lstStyle/>
          <a:p>
            <a:pPr marL="0" indent="0">
              <a:buNone/>
            </a:pPr>
            <a:r>
              <a:rPr lang="en-US" sz="1000" b="1" dirty="0">
                <a:solidFill>
                  <a:srgbClr val="1A2340"/>
                </a:solidFill>
                <a:latin typeface="Georgia" pitchFamily="34" charset="0"/>
                <a:ea typeface="Georgia" pitchFamily="34" charset="-122"/>
                <a:cs typeface="Georgia" pitchFamily="34" charset="-120"/>
              </a:rPr>
              <a:t>Q1  You receive an email from 'paypa1.com' asking you to verify your account. What do you do?</a:t>
            </a:r>
            <a:endParaRPr lang="en-US" sz="1000" dirty="0"/>
          </a:p>
        </p:txBody>
      </p:sp>
      <p:sp>
        <p:nvSpPr>
          <p:cNvPr id="10" name="Text 8"/>
          <p:cNvSpPr/>
          <p:nvPr/>
        </p:nvSpPr>
        <p:spPr>
          <a:xfrm>
            <a:off x="594360" y="1344168"/>
            <a:ext cx="4846320" cy="274320"/>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A) Click the link and verify    B) Delete it — it's phishing    C) Forward to friends    D) Reply with your info</a:t>
            </a:r>
            <a:endParaRPr lang="en-US" sz="900" dirty="0"/>
          </a:p>
        </p:txBody>
      </p:sp>
      <p:sp>
        <p:nvSpPr>
          <p:cNvPr id="11" name="Shape 9"/>
          <p:cNvSpPr/>
          <p:nvPr/>
        </p:nvSpPr>
        <p:spPr>
          <a:xfrm>
            <a:off x="5623560" y="1014984"/>
            <a:ext cx="3017520" cy="603504"/>
          </a:xfrm>
          <a:prstGeom prst="rect">
            <a:avLst/>
          </a:prstGeom>
          <a:solidFill>
            <a:srgbClr val="D4F3E6"/>
          </a:solidFill>
          <a:ln w="12700">
            <a:solidFill>
              <a:srgbClr val="2BAE76"/>
            </a:solidFill>
            <a:prstDash val="solid"/>
          </a:ln>
        </p:spPr>
      </p:sp>
      <p:sp>
        <p:nvSpPr>
          <p:cNvPr id="12" name="Text 10"/>
          <p:cNvSpPr/>
          <p:nvPr/>
        </p:nvSpPr>
        <p:spPr>
          <a:xfrm>
            <a:off x="5687568" y="1051560"/>
            <a:ext cx="2907792" cy="530352"/>
          </a:xfrm>
          <a:prstGeom prst="rect">
            <a:avLst/>
          </a:prstGeom>
          <a:noFill/>
          <a:ln/>
        </p:spPr>
        <p:txBody>
          <a:bodyPr wrap="square" rtlCol="0" anchor="ctr"/>
          <a:lstStyle/>
          <a:p>
            <a:pPr marL="0" indent="0">
              <a:buNone/>
            </a:pPr>
            <a:r>
              <a:rPr lang="en-US" sz="900" i="1" dirty="0">
                <a:solidFill>
                  <a:srgbClr val="2BAE76"/>
                </a:solidFill>
                <a:latin typeface="Calibri" pitchFamily="34" charset="0"/>
                <a:ea typeface="Calibri" pitchFamily="34" charset="-122"/>
                <a:cs typeface="Calibri" pitchFamily="34" charset="-120"/>
              </a:rPr>
              <a:t>B)  Delete it — 'paypa1' replaces the letter 'o' with a zero. Classic domain spoofing.</a:t>
            </a:r>
            <a:endParaRPr lang="en-US" sz="900" dirty="0"/>
          </a:p>
        </p:txBody>
      </p:sp>
      <p:sp>
        <p:nvSpPr>
          <p:cNvPr id="13" name="Shape 11"/>
          <p:cNvSpPr/>
          <p:nvPr/>
        </p:nvSpPr>
        <p:spPr>
          <a:xfrm>
            <a:off x="457200" y="1764792"/>
            <a:ext cx="8321040" cy="731520"/>
          </a:xfrm>
          <a:prstGeom prst="rect">
            <a:avLst/>
          </a:prstGeom>
          <a:solidFill>
            <a:srgbClr val="F7F8FC"/>
          </a:solidFill>
          <a:ln w="12700">
            <a:solidFill>
              <a:srgbClr val="D8DCE8"/>
            </a:solidFill>
            <a:prstDash val="solid"/>
          </a:ln>
        </p:spPr>
      </p:sp>
      <p:sp>
        <p:nvSpPr>
          <p:cNvPr id="14" name="Shape 12"/>
          <p:cNvSpPr/>
          <p:nvPr/>
        </p:nvSpPr>
        <p:spPr>
          <a:xfrm>
            <a:off x="457200" y="1764792"/>
            <a:ext cx="45720" cy="731520"/>
          </a:xfrm>
          <a:prstGeom prst="rect">
            <a:avLst/>
          </a:prstGeom>
          <a:solidFill>
            <a:srgbClr val="1A2340"/>
          </a:solidFill>
          <a:ln w="12700">
            <a:solidFill>
              <a:srgbClr val="1A2340">
                <a:alpha val="0"/>
              </a:srgbClr>
            </a:solidFill>
            <a:prstDash val="solid"/>
          </a:ln>
        </p:spPr>
      </p:sp>
      <p:sp>
        <p:nvSpPr>
          <p:cNvPr id="15" name="Text 13"/>
          <p:cNvSpPr/>
          <p:nvPr/>
        </p:nvSpPr>
        <p:spPr>
          <a:xfrm>
            <a:off x="594360" y="1819656"/>
            <a:ext cx="4846320" cy="292608"/>
          </a:xfrm>
          <a:prstGeom prst="rect">
            <a:avLst/>
          </a:prstGeom>
          <a:noFill/>
          <a:ln/>
        </p:spPr>
        <p:txBody>
          <a:bodyPr wrap="square" rtlCol="0" anchor="ctr"/>
          <a:lstStyle/>
          <a:p>
            <a:pPr marL="0" indent="0">
              <a:buNone/>
            </a:pPr>
            <a:r>
              <a:rPr lang="en-US" sz="1000" b="1" dirty="0">
                <a:solidFill>
                  <a:srgbClr val="1A2340"/>
                </a:solidFill>
                <a:latin typeface="Georgia" pitchFamily="34" charset="0"/>
                <a:ea typeface="Georgia" pitchFamily="34" charset="-122"/>
                <a:cs typeface="Georgia" pitchFamily="34" charset="-120"/>
              </a:rPr>
              <a:t>Q2  Which category of phishing specifically targets high-level executives for maximum financial impact?</a:t>
            </a:r>
            <a:endParaRPr lang="en-US" sz="1000" dirty="0"/>
          </a:p>
        </p:txBody>
      </p:sp>
      <p:sp>
        <p:nvSpPr>
          <p:cNvPr id="16" name="Text 14"/>
          <p:cNvSpPr/>
          <p:nvPr/>
        </p:nvSpPr>
        <p:spPr>
          <a:xfrm>
            <a:off x="594360" y="2148840"/>
            <a:ext cx="4846320" cy="274320"/>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A) Spear Phishing    B) Smishing    C) Whaling    D) Vishing</a:t>
            </a:r>
            <a:endParaRPr lang="en-US" sz="900" dirty="0"/>
          </a:p>
        </p:txBody>
      </p:sp>
      <p:sp>
        <p:nvSpPr>
          <p:cNvPr id="17" name="Shape 15"/>
          <p:cNvSpPr/>
          <p:nvPr/>
        </p:nvSpPr>
        <p:spPr>
          <a:xfrm>
            <a:off x="5623560" y="1819656"/>
            <a:ext cx="3017520" cy="603504"/>
          </a:xfrm>
          <a:prstGeom prst="rect">
            <a:avLst/>
          </a:prstGeom>
          <a:solidFill>
            <a:srgbClr val="D4F3E6"/>
          </a:solidFill>
          <a:ln w="12700">
            <a:solidFill>
              <a:srgbClr val="2BAE76"/>
            </a:solidFill>
            <a:prstDash val="solid"/>
          </a:ln>
        </p:spPr>
      </p:sp>
      <p:sp>
        <p:nvSpPr>
          <p:cNvPr id="18" name="Text 16"/>
          <p:cNvSpPr/>
          <p:nvPr/>
        </p:nvSpPr>
        <p:spPr>
          <a:xfrm>
            <a:off x="5687568" y="1856232"/>
            <a:ext cx="2907792" cy="530352"/>
          </a:xfrm>
          <a:prstGeom prst="rect">
            <a:avLst/>
          </a:prstGeom>
          <a:noFill/>
          <a:ln/>
        </p:spPr>
        <p:txBody>
          <a:bodyPr wrap="square" rtlCol="0" anchor="ctr"/>
          <a:lstStyle/>
          <a:p>
            <a:pPr marL="0" indent="0">
              <a:buNone/>
            </a:pPr>
            <a:r>
              <a:rPr lang="en-US" sz="900" i="1" dirty="0">
                <a:solidFill>
                  <a:srgbClr val="2BAE76"/>
                </a:solidFill>
                <a:latin typeface="Calibri" pitchFamily="34" charset="0"/>
                <a:ea typeface="Calibri" pitchFamily="34" charset="-122"/>
                <a:cs typeface="Calibri" pitchFamily="34" charset="-120"/>
              </a:rPr>
              <a:t>C)  Whaling — named for targeting the 'big fish' like CEOs, CFOs, and board members.</a:t>
            </a:r>
            <a:endParaRPr lang="en-US" sz="900" dirty="0"/>
          </a:p>
        </p:txBody>
      </p:sp>
      <p:sp>
        <p:nvSpPr>
          <p:cNvPr id="19" name="Shape 17"/>
          <p:cNvSpPr/>
          <p:nvPr/>
        </p:nvSpPr>
        <p:spPr>
          <a:xfrm>
            <a:off x="457200" y="2569464"/>
            <a:ext cx="8321040" cy="731520"/>
          </a:xfrm>
          <a:prstGeom prst="rect">
            <a:avLst/>
          </a:prstGeom>
          <a:solidFill>
            <a:srgbClr val="F7F8FC"/>
          </a:solidFill>
          <a:ln w="12700">
            <a:solidFill>
              <a:srgbClr val="D8DCE8"/>
            </a:solidFill>
            <a:prstDash val="solid"/>
          </a:ln>
        </p:spPr>
      </p:sp>
      <p:sp>
        <p:nvSpPr>
          <p:cNvPr id="20" name="Shape 18"/>
          <p:cNvSpPr/>
          <p:nvPr/>
        </p:nvSpPr>
        <p:spPr>
          <a:xfrm>
            <a:off x="457200" y="2569464"/>
            <a:ext cx="45720" cy="731520"/>
          </a:xfrm>
          <a:prstGeom prst="rect">
            <a:avLst/>
          </a:prstGeom>
          <a:solidFill>
            <a:srgbClr val="1A2340"/>
          </a:solidFill>
          <a:ln w="12700">
            <a:solidFill>
              <a:srgbClr val="1A2340">
                <a:alpha val="0"/>
              </a:srgbClr>
            </a:solidFill>
            <a:prstDash val="solid"/>
          </a:ln>
        </p:spPr>
      </p:sp>
      <p:sp>
        <p:nvSpPr>
          <p:cNvPr id="21" name="Text 19"/>
          <p:cNvSpPr/>
          <p:nvPr/>
        </p:nvSpPr>
        <p:spPr>
          <a:xfrm>
            <a:off x="594360" y="2624328"/>
            <a:ext cx="4846320" cy="292608"/>
          </a:xfrm>
          <a:prstGeom prst="rect">
            <a:avLst/>
          </a:prstGeom>
          <a:noFill/>
          <a:ln/>
        </p:spPr>
        <p:txBody>
          <a:bodyPr wrap="square" rtlCol="0" anchor="ctr"/>
          <a:lstStyle/>
          <a:p>
            <a:pPr marL="0" indent="0">
              <a:buNone/>
            </a:pPr>
            <a:r>
              <a:rPr lang="en-US" sz="1000" b="1" dirty="0">
                <a:solidFill>
                  <a:srgbClr val="1A2340"/>
                </a:solidFill>
                <a:latin typeface="Georgia" pitchFamily="34" charset="0"/>
                <a:ea typeface="Georgia" pitchFamily="34" charset="-122"/>
                <a:cs typeface="Georgia" pitchFamily="34" charset="-120"/>
              </a:rPr>
              <a:t>Q3  A website shows HTTPS and a padlock. Is it definitely safe to enter your password?</a:t>
            </a:r>
            <a:endParaRPr lang="en-US" sz="1000" dirty="0"/>
          </a:p>
        </p:txBody>
      </p:sp>
      <p:sp>
        <p:nvSpPr>
          <p:cNvPr id="22" name="Text 20"/>
          <p:cNvSpPr/>
          <p:nvPr/>
        </p:nvSpPr>
        <p:spPr>
          <a:xfrm>
            <a:off x="594360" y="2953512"/>
            <a:ext cx="4846320" cy="274320"/>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A) Yes — HTTPS guarantees security    B) No — 83% of phishing sites now use HTTPS</a:t>
            </a:r>
            <a:endParaRPr lang="en-US" sz="900" dirty="0"/>
          </a:p>
        </p:txBody>
      </p:sp>
      <p:sp>
        <p:nvSpPr>
          <p:cNvPr id="23" name="Shape 21"/>
          <p:cNvSpPr/>
          <p:nvPr/>
        </p:nvSpPr>
        <p:spPr>
          <a:xfrm>
            <a:off x="5623560" y="2624328"/>
            <a:ext cx="3017520" cy="603504"/>
          </a:xfrm>
          <a:prstGeom prst="rect">
            <a:avLst/>
          </a:prstGeom>
          <a:solidFill>
            <a:srgbClr val="D4F3E6"/>
          </a:solidFill>
          <a:ln w="12700">
            <a:solidFill>
              <a:srgbClr val="2BAE76"/>
            </a:solidFill>
            <a:prstDash val="solid"/>
          </a:ln>
        </p:spPr>
      </p:sp>
      <p:sp>
        <p:nvSpPr>
          <p:cNvPr id="24" name="Text 22"/>
          <p:cNvSpPr/>
          <p:nvPr/>
        </p:nvSpPr>
        <p:spPr>
          <a:xfrm>
            <a:off x="5687568" y="2660904"/>
            <a:ext cx="2907792" cy="530352"/>
          </a:xfrm>
          <a:prstGeom prst="rect">
            <a:avLst/>
          </a:prstGeom>
          <a:noFill/>
          <a:ln/>
        </p:spPr>
        <p:txBody>
          <a:bodyPr wrap="square" rtlCol="0" anchor="ctr"/>
          <a:lstStyle/>
          <a:p>
            <a:pPr marL="0" indent="0">
              <a:buNone/>
            </a:pPr>
            <a:r>
              <a:rPr lang="en-US" sz="900" i="1" dirty="0">
                <a:solidFill>
                  <a:srgbClr val="2BAE76"/>
                </a:solidFill>
                <a:latin typeface="Calibri" pitchFamily="34" charset="0"/>
                <a:ea typeface="Calibri" pitchFamily="34" charset="-122"/>
                <a:cs typeface="Calibri" pitchFamily="34" charset="-120"/>
              </a:rPr>
              <a:t>B)  No — HTTPS encrypts the connection but does NOT verify the site's identity or legitimacy.</a:t>
            </a:r>
            <a:endParaRPr lang="en-US" sz="900" dirty="0"/>
          </a:p>
        </p:txBody>
      </p:sp>
      <p:sp>
        <p:nvSpPr>
          <p:cNvPr id="25" name="Shape 23"/>
          <p:cNvSpPr/>
          <p:nvPr/>
        </p:nvSpPr>
        <p:spPr>
          <a:xfrm>
            <a:off x="457200" y="3374136"/>
            <a:ext cx="8321040" cy="731520"/>
          </a:xfrm>
          <a:prstGeom prst="rect">
            <a:avLst/>
          </a:prstGeom>
          <a:solidFill>
            <a:srgbClr val="F7F8FC"/>
          </a:solidFill>
          <a:ln w="12700">
            <a:solidFill>
              <a:srgbClr val="D8DCE8"/>
            </a:solidFill>
            <a:prstDash val="solid"/>
          </a:ln>
        </p:spPr>
      </p:sp>
      <p:sp>
        <p:nvSpPr>
          <p:cNvPr id="26" name="Shape 24"/>
          <p:cNvSpPr/>
          <p:nvPr/>
        </p:nvSpPr>
        <p:spPr>
          <a:xfrm>
            <a:off x="457200" y="3374136"/>
            <a:ext cx="45720" cy="731520"/>
          </a:xfrm>
          <a:prstGeom prst="rect">
            <a:avLst/>
          </a:prstGeom>
          <a:solidFill>
            <a:srgbClr val="1A2340"/>
          </a:solidFill>
          <a:ln w="12700">
            <a:solidFill>
              <a:srgbClr val="1A2340">
                <a:alpha val="0"/>
              </a:srgbClr>
            </a:solidFill>
            <a:prstDash val="solid"/>
          </a:ln>
        </p:spPr>
      </p:sp>
      <p:sp>
        <p:nvSpPr>
          <p:cNvPr id="27" name="Text 25"/>
          <p:cNvSpPr/>
          <p:nvPr/>
        </p:nvSpPr>
        <p:spPr>
          <a:xfrm>
            <a:off x="594360" y="3429000"/>
            <a:ext cx="4846320" cy="292608"/>
          </a:xfrm>
          <a:prstGeom prst="rect">
            <a:avLst/>
          </a:prstGeom>
          <a:noFill/>
          <a:ln/>
        </p:spPr>
        <p:txBody>
          <a:bodyPr wrap="square" rtlCol="0" anchor="ctr"/>
          <a:lstStyle/>
          <a:p>
            <a:pPr marL="0" indent="0">
              <a:buNone/>
            </a:pPr>
            <a:r>
              <a:rPr lang="en-US" sz="1000" b="1" dirty="0">
                <a:solidFill>
                  <a:srgbClr val="1A2340"/>
                </a:solidFill>
                <a:latin typeface="Georgia" pitchFamily="34" charset="0"/>
                <a:ea typeface="Georgia" pitchFamily="34" charset="-122"/>
                <a:cs typeface="Georgia" pitchFamily="34" charset="-120"/>
              </a:rPr>
              <a:t>Q4  You find an unmarked USB drive in the university parking lot. What is the correct action?</a:t>
            </a:r>
            <a:endParaRPr lang="en-US" sz="1000" dirty="0"/>
          </a:p>
        </p:txBody>
      </p:sp>
      <p:sp>
        <p:nvSpPr>
          <p:cNvPr id="28" name="Text 26"/>
          <p:cNvSpPr/>
          <p:nvPr/>
        </p:nvSpPr>
        <p:spPr>
          <a:xfrm>
            <a:off x="594360" y="3758184"/>
            <a:ext cx="4846320" cy="274320"/>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A) Plug it in — it might be useful    B) Hand it to security without plugging it in first</a:t>
            </a:r>
            <a:endParaRPr lang="en-US" sz="900" dirty="0"/>
          </a:p>
        </p:txBody>
      </p:sp>
      <p:sp>
        <p:nvSpPr>
          <p:cNvPr id="29" name="Shape 27"/>
          <p:cNvSpPr/>
          <p:nvPr/>
        </p:nvSpPr>
        <p:spPr>
          <a:xfrm>
            <a:off x="5623560" y="3429000"/>
            <a:ext cx="3017520" cy="603504"/>
          </a:xfrm>
          <a:prstGeom prst="rect">
            <a:avLst/>
          </a:prstGeom>
          <a:solidFill>
            <a:srgbClr val="D4F3E6"/>
          </a:solidFill>
          <a:ln w="12700">
            <a:solidFill>
              <a:srgbClr val="2BAE76"/>
            </a:solidFill>
            <a:prstDash val="solid"/>
          </a:ln>
        </p:spPr>
      </p:sp>
      <p:sp>
        <p:nvSpPr>
          <p:cNvPr id="30" name="Text 28"/>
          <p:cNvSpPr/>
          <p:nvPr/>
        </p:nvSpPr>
        <p:spPr>
          <a:xfrm>
            <a:off x="5687568" y="3465576"/>
            <a:ext cx="2907792" cy="530352"/>
          </a:xfrm>
          <a:prstGeom prst="rect">
            <a:avLst/>
          </a:prstGeom>
          <a:noFill/>
          <a:ln/>
        </p:spPr>
        <p:txBody>
          <a:bodyPr wrap="square" rtlCol="0" anchor="ctr"/>
          <a:lstStyle/>
          <a:p>
            <a:pPr marL="0" indent="0">
              <a:buNone/>
            </a:pPr>
            <a:r>
              <a:rPr lang="en-US" sz="900" i="1" dirty="0">
                <a:solidFill>
                  <a:srgbClr val="2BAE76"/>
                </a:solidFill>
                <a:latin typeface="Calibri" pitchFamily="34" charset="0"/>
                <a:ea typeface="Calibri" pitchFamily="34" charset="-122"/>
                <a:cs typeface="Calibri" pitchFamily="34" charset="-120"/>
              </a:rPr>
              <a:t>B)  Never plug in unknown USB drives — baiting attacks rely on exactly this curiosity.</a:t>
            </a:r>
            <a:endParaRPr lang="en-US" sz="900" dirty="0"/>
          </a:p>
        </p:txBody>
      </p:sp>
      <p:sp>
        <p:nvSpPr>
          <p:cNvPr id="31" name="Shape 29"/>
          <p:cNvSpPr/>
          <p:nvPr/>
        </p:nvSpPr>
        <p:spPr>
          <a:xfrm>
            <a:off x="457200" y="4178808"/>
            <a:ext cx="8321040" cy="731520"/>
          </a:xfrm>
          <a:prstGeom prst="rect">
            <a:avLst/>
          </a:prstGeom>
          <a:solidFill>
            <a:srgbClr val="F7F8FC"/>
          </a:solidFill>
          <a:ln w="12700">
            <a:solidFill>
              <a:srgbClr val="D8DCE8"/>
            </a:solidFill>
            <a:prstDash val="solid"/>
          </a:ln>
        </p:spPr>
      </p:sp>
      <p:sp>
        <p:nvSpPr>
          <p:cNvPr id="32" name="Shape 30"/>
          <p:cNvSpPr/>
          <p:nvPr/>
        </p:nvSpPr>
        <p:spPr>
          <a:xfrm>
            <a:off x="457200" y="4178808"/>
            <a:ext cx="45720" cy="731520"/>
          </a:xfrm>
          <a:prstGeom prst="rect">
            <a:avLst/>
          </a:prstGeom>
          <a:solidFill>
            <a:srgbClr val="1A2340"/>
          </a:solidFill>
          <a:ln w="12700">
            <a:solidFill>
              <a:srgbClr val="1A2340">
                <a:alpha val="0"/>
              </a:srgbClr>
            </a:solidFill>
            <a:prstDash val="solid"/>
          </a:ln>
        </p:spPr>
      </p:sp>
      <p:sp>
        <p:nvSpPr>
          <p:cNvPr id="33" name="Text 31"/>
          <p:cNvSpPr/>
          <p:nvPr/>
        </p:nvSpPr>
        <p:spPr>
          <a:xfrm>
            <a:off x="594360" y="4233672"/>
            <a:ext cx="4846320" cy="292608"/>
          </a:xfrm>
          <a:prstGeom prst="rect">
            <a:avLst/>
          </a:prstGeom>
          <a:noFill/>
          <a:ln/>
        </p:spPr>
        <p:txBody>
          <a:bodyPr wrap="square" rtlCol="0" anchor="ctr"/>
          <a:lstStyle/>
          <a:p>
            <a:pPr marL="0" indent="0">
              <a:buNone/>
            </a:pPr>
            <a:r>
              <a:rPr lang="en-US" sz="1000" b="1" dirty="0">
                <a:solidFill>
                  <a:srgbClr val="1A2340"/>
                </a:solidFill>
                <a:latin typeface="Georgia" pitchFamily="34" charset="0"/>
                <a:ea typeface="Georgia" pitchFamily="34" charset="-122"/>
                <a:cs typeface="Georgia" pitchFamily="34" charset="-120"/>
              </a:rPr>
              <a:t>Q5  You accidentally clicked a phishing link. What is the very FIRST thing you should do?</a:t>
            </a:r>
            <a:endParaRPr lang="en-US" sz="1000" dirty="0"/>
          </a:p>
        </p:txBody>
      </p:sp>
      <p:sp>
        <p:nvSpPr>
          <p:cNvPr id="34" name="Text 32"/>
          <p:cNvSpPr/>
          <p:nvPr/>
        </p:nvSpPr>
        <p:spPr>
          <a:xfrm>
            <a:off x="594360" y="4562856"/>
            <a:ext cx="4846320" cy="274320"/>
          </a:xfrm>
          <a:prstGeom prst="rect">
            <a:avLst/>
          </a:prstGeom>
          <a:noFill/>
          <a:ln/>
        </p:spPr>
        <p:txBody>
          <a:bodyPr wrap="square" rtlCol="0" anchor="ctr"/>
          <a:lstStyle/>
          <a:p>
            <a:pPr marL="0" indent="0">
              <a:buNone/>
            </a:pPr>
            <a:r>
              <a:rPr lang="en-US" sz="900" dirty="0">
                <a:solidFill>
                  <a:srgbClr val="4A5568"/>
                </a:solidFill>
                <a:latin typeface="Calibri" pitchFamily="34" charset="0"/>
                <a:ea typeface="Calibri" pitchFamily="34" charset="-122"/>
                <a:cs typeface="Calibri" pitchFamily="34" charset="-120"/>
              </a:rPr>
              <a:t>A) Disconnect from the internet immediately    B) Continue browsing and close the tab</a:t>
            </a:r>
            <a:endParaRPr lang="en-US" sz="900" dirty="0"/>
          </a:p>
        </p:txBody>
      </p:sp>
      <p:sp>
        <p:nvSpPr>
          <p:cNvPr id="35" name="Shape 33"/>
          <p:cNvSpPr/>
          <p:nvPr/>
        </p:nvSpPr>
        <p:spPr>
          <a:xfrm>
            <a:off x="5623560" y="4233672"/>
            <a:ext cx="3017520" cy="603504"/>
          </a:xfrm>
          <a:prstGeom prst="rect">
            <a:avLst/>
          </a:prstGeom>
          <a:solidFill>
            <a:srgbClr val="D4F3E6"/>
          </a:solidFill>
          <a:ln w="12700">
            <a:solidFill>
              <a:srgbClr val="2BAE76"/>
            </a:solidFill>
            <a:prstDash val="solid"/>
          </a:ln>
        </p:spPr>
      </p:sp>
      <p:sp>
        <p:nvSpPr>
          <p:cNvPr id="36" name="Text 34"/>
          <p:cNvSpPr/>
          <p:nvPr/>
        </p:nvSpPr>
        <p:spPr>
          <a:xfrm>
            <a:off x="5687568" y="4270248"/>
            <a:ext cx="2907792" cy="530352"/>
          </a:xfrm>
          <a:prstGeom prst="rect">
            <a:avLst/>
          </a:prstGeom>
          <a:noFill/>
          <a:ln/>
        </p:spPr>
        <p:txBody>
          <a:bodyPr wrap="square" rtlCol="0" anchor="ctr"/>
          <a:lstStyle/>
          <a:p>
            <a:pPr marL="0" indent="0">
              <a:buNone/>
            </a:pPr>
            <a:r>
              <a:rPr lang="en-US" sz="900" i="1" dirty="0">
                <a:solidFill>
                  <a:srgbClr val="2BAE76"/>
                </a:solidFill>
                <a:latin typeface="Calibri" pitchFamily="34" charset="0"/>
                <a:ea typeface="Calibri" pitchFamily="34" charset="-122"/>
                <a:cs typeface="Calibri" pitchFamily="34" charset="-120"/>
              </a:rPr>
              <a:t>A)  Disconnect immediately — stops data being sent and prevents malware from spreading.</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40"/>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FFFFFF"/>
          </a:solidFill>
          <a:ln w="12700">
            <a:solidFill>
              <a:srgbClr val="FFFFFF">
                <a:alpha val="0"/>
              </a:srgbClr>
            </a:solidFill>
            <a:prstDash val="solid"/>
          </a:ln>
        </p:spPr>
      </p:sp>
      <p:sp>
        <p:nvSpPr>
          <p:cNvPr id="3" name="Shape 1"/>
          <p:cNvSpPr/>
          <p:nvPr/>
        </p:nvSpPr>
        <p:spPr>
          <a:xfrm>
            <a:off x="5440680" y="0"/>
            <a:ext cx="228600" cy="5143500"/>
          </a:xfrm>
          <a:prstGeom prst="rect">
            <a:avLst/>
          </a:prstGeom>
          <a:solidFill>
            <a:srgbClr val="F5C518"/>
          </a:solidFill>
          <a:ln w="12700">
            <a:solidFill>
              <a:srgbClr val="F5C518">
                <a:alpha val="0"/>
              </a:srgbClr>
            </a:solidFill>
            <a:prstDash val="solid"/>
          </a:ln>
        </p:spPr>
      </p:sp>
      <p:pic>
        <p:nvPicPr>
          <p:cNvPr id="4" name="Image 0" descr="preencoded.png"/>
          <p:cNvPicPr>
            <a:picLocks noChangeAspect="1"/>
          </p:cNvPicPr>
          <p:nvPr/>
        </p:nvPicPr>
        <p:blipFill>
          <a:blip r:embed="rId3"/>
          <a:stretch>
            <a:fillRect/>
          </a:stretch>
        </p:blipFill>
        <p:spPr>
          <a:xfrm>
            <a:off x="6263640" y="320040"/>
            <a:ext cx="1737360" cy="2176272"/>
          </a:xfrm>
          <a:prstGeom prst="rect">
            <a:avLst/>
          </a:prstGeom>
        </p:spPr>
      </p:pic>
      <p:sp>
        <p:nvSpPr>
          <p:cNvPr id="5" name="Text 2"/>
          <p:cNvSpPr/>
          <p:nvPr/>
        </p:nvSpPr>
        <p:spPr>
          <a:xfrm>
            <a:off x="5760720" y="2670048"/>
            <a:ext cx="3200400" cy="274320"/>
          </a:xfrm>
          <a:prstGeom prst="rect">
            <a:avLst/>
          </a:prstGeom>
          <a:noFill/>
          <a:ln/>
        </p:spPr>
        <p:txBody>
          <a:bodyPr wrap="square" rtlCol="0" anchor="ctr"/>
          <a:lstStyle/>
          <a:p>
            <a:pPr marL="0" indent="0">
              <a:buNone/>
            </a:pPr>
            <a:r>
              <a:rPr lang="en-US" sz="1200" b="1" dirty="0">
                <a:solidFill>
                  <a:srgbClr val="1A2340"/>
                </a:solidFill>
                <a:latin typeface="Georgia" pitchFamily="34" charset="0"/>
                <a:ea typeface="Georgia" pitchFamily="34" charset="-122"/>
                <a:cs typeface="Georgia" pitchFamily="34" charset="-120"/>
              </a:rPr>
              <a:t>Free Resources</a:t>
            </a:r>
            <a:endParaRPr lang="en-US" sz="1200" dirty="0"/>
          </a:p>
        </p:txBody>
      </p:sp>
      <p:sp>
        <p:nvSpPr>
          <p:cNvPr id="6" name="Shape 3"/>
          <p:cNvSpPr/>
          <p:nvPr/>
        </p:nvSpPr>
        <p:spPr>
          <a:xfrm>
            <a:off x="5760720" y="2962656"/>
            <a:ext cx="3108960" cy="20117"/>
          </a:xfrm>
          <a:prstGeom prst="rect">
            <a:avLst/>
          </a:prstGeom>
          <a:solidFill>
            <a:srgbClr val="D8DCE8"/>
          </a:solidFill>
          <a:ln w="12700">
            <a:solidFill>
              <a:srgbClr val="D8DCE8">
                <a:alpha val="0"/>
              </a:srgbClr>
            </a:solidFill>
            <a:prstDash val="solid"/>
          </a:ln>
        </p:spPr>
      </p:sp>
      <p:sp>
        <p:nvSpPr>
          <p:cNvPr id="7" name="Text 4"/>
          <p:cNvSpPr/>
          <p:nvPr/>
        </p:nvSpPr>
        <p:spPr>
          <a:xfrm>
            <a:off x="5760720" y="3017520"/>
            <a:ext cx="3108960" cy="292608"/>
          </a:xfrm>
          <a:prstGeom prst="rect">
            <a:avLst/>
          </a:prstGeom>
          <a:noFill/>
          <a:ln/>
        </p:spPr>
        <p:txBody>
          <a:bodyPr wrap="square" rtlCol="0" anchor="ctr"/>
          <a:lstStyle/>
          <a:p>
            <a:pPr marL="0" indent="0">
              <a:buNone/>
            </a:pPr>
            <a:r>
              <a:rPr lang="en-US" sz="1000" dirty="0">
                <a:solidFill>
                  <a:srgbClr val="4A72C4"/>
                </a:solidFill>
                <a:latin typeface="Calibri" pitchFamily="34" charset="0"/>
                <a:ea typeface="Calibri" pitchFamily="34" charset="-122"/>
                <a:cs typeface="Calibri" pitchFamily="34" charset="-120"/>
              </a:rPr>
              <a:t>haveibeenpwned.com</a:t>
            </a:r>
            <a:endParaRPr lang="en-US" sz="1000" dirty="0"/>
          </a:p>
        </p:txBody>
      </p:sp>
      <p:sp>
        <p:nvSpPr>
          <p:cNvPr id="8" name="Text 5"/>
          <p:cNvSpPr/>
          <p:nvPr/>
        </p:nvSpPr>
        <p:spPr>
          <a:xfrm>
            <a:off x="5760720" y="3364992"/>
            <a:ext cx="3108960" cy="292608"/>
          </a:xfrm>
          <a:prstGeom prst="rect">
            <a:avLst/>
          </a:prstGeom>
          <a:noFill/>
          <a:ln/>
        </p:spPr>
        <p:txBody>
          <a:bodyPr wrap="square" rtlCol="0" anchor="ctr"/>
          <a:lstStyle/>
          <a:p>
            <a:pPr marL="0" indent="0">
              <a:buNone/>
            </a:pPr>
            <a:r>
              <a:rPr lang="en-US" sz="1000" dirty="0">
                <a:solidFill>
                  <a:srgbClr val="4A72C4"/>
                </a:solidFill>
                <a:latin typeface="Calibri" pitchFamily="34" charset="0"/>
                <a:ea typeface="Calibri" pitchFamily="34" charset="-122"/>
                <a:cs typeface="Calibri" pitchFamily="34" charset="-120"/>
              </a:rPr>
              <a:t>reportfraud.ftc.gov</a:t>
            </a:r>
            <a:endParaRPr lang="en-US" sz="1000" dirty="0"/>
          </a:p>
        </p:txBody>
      </p:sp>
      <p:sp>
        <p:nvSpPr>
          <p:cNvPr id="9" name="Text 6"/>
          <p:cNvSpPr/>
          <p:nvPr/>
        </p:nvSpPr>
        <p:spPr>
          <a:xfrm>
            <a:off x="5760720" y="3712464"/>
            <a:ext cx="3108960" cy="292608"/>
          </a:xfrm>
          <a:prstGeom prst="rect">
            <a:avLst/>
          </a:prstGeom>
          <a:noFill/>
          <a:ln/>
        </p:spPr>
        <p:txBody>
          <a:bodyPr wrap="square" rtlCol="0" anchor="ctr"/>
          <a:lstStyle/>
          <a:p>
            <a:pPr marL="0" indent="0">
              <a:buNone/>
            </a:pPr>
            <a:r>
              <a:rPr lang="en-US" sz="1000" dirty="0">
                <a:solidFill>
                  <a:srgbClr val="4A72C4"/>
                </a:solidFill>
                <a:latin typeface="Calibri" pitchFamily="34" charset="0"/>
                <a:ea typeface="Calibri" pitchFamily="34" charset="-122"/>
                <a:cs typeface="Calibri" pitchFamily="34" charset="-120"/>
              </a:rPr>
              <a:t>ic3.gov  (FBI)</a:t>
            </a:r>
            <a:endParaRPr lang="en-US" sz="1000" dirty="0"/>
          </a:p>
        </p:txBody>
      </p:sp>
      <p:sp>
        <p:nvSpPr>
          <p:cNvPr id="10" name="Text 7"/>
          <p:cNvSpPr/>
          <p:nvPr/>
        </p:nvSpPr>
        <p:spPr>
          <a:xfrm>
            <a:off x="5760720" y="4059936"/>
            <a:ext cx="3108960" cy="292608"/>
          </a:xfrm>
          <a:prstGeom prst="rect">
            <a:avLst/>
          </a:prstGeom>
          <a:noFill/>
          <a:ln/>
        </p:spPr>
        <p:txBody>
          <a:bodyPr wrap="square" rtlCol="0" anchor="ctr"/>
          <a:lstStyle/>
          <a:p>
            <a:pPr marL="0" indent="0">
              <a:buNone/>
            </a:pPr>
            <a:r>
              <a:rPr lang="en-US" sz="1000" dirty="0">
                <a:solidFill>
                  <a:srgbClr val="4A72C4"/>
                </a:solidFill>
                <a:latin typeface="Calibri" pitchFamily="34" charset="0"/>
                <a:ea typeface="Calibri" pitchFamily="34" charset="-122"/>
                <a:cs typeface="Calibri" pitchFamily="34" charset="-120"/>
              </a:rPr>
              <a:t>bitwarden.com</a:t>
            </a:r>
            <a:endParaRPr lang="en-US" sz="1000" dirty="0"/>
          </a:p>
        </p:txBody>
      </p:sp>
      <p:sp>
        <p:nvSpPr>
          <p:cNvPr id="11" name="Text 8"/>
          <p:cNvSpPr/>
          <p:nvPr/>
        </p:nvSpPr>
        <p:spPr>
          <a:xfrm>
            <a:off x="5760720" y="4407408"/>
            <a:ext cx="3108960" cy="292608"/>
          </a:xfrm>
          <a:prstGeom prst="rect">
            <a:avLst/>
          </a:prstGeom>
          <a:noFill/>
          <a:ln/>
        </p:spPr>
        <p:txBody>
          <a:bodyPr wrap="square" rtlCol="0" anchor="ctr"/>
          <a:lstStyle/>
          <a:p>
            <a:pPr marL="0" indent="0">
              <a:buNone/>
            </a:pPr>
            <a:r>
              <a:rPr lang="en-US" sz="1000" dirty="0">
                <a:solidFill>
                  <a:srgbClr val="4A72C4"/>
                </a:solidFill>
                <a:latin typeface="Calibri" pitchFamily="34" charset="0"/>
                <a:ea typeface="Calibri" pitchFamily="34" charset="-122"/>
                <a:cs typeface="Calibri" pitchFamily="34" charset="-120"/>
              </a:rPr>
              <a:t>virustotal.com</a:t>
            </a:r>
            <a:endParaRPr lang="en-US" sz="1000" dirty="0"/>
          </a:p>
        </p:txBody>
      </p:sp>
      <p:sp>
        <p:nvSpPr>
          <p:cNvPr id="12" name="Text 9"/>
          <p:cNvSpPr/>
          <p:nvPr/>
        </p:nvSpPr>
        <p:spPr>
          <a:xfrm>
            <a:off x="502920" y="274320"/>
            <a:ext cx="4754880" cy="50292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Key Takeaways</a:t>
            </a:r>
            <a:endParaRPr lang="en-US" sz="2600" dirty="0"/>
          </a:p>
        </p:txBody>
      </p:sp>
      <p:sp>
        <p:nvSpPr>
          <p:cNvPr id="13" name="Shape 10"/>
          <p:cNvSpPr/>
          <p:nvPr/>
        </p:nvSpPr>
        <p:spPr>
          <a:xfrm>
            <a:off x="502920" y="804672"/>
            <a:ext cx="1097280" cy="36576"/>
          </a:xfrm>
          <a:prstGeom prst="rect">
            <a:avLst/>
          </a:prstGeom>
          <a:solidFill>
            <a:srgbClr val="F5C518"/>
          </a:solidFill>
          <a:ln w="12700">
            <a:solidFill>
              <a:srgbClr val="F5C518">
                <a:alpha val="0"/>
              </a:srgbClr>
            </a:solidFill>
            <a:prstDash val="solid"/>
          </a:ln>
        </p:spPr>
      </p:sp>
      <p:sp>
        <p:nvSpPr>
          <p:cNvPr id="14" name="Shape 11"/>
          <p:cNvSpPr/>
          <p:nvPr/>
        </p:nvSpPr>
        <p:spPr>
          <a:xfrm>
            <a:off x="502920" y="914400"/>
            <a:ext cx="4773168" cy="566928"/>
          </a:xfrm>
          <a:prstGeom prst="rect">
            <a:avLst/>
          </a:prstGeom>
          <a:solidFill>
            <a:srgbClr val="253160">
              <a:alpha val="30000"/>
            </a:srgbClr>
          </a:solidFill>
          <a:ln w="12700">
            <a:solidFill>
              <a:srgbClr val="3D4F82">
                <a:alpha val="40000"/>
              </a:srgbClr>
            </a:solidFill>
            <a:prstDash val="solid"/>
          </a:ln>
        </p:spPr>
      </p:sp>
      <p:sp>
        <p:nvSpPr>
          <p:cNvPr id="15" name="Shape 12"/>
          <p:cNvSpPr/>
          <p:nvPr/>
        </p:nvSpPr>
        <p:spPr>
          <a:xfrm>
            <a:off x="502920" y="914400"/>
            <a:ext cx="45720" cy="566928"/>
          </a:xfrm>
          <a:prstGeom prst="rect">
            <a:avLst/>
          </a:prstGeom>
          <a:solidFill>
            <a:srgbClr val="E8523A"/>
          </a:solidFill>
          <a:ln w="12700">
            <a:solidFill>
              <a:srgbClr val="E8523A">
                <a:alpha val="0"/>
              </a:srgbClr>
            </a:solidFill>
            <a:prstDash val="solid"/>
          </a:ln>
        </p:spPr>
      </p:sp>
      <p:sp>
        <p:nvSpPr>
          <p:cNvPr id="16" name="Text 13"/>
          <p:cNvSpPr/>
          <p:nvPr/>
        </p:nvSpPr>
        <p:spPr>
          <a:xfrm>
            <a:off x="640080" y="1005840"/>
            <a:ext cx="4572000" cy="411480"/>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PAUSE</a:t>
            </a:r>
            <a:r>
              <a:rPr lang="en-US" sz="1200" dirty="0">
                <a:solidFill>
                  <a:srgbClr val="FFFFFF"/>
                </a:solidFill>
                <a:latin typeface="Calibri" pitchFamily="34" charset="0"/>
                <a:ea typeface="Calibri" pitchFamily="34" charset="-122"/>
                <a:cs typeface="Calibri" pitchFamily="34" charset="-120"/>
              </a:rPr>
              <a:t> — Stop before clicking any link or unexpected attachment</a:t>
            </a:r>
            <a:endParaRPr lang="en-US" sz="1200" dirty="0"/>
          </a:p>
        </p:txBody>
      </p:sp>
      <p:sp>
        <p:nvSpPr>
          <p:cNvPr id="17" name="Shape 14"/>
          <p:cNvSpPr/>
          <p:nvPr/>
        </p:nvSpPr>
        <p:spPr>
          <a:xfrm>
            <a:off x="502920" y="1609344"/>
            <a:ext cx="4773168" cy="566928"/>
          </a:xfrm>
          <a:prstGeom prst="rect">
            <a:avLst/>
          </a:prstGeom>
          <a:solidFill>
            <a:srgbClr val="253160">
              <a:alpha val="30000"/>
            </a:srgbClr>
          </a:solidFill>
          <a:ln w="12700">
            <a:solidFill>
              <a:srgbClr val="3D4F82">
                <a:alpha val="40000"/>
              </a:srgbClr>
            </a:solidFill>
            <a:prstDash val="solid"/>
          </a:ln>
        </p:spPr>
      </p:sp>
      <p:sp>
        <p:nvSpPr>
          <p:cNvPr id="18" name="Shape 15"/>
          <p:cNvSpPr/>
          <p:nvPr/>
        </p:nvSpPr>
        <p:spPr>
          <a:xfrm>
            <a:off x="502920" y="1609344"/>
            <a:ext cx="45720" cy="566928"/>
          </a:xfrm>
          <a:prstGeom prst="rect">
            <a:avLst/>
          </a:prstGeom>
          <a:solidFill>
            <a:srgbClr val="F5C518"/>
          </a:solidFill>
          <a:ln w="12700">
            <a:solidFill>
              <a:srgbClr val="F5C518">
                <a:alpha val="0"/>
              </a:srgbClr>
            </a:solidFill>
            <a:prstDash val="solid"/>
          </a:ln>
        </p:spPr>
      </p:sp>
      <p:sp>
        <p:nvSpPr>
          <p:cNvPr id="19" name="Text 16"/>
          <p:cNvSpPr/>
          <p:nvPr/>
        </p:nvSpPr>
        <p:spPr>
          <a:xfrm>
            <a:off x="640080" y="1700784"/>
            <a:ext cx="4572000" cy="411480"/>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VERIFY</a:t>
            </a:r>
            <a:r>
              <a:rPr lang="en-US" sz="1200" dirty="0">
                <a:solidFill>
                  <a:srgbClr val="FFFFFF"/>
                </a:solidFill>
                <a:latin typeface="Calibri" pitchFamily="34" charset="0"/>
                <a:ea typeface="Calibri" pitchFamily="34" charset="-122"/>
                <a:cs typeface="Calibri" pitchFamily="34" charset="-120"/>
              </a:rPr>
              <a:t> — Confirm requests through an official, separate channel</a:t>
            </a:r>
            <a:endParaRPr lang="en-US" sz="1200" dirty="0"/>
          </a:p>
        </p:txBody>
      </p:sp>
      <p:sp>
        <p:nvSpPr>
          <p:cNvPr id="20" name="Shape 17"/>
          <p:cNvSpPr/>
          <p:nvPr/>
        </p:nvSpPr>
        <p:spPr>
          <a:xfrm>
            <a:off x="502920" y="2304288"/>
            <a:ext cx="4773168" cy="566928"/>
          </a:xfrm>
          <a:prstGeom prst="rect">
            <a:avLst/>
          </a:prstGeom>
          <a:solidFill>
            <a:srgbClr val="253160">
              <a:alpha val="30000"/>
            </a:srgbClr>
          </a:solidFill>
          <a:ln w="12700">
            <a:solidFill>
              <a:srgbClr val="3D4F82">
                <a:alpha val="40000"/>
              </a:srgbClr>
            </a:solidFill>
            <a:prstDash val="solid"/>
          </a:ln>
        </p:spPr>
      </p:sp>
      <p:sp>
        <p:nvSpPr>
          <p:cNvPr id="21" name="Shape 18"/>
          <p:cNvSpPr/>
          <p:nvPr/>
        </p:nvSpPr>
        <p:spPr>
          <a:xfrm>
            <a:off x="502920" y="2304288"/>
            <a:ext cx="45720" cy="566928"/>
          </a:xfrm>
          <a:prstGeom prst="rect">
            <a:avLst/>
          </a:prstGeom>
          <a:solidFill>
            <a:srgbClr val="2BAE76"/>
          </a:solidFill>
          <a:ln w="12700">
            <a:solidFill>
              <a:srgbClr val="2BAE76">
                <a:alpha val="0"/>
              </a:srgbClr>
            </a:solidFill>
            <a:prstDash val="solid"/>
          </a:ln>
        </p:spPr>
      </p:sp>
      <p:sp>
        <p:nvSpPr>
          <p:cNvPr id="22" name="Text 19"/>
          <p:cNvSpPr/>
          <p:nvPr/>
        </p:nvSpPr>
        <p:spPr>
          <a:xfrm>
            <a:off x="640080" y="2395728"/>
            <a:ext cx="4572000" cy="411480"/>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PROTECT</a:t>
            </a:r>
            <a:r>
              <a:rPr lang="en-US" sz="1200" dirty="0">
                <a:solidFill>
                  <a:srgbClr val="FFFFFF"/>
                </a:solidFill>
                <a:latin typeface="Calibri" pitchFamily="34" charset="0"/>
                <a:ea typeface="Calibri" pitchFamily="34" charset="-122"/>
                <a:cs typeface="Calibri" pitchFamily="34" charset="-120"/>
              </a:rPr>
              <a:t> — Unique passwords and MFA on every account, no exceptions</a:t>
            </a:r>
            <a:endParaRPr lang="en-US" sz="1200" dirty="0"/>
          </a:p>
        </p:txBody>
      </p:sp>
      <p:sp>
        <p:nvSpPr>
          <p:cNvPr id="23" name="Shape 20"/>
          <p:cNvSpPr/>
          <p:nvPr/>
        </p:nvSpPr>
        <p:spPr>
          <a:xfrm>
            <a:off x="502920" y="2999232"/>
            <a:ext cx="4773168" cy="566928"/>
          </a:xfrm>
          <a:prstGeom prst="rect">
            <a:avLst/>
          </a:prstGeom>
          <a:solidFill>
            <a:srgbClr val="253160">
              <a:alpha val="30000"/>
            </a:srgbClr>
          </a:solidFill>
          <a:ln w="12700">
            <a:solidFill>
              <a:srgbClr val="3D4F82">
                <a:alpha val="40000"/>
              </a:srgbClr>
            </a:solidFill>
            <a:prstDash val="solid"/>
          </a:ln>
        </p:spPr>
      </p:sp>
      <p:sp>
        <p:nvSpPr>
          <p:cNvPr id="24" name="Shape 21"/>
          <p:cNvSpPr/>
          <p:nvPr/>
        </p:nvSpPr>
        <p:spPr>
          <a:xfrm>
            <a:off x="502920" y="2999232"/>
            <a:ext cx="45720" cy="566928"/>
          </a:xfrm>
          <a:prstGeom prst="rect">
            <a:avLst/>
          </a:prstGeom>
          <a:solidFill>
            <a:srgbClr val="F5C518"/>
          </a:solidFill>
          <a:ln w="12700">
            <a:solidFill>
              <a:srgbClr val="F5C518">
                <a:alpha val="0"/>
              </a:srgbClr>
            </a:solidFill>
            <a:prstDash val="solid"/>
          </a:ln>
        </p:spPr>
      </p:sp>
      <p:sp>
        <p:nvSpPr>
          <p:cNvPr id="25" name="Text 22"/>
          <p:cNvSpPr/>
          <p:nvPr/>
        </p:nvSpPr>
        <p:spPr>
          <a:xfrm>
            <a:off x="640080" y="3090672"/>
            <a:ext cx="4572000" cy="411480"/>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QUESTION</a:t>
            </a:r>
            <a:r>
              <a:rPr lang="en-US" sz="1200" dirty="0">
                <a:solidFill>
                  <a:srgbClr val="FFFFFF"/>
                </a:solidFill>
                <a:latin typeface="Calibri" pitchFamily="34" charset="0"/>
                <a:ea typeface="Calibri" pitchFamily="34" charset="-122"/>
                <a:cs typeface="Calibri" pitchFamily="34" charset="-120"/>
              </a:rPr>
              <a:t> — Challenge urgency, authority, and anything too good to be true</a:t>
            </a:r>
            <a:endParaRPr lang="en-US" sz="1200" dirty="0"/>
          </a:p>
        </p:txBody>
      </p:sp>
      <p:sp>
        <p:nvSpPr>
          <p:cNvPr id="26" name="Shape 23"/>
          <p:cNvSpPr/>
          <p:nvPr/>
        </p:nvSpPr>
        <p:spPr>
          <a:xfrm>
            <a:off x="502920" y="3694176"/>
            <a:ext cx="4773168" cy="566928"/>
          </a:xfrm>
          <a:prstGeom prst="rect">
            <a:avLst/>
          </a:prstGeom>
          <a:solidFill>
            <a:srgbClr val="253160">
              <a:alpha val="30000"/>
            </a:srgbClr>
          </a:solidFill>
          <a:ln w="12700">
            <a:solidFill>
              <a:srgbClr val="3D4F82">
                <a:alpha val="40000"/>
              </a:srgbClr>
            </a:solidFill>
            <a:prstDash val="solid"/>
          </a:ln>
        </p:spPr>
      </p:sp>
      <p:sp>
        <p:nvSpPr>
          <p:cNvPr id="27" name="Shape 24"/>
          <p:cNvSpPr/>
          <p:nvPr/>
        </p:nvSpPr>
        <p:spPr>
          <a:xfrm>
            <a:off x="502920" y="3694176"/>
            <a:ext cx="45720" cy="566928"/>
          </a:xfrm>
          <a:prstGeom prst="rect">
            <a:avLst/>
          </a:prstGeom>
          <a:solidFill>
            <a:srgbClr val="4A72C4"/>
          </a:solidFill>
          <a:ln w="12700">
            <a:solidFill>
              <a:srgbClr val="4A72C4">
                <a:alpha val="0"/>
              </a:srgbClr>
            </a:solidFill>
            <a:prstDash val="solid"/>
          </a:ln>
        </p:spPr>
      </p:sp>
      <p:sp>
        <p:nvSpPr>
          <p:cNvPr id="28" name="Text 25"/>
          <p:cNvSpPr/>
          <p:nvPr/>
        </p:nvSpPr>
        <p:spPr>
          <a:xfrm>
            <a:off x="640080" y="3785616"/>
            <a:ext cx="4572000" cy="411480"/>
          </a:xfrm>
          <a:prstGeom prst="rect">
            <a:avLst/>
          </a:prstGeom>
          <a:noFill/>
          <a:ln/>
        </p:spPr>
        <p:txBody>
          <a:bodyPr wrap="square" rtlCol="0" anchor="ctr"/>
          <a:lstStyle/>
          <a:p>
            <a:pPr marL="0" indent="0">
              <a:buNone/>
            </a:pPr>
            <a:r>
              <a:rPr lang="en-US" sz="1200" b="1" dirty="0">
                <a:solidFill>
                  <a:srgbClr val="F5C518"/>
                </a:solidFill>
                <a:latin typeface="Calibri" pitchFamily="34" charset="0"/>
                <a:ea typeface="Calibri" pitchFamily="34" charset="-122"/>
                <a:cs typeface="Calibri" pitchFamily="34" charset="-120"/>
              </a:rPr>
              <a:t>REPORT</a:t>
            </a:r>
            <a:r>
              <a:rPr lang="en-US" sz="1200" dirty="0">
                <a:solidFill>
                  <a:srgbClr val="FFFFFF"/>
                </a:solidFill>
                <a:latin typeface="Calibri" pitchFamily="34" charset="0"/>
                <a:ea typeface="Calibri" pitchFamily="34" charset="-122"/>
                <a:cs typeface="Calibri" pitchFamily="34" charset="-120"/>
              </a:rPr>
              <a:t> — Reporting phishing protects you and your entire community</a:t>
            </a:r>
            <a:endParaRPr lang="en-US" sz="1200" dirty="0"/>
          </a:p>
        </p:txBody>
      </p:sp>
      <p:sp>
        <p:nvSpPr>
          <p:cNvPr id="29" name="Shape 26"/>
          <p:cNvSpPr/>
          <p:nvPr/>
        </p:nvSpPr>
        <p:spPr>
          <a:xfrm>
            <a:off x="0" y="4645152"/>
            <a:ext cx="5440680" cy="498348"/>
          </a:xfrm>
          <a:prstGeom prst="rect">
            <a:avLst/>
          </a:prstGeom>
          <a:solidFill>
            <a:srgbClr val="F5C518"/>
          </a:solidFill>
          <a:ln w="12700">
            <a:solidFill>
              <a:srgbClr val="F5C518">
                <a:alpha val="0"/>
              </a:srgbClr>
            </a:solidFill>
            <a:prstDash val="solid"/>
          </a:ln>
        </p:spPr>
      </p:sp>
      <p:sp>
        <p:nvSpPr>
          <p:cNvPr id="30" name="Text 27"/>
          <p:cNvSpPr/>
          <p:nvPr/>
        </p:nvSpPr>
        <p:spPr>
          <a:xfrm>
            <a:off x="137160" y="4681728"/>
            <a:ext cx="5120640" cy="384048"/>
          </a:xfrm>
          <a:prstGeom prst="rect">
            <a:avLst/>
          </a:prstGeom>
          <a:noFill/>
          <a:ln/>
        </p:spPr>
        <p:txBody>
          <a:bodyPr wrap="square" lIns="0" tIns="0" rIns="0" bIns="0" rtlCol="0" anchor="ctr"/>
          <a:lstStyle/>
          <a:p>
            <a:pPr marL="0" indent="0">
              <a:buNone/>
            </a:pPr>
            <a:r>
              <a:rPr lang="en-US" sz="1300" b="1" dirty="0">
                <a:solidFill>
                  <a:srgbClr val="1A2340"/>
                </a:solidFill>
                <a:latin typeface="Georgia" pitchFamily="34" charset="0"/>
                <a:ea typeface="Georgia" pitchFamily="34" charset="-122"/>
                <a:cs typeface="Georgia" pitchFamily="34" charset="-120"/>
              </a:rPr>
              <a:t>Thank you — Questions &amp; Discussion Welcome!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7614F-85F9-4653-A61B-57C5E223638F}"/>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157970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4922</Words>
  <Application>Microsoft Office PowerPoint</Application>
  <PresentationFormat>On-screen Show (16:9)</PresentationFormat>
  <Paragraphs>347</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Attacks: Recognize, Avoid, and Stay Safe</dc:title>
  <dc:subject>PptxGenJS Presentation</dc:subject>
  <dc:creator>PptxGenJS</dc:creator>
  <cp:lastModifiedBy>NIMRAH</cp:lastModifiedBy>
  <cp:revision>5</cp:revision>
  <dcterms:created xsi:type="dcterms:W3CDTF">2026-06-09T06:00:36Z</dcterms:created>
  <dcterms:modified xsi:type="dcterms:W3CDTF">2026-06-12T14:56:18Z</dcterms:modified>
</cp:coreProperties>
</file>